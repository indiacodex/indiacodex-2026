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seconds, no more. State your team name and one sentence: "This is Sentinel — the engineering assurance layer for autonomous agents built on Masumi." Don't explain what that means yet — the next slide earns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it as a scenario, not a bullet list: "Imagine an autonomous agent renews a subscription through Masumi. The payment gets disputed a month later. Someone asks your team: why did the agent do this, and can you prove it? Today, most teams have nothing but scattered application logs." Land on: "Sentinel exists to make those three questions answerable, deterministically, every 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trash-talk the alternatives — name the specific gap each one leaves. "Tracing tools show you a call graph, not a proof. An explorer shows a settled transaction, not the reasoning behind it. And Masumi shouldn't have to solve this either — identity and payments are a full-time job for a protocol. What's missing is a layer whose only job is proving what happened."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packages/domain has zero dependency on any framework, database, or adapter — verified by grep, not just claimed. Everything the domain needs from the outside world is expressed as a port; adapters implement those ports and are wired together only at the composition root. This is the diagram, not a description of it — it's generated from the actual package.json dependency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it left to right, fast: the agent posts an event, it's validated, a payment event is routed through MasumiAdapterPort live, then it's appended to the hash-chained Journal. A terminal lifecycle event triggers automatic sealing into an immutable artifact — sealing is not a separate call a caller has to remember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fast through this grid — six words each, don't read every description aloud. The point is the shape: capture, journal, replay, verify, explain, export. Say: "171 tests, nine architecture decisions written down, zero known vulnerabilities."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layers of integrity checking gate every replay: journal integrity first (has the live store been altered since write time), then artifact integrity second (does the sealed, portable artifact still hash-verify on its own). Replay refuses to produce a session at all when verification fails — it never operates on data it can't already prove is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live screenshot, not a mockup. This agent's payment was declined — insufficient funds — and Sentinel still knows exactly why, with a real Masumi reference attached during capture. No AI wrote any of this text; it's a template over recorded data, the same output every time for the same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is maximum adoption of the capture/replay/verify/explain primitive across the Masumi ecosystem — MIT, not AGPL, on purpose. What's commercial sits above the open core: hosted scale, signing, compliance, multi-tenant auth. All named explicitly on the roadmap as 'not built yet,'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MasumiAdapterPort.enrichPayment fires live, during capture, on every payment event — visible in the seed script's own terminal output and in the UI. Today it's backed by a deterministic mock; a real Masumi client is a drop-in replacement behind the same port. If Masumi is unreachable, capture still succeeds — enrichment degrades, the record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trust teams that know their own gaps. Say the limitations out loud before anyone has to extract them: no auth yet, no artifact signing yet — both additive, neither requires touching the deterministic core. This is a confidence move, not a confession.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closing line, then stop talking. Do not fill the silence — let it sit, then invite questions directly rather than a generic thank-you.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892040" y="2331720"/>
            <a:ext cx="292608" cy="292608"/>
          </a:xfrm>
          <a:prstGeom prst="ellipse">
            <a:avLst/>
          </a:prstGeom>
          <a:noFill/>
          <a:ln w="38100">
            <a:solidFill>
              <a:srgbClr val="4A9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57800" y="2331720"/>
            <a:ext cx="292608" cy="292608"/>
          </a:xfrm>
          <a:prstGeom prst="ellipse">
            <a:avLst/>
          </a:prstGeom>
          <a:noFill/>
          <a:ln w="38100">
            <a:solidFill>
              <a:srgbClr val="3EC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23560" y="2331720"/>
            <a:ext cx="292608" cy="292608"/>
          </a:xfrm>
          <a:prstGeom prst="ellipse">
            <a:avLst/>
          </a:prstGeom>
          <a:noFill/>
          <a:ln w="38100">
            <a:solidFill>
              <a:srgbClr val="4A9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184648" y="2478024"/>
            <a:ext cx="73152" cy="0"/>
          </a:xfrm>
          <a:prstGeom prst="line">
            <a:avLst/>
          </a:prstGeom>
          <a:ln w="38100">
            <a:solidFill>
              <a:srgbClr val="4A9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550408" y="2478024"/>
            <a:ext cx="73152" cy="0"/>
          </a:xfrm>
          <a:prstGeom prst="line">
            <a:avLst/>
          </a:prstGeom>
          <a:ln w="38100">
            <a:solidFill>
              <a:srgbClr val="4A9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 i="0">
                <a:solidFill>
                  <a:srgbClr val="E9ECF3"/>
                </a:solidFill>
                <a:latin typeface="Arial"/>
              </a:rP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AAB2C5"/>
                </a:solidFill>
                <a:latin typeface="Arial"/>
              </a:rPr>
              <a:t>Engineering Confidence for Autonomous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069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4A90F0"/>
                </a:solidFill>
                <a:latin typeface="Arial"/>
              </a:rPr>
              <a:t>the Assurance Layer for Masumi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386"/>
                </a:solidFill>
                <a:latin typeface="Arial"/>
              </a:rPr>
              <a:t>Masumi Hackathon  ·  Release Candidate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Nobody can prove what an agent actually did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9ECF3"/>
                </a:solidFill>
                <a:latin typeface="Arial"/>
              </a:rPr>
              <a:t>“Why did this payment happen?”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386"/>
                </a:solidFill>
                <a:latin typeface="Arial"/>
              </a:rPr>
              <a:t>An agent made a Masumi payment. The counterparty disputes it three weeks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9ECF3"/>
                </a:solidFill>
                <a:latin typeface="Arial"/>
              </a:rPr>
              <a:t>“Why did the agent make this decision?”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386"/>
                </a:solidFill>
                <a:latin typeface="Arial"/>
              </a:rPr>
              <a:t>The reasoning lived in a chat log that scrolled away, or was never saved.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65192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E9ECF3"/>
                </a:solidFill>
                <a:latin typeface="Arial"/>
              </a:rPr>
              <a:t>“Can you prove this record wasn't altered?”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5896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6B7386"/>
                </a:solidFill>
                <a:latin typeface="Arial"/>
              </a:rPr>
              <a:t>“Trust our database” is not an answer an auditor accepts.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WHY EXISTING SOLUTIONS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Observability isn't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90F0"/>
                </a:solidFill>
                <a:latin typeface="Arial"/>
              </a:rPr>
              <a:t>LLM observability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92024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AB2C5"/>
                </a:solidFill>
                <a:latin typeface="Arial"/>
              </a:rPr>
              <a:t>Show a call graph. No portable, independently re-verifiable artifact — the trace lives in their database, trusted because you trust their database.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880360"/>
            <a:ext cx="10881360" cy="0"/>
          </a:xfrm>
          <a:prstGeom prst="line">
            <a:avLst/>
          </a:prstGeom>
          <a:ln w="9525">
            <a:solidFill>
              <a:srgbClr val="26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01752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90F0"/>
                </a:solidFill>
                <a:latin typeface="Arial"/>
              </a:rPr>
              <a:t>Blockchain explorers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0175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AB2C5"/>
                </a:solidFill>
                <a:latin typeface="Arial"/>
              </a:rPr>
              <a:t>Show a settled Masumi transaction. No visibility into why the agent decided to make it, or what preceded it.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977640"/>
            <a:ext cx="10881360" cy="0"/>
          </a:xfrm>
          <a:prstGeom prst="line">
            <a:avLst/>
          </a:prstGeom>
          <a:ln w="9525">
            <a:solidFill>
              <a:srgbClr val="26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11480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90F0"/>
                </a:solidFill>
                <a:latin typeface="Arial"/>
              </a:rPr>
              <a:t>Generic application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11480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AB2C5"/>
                </a:solidFill>
                <a:latin typeface="Arial"/>
              </a:rPr>
              <a:t>Captures whatever a developer thought to log that day. No structural guarantee every nondeterministic boundary was captured.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074920"/>
            <a:ext cx="10881360" cy="0"/>
          </a:xfrm>
          <a:prstGeom prst="line">
            <a:avLst/>
          </a:prstGeom>
          <a:ln w="9525">
            <a:solidFill>
              <a:srgbClr val="26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21208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A90F0"/>
                </a:solidFill>
                <a:latin typeface="Arial"/>
              </a:rPr>
              <a:t>Masumi itself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521208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AB2C5"/>
                </a:solidFill>
                <a:latin typeface="Arial"/>
              </a:rPr>
              <a:t>Deliberately doesn't solve this. It proves who an agent is and moves the money — a different, engineering-shaped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SENTINEL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Clean Architecture, enforced structurally</a:t>
            </a:r>
          </a:p>
        </p:txBody>
      </p:sp>
      <p:pic>
        <p:nvPicPr>
          <p:cNvPr id="5" name="Picture 4" descr="clea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1" y="1737360"/>
            <a:ext cx="11212017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One event, from the agent to a hash-chained record</a:t>
            </a:r>
          </a:p>
        </p:txBody>
      </p:sp>
      <p:pic>
        <p:nvPicPr>
          <p:cNvPr id="5" name="Picture 4" descr="execu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422" y="1691640"/>
            <a:ext cx="8596675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CORE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Six capabilities, one deterministic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399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CF3"/>
                </a:solidFill>
                <a:latin typeface="Arial"/>
              </a:rPr>
              <a:t>Execution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19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AB2C5"/>
                </a:solidFill>
                <a:latin typeface="Arial"/>
              </a:rPr>
              <a:t>Typed HTTP API validating every event against schema and domain invariants.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57399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CF3"/>
                </a:solidFill>
                <a:latin typeface="Arial"/>
              </a:rPr>
              <a:t>Execution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60319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AB2C5"/>
                </a:solidFill>
                <a:latin typeface="Arial"/>
              </a:rPr>
              <a:t>Append-only, hash-chained record. No updates, no deletes, 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74519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057399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CF3"/>
                </a:solidFill>
                <a:latin typeface="Arial"/>
              </a:rPr>
              <a:t>Replay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560319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AB2C5"/>
                </a:solidFill>
                <a:latin typeface="Arial"/>
              </a:rPr>
              <a:t>Deterministic reconstruction from recorded Snapshots. Never re-invokes a live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79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51959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CF3"/>
                </a:solidFill>
                <a:latin typeface="Arial"/>
              </a:rPr>
              <a:t>Verification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79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AB2C5"/>
                </a:solidFill>
                <a:latin typeface="Arial"/>
              </a:rPr>
              <a:t>Six independent checks, recomputed from a portable artifact alone.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069079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251959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CF3"/>
                </a:solidFill>
                <a:latin typeface="Arial"/>
              </a:rPr>
              <a:t>Engineering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754879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AB2C5"/>
                </a:solidFill>
                <a:latin typeface="Arial"/>
              </a:rPr>
              <a:t>Deterministic, rule-based narration. No AI, no natural-language generation.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069079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251959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E9ECF3"/>
                </a:solidFill>
                <a:latin typeface="Arial"/>
              </a:rPr>
              <a:t>Audit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754879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AAB2C5"/>
                </a:solidFill>
                <a:latin typeface="Arial"/>
              </a:rPr>
              <a:t>One portable JSON file — sufficient on its own to audit an execution.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DETERMINISTIC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Verify first. Replay never proceeds on unverified data.</a:t>
            </a:r>
          </a:p>
        </p:txBody>
      </p:sp>
      <p:pic>
        <p:nvPicPr>
          <p:cNvPr id="5" name="Picture 4" descr="repla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912" y="1645920"/>
            <a:ext cx="504169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The Masumi reference, on a payment that failed</a:t>
            </a:r>
          </a:p>
        </p:txBody>
      </p:sp>
      <p:pic>
        <p:nvPicPr>
          <p:cNvPr id="5" name="Picture 4" descr="06-expl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554480"/>
            <a:ext cx="782726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ENTERPRISE &amp; OPEN SOURCE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Open core. Enterprise surface.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4160520"/>
            <a:ext cx="9235440" cy="1188720"/>
          </a:xfrm>
          <a:prstGeom prst="roundRect">
            <a:avLst>
              <a:gd name="adj" fmla="val 6000"/>
            </a:avLst>
          </a:prstGeom>
          <a:solidFill>
            <a:srgbClr val="171C26"/>
          </a:solidFill>
          <a:ln w="12700">
            <a:solidFill>
              <a:srgbClr val="4A9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343400"/>
            <a:ext cx="8686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9ECF3"/>
                </a:solidFill>
                <a:latin typeface="Arial"/>
              </a:rPr>
              <a:t>Open core: capture → journal → replay → verify → explain → export  (MIT licensed)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103120"/>
            <a:ext cx="9235440" cy="17373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B944"/>
                </a:solidFill>
                <a:latin typeface="Arial"/>
              </a:rPr>
              <a:t>Commercial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974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AAB2C5"/>
                </a:solidFill>
                <a:latin typeface="Arial"/>
              </a:rPr>
              <a:t>—  Hosted storage at scale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AAB2C5"/>
                </a:solidFill>
                <a:latin typeface="Arial"/>
              </a:rPr>
              <a:t>—  Artifact signing and compliance tooling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400">
                <a:solidFill>
                  <a:srgbClr val="AAB2C5"/>
                </a:solidFill>
                <a:latin typeface="Arial"/>
              </a:rPr>
              <a:t>—  Enterprise auth and multi-tenancy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WHY SENTINEL MATTERS TO MASUMI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A live call, every payment — not a mock bolted on</a:t>
            </a:r>
          </a:p>
        </p:txBody>
      </p:sp>
      <p:pic>
        <p:nvPicPr>
          <p:cNvPr id="5" name="Picture 4" descr="masumi-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567" y="1645920"/>
            <a:ext cx="573638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E9ECF3"/>
                </a:solidFill>
                <a:latin typeface="Arial"/>
              </a:rPr>
              <a:t>What's real today,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ECF8E"/>
                </a:solidFill>
                <a:latin typeface="Arial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✓  Live Masumi payment enrichment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✓  Deterministic capture / replay / verify / explain / export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✓  SQLite + in-memory storage, contract-tested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✓  Web console, dark + light theme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✓  171 tests, 9 ADRs, MIT licensed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A90F0"/>
                </a:solidFill>
                <a:latin typeface="Arial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→  A real Masumi client behind MasumiAdapterPort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→  Artifact signing for third-party auditability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→  PostgreSQL storage adapter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→  AuthN/AuthZ and multi-tenancy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>
                <a:solidFill>
                  <a:srgbClr val="AAB2C5"/>
                </a:solidFill>
                <a:latin typeface="Arial"/>
              </a:rPr>
              <a:t>→  Snapshot redaction policy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1828800"/>
            <a:ext cx="0" cy="4206240"/>
          </a:xfrm>
          <a:prstGeom prst="line">
            <a:avLst/>
          </a:prstGeom>
          <a:ln w="12700">
            <a:solidFill>
              <a:srgbClr val="262C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7386"/>
                </a:solidFill>
                <a:latin typeface="Arial"/>
              </a:rPr>
              <a:t>SENTINEL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38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E9ECF3"/>
                </a:solidFill>
                <a:latin typeface="Arial"/>
              </a:rPr>
              <a:t>Masumi gave agents the ability to pay.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4A90F0"/>
                </a:solidFill>
                <a:latin typeface="Arial"/>
              </a:rPr>
              <a:t>Sentinel gives them the ability to be trusted.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4206240"/>
            <a:ext cx="3657600" cy="822960"/>
          </a:xfrm>
          <a:prstGeom prst="roundRect">
            <a:avLst>
              <a:gd name="adj" fmla="val 6000"/>
            </a:avLst>
          </a:prstGeom>
          <a:solidFill>
            <a:srgbClr val="11151D"/>
          </a:solidFill>
          <a:ln w="12700">
            <a:solidFill>
              <a:srgbClr val="262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70248" y="4370832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3ECF8E"/>
                </a:solidFill>
                <a:latin typeface="Consolas"/>
              </a:rPr>
              <a:t>pnpm install &amp;&amp; pnpm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386"/>
                </a:solidFill>
                <a:latin typeface="Arial"/>
              </a:rPr>
              <a:t>Two minutes, one command, judge it yourself.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386"/>
                </a:solidFill>
                <a:latin typeface="Arial"/>
              </a:rPr>
              <a:t>MIT Licensed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