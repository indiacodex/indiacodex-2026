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  <p:embeddedFont>
      <p:font typeface="Spline Sans Medium"/>
      <p:regular r:id="rId201323"/>
    </p:embeddedFont>
    <p:embeddedFont>
      <p:font typeface="Spline Sans SemiBold"/>
      <p:regular r:id="rId201324"/>
    </p:embeddedFont>
    <p:embeddedFont>
      <p:font typeface="Spline Sans Bold"/>
      <p:regular r:id="rId201325"/>
    </p:embeddedFont>
    <p:embeddedFont>
      <p:font typeface="Spline Sans Light"/>
      <p:regular r:id="rId201326"/>
    </p:embeddedFont>
    <p:embeddedFont>
      <p:font typeface="Spline Sans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1287661"/>
            <a:ext cx="4634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Cardano ChargePass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69023" y="1947714"/>
            <a:ext cx="4634954" cy="1182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Decentralized EV Grid Intelligence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3969023" y="3362027"/>
            <a:ext cx="4634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Securing the future of EV charging with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AI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Cardano Native Assets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0023" y="456233"/>
            <a:ext cx="894755" cy="216098"/>
          </a:xfrm>
          <a:prstGeom prst="roundRect">
            <a:avLst>
              <a:gd name="adj" fmla="val 78992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625301" y="498872"/>
            <a:ext cx="1181398" cy="1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40023" y="724719"/>
            <a:ext cx="4634954" cy="3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Centralized EV Gridlock</a:t>
            </a:r>
            <a:endParaRPr lang="en-US" sz="2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1316534"/>
            <a:ext cx="4634954" cy="10361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478" y="1477789"/>
            <a:ext cx="4236244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Double-Booking Epidemic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77478" y="1754014"/>
            <a:ext cx="4236244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 Web2 apps suffer from high-latency database syncs, causing chronic double-bookings and gridlocked charging stations.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023" y="2483793"/>
            <a:ext cx="4634954" cy="10361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478" y="2645048"/>
            <a:ext cx="4236244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Zero Cryptographic Ownership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777478" y="2921273"/>
            <a:ext cx="4236244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Drivers lack true ownership of reservations. Centralized authorities can cancel or alter bookings at will — no transparency, no recourse.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023" y="3651052"/>
            <a:ext cx="4634954" cy="10361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7478" y="3812307"/>
            <a:ext cx="4236244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Static &amp; Inefficient Routing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77478" y="4088532"/>
            <a:ext cx="4236244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Legacy systems ignore live grid load and carbon offset, leading to poor charger utilization and wasted energy.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557585"/>
            <a:ext cx="1003176" cy="234479"/>
          </a:xfrm>
          <a:prstGeom prst="roundRect">
            <a:avLst>
              <a:gd name="adj" fmla="val 7896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603870"/>
            <a:ext cx="1275234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OUR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853753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ChargePass Ecosystem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0023" y="1513805"/>
            <a:ext cx="8063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ChargePass unifies AI-driven intelligence with blockchain-backed trust — delivering a seamless, secure, and sustainable EV charging experience.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2181151"/>
            <a:ext cx="1484412" cy="9173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0023" y="3291408"/>
            <a:ext cx="2559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Context-Aware Intelligence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0023" y="3598292"/>
            <a:ext cx="2559397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AI dynamically routes EVs based on real-time metrics — not just distance.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301" y="2181151"/>
            <a:ext cx="1484412" cy="9173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2301" y="3291408"/>
            <a:ext cx="2559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Immutable Reservations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292301" y="3598292"/>
            <a:ext cx="255939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Charging slots become Cardano Native Assets — mathematically secure digital gate passes in your Web3 wallet.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580" y="2181151"/>
            <a:ext cx="1484412" cy="91737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44580" y="3291408"/>
            <a:ext cx="2559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Premium UX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44580" y="3598292"/>
            <a:ext cx="2559397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responsive React + Tailwind CSS interface bridging Web2 convenience with Web3 security.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24681"/>
            <a:ext cx="1190402" cy="201439"/>
          </a:xfrm>
          <a:prstGeom prst="roundRect">
            <a:avLst>
              <a:gd name="adj" fmla="val 78995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19571" y="464418"/>
            <a:ext cx="1488504" cy="12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INTELLIGENCE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0023" y="671661"/>
            <a:ext cx="8063954" cy="368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Gemini AI &amp; Node.js Backend</a:t>
            </a:r>
            <a:endParaRPr lang="en-US" sz="2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511796"/>
            <a:ext cx="5128320" cy="29060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96657" y="1324868"/>
            <a:ext cx="261200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Dynamic Data Ingestion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96657" y="1622971"/>
            <a:ext cx="2612008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high-performance Node.js &amp; Express backend processes user telemetry — Battery %, Vehicle Model, and Destination — in real time.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96657" y="2525688"/>
            <a:ext cx="261200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Advanced AI Prompting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96657" y="2823790"/>
            <a:ext cx="2612008" cy="59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Gemini AI SDK computes optimal routing by balancing three pillars: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Charging Speed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Grid Load Optimization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and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Carbon Offset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96657" y="3529310"/>
            <a:ext cx="261200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Staggered AI Scheduling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96657" y="3827413"/>
            <a:ext cx="2612008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backend structures AI output into three competitive, staggered time slots — 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Fastest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9DDD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Eco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and 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7A7E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Balanced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for the driver to choose from.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841028"/>
            <a:ext cx="1207740" cy="234479"/>
          </a:xfrm>
          <a:prstGeom prst="roundRect">
            <a:avLst>
              <a:gd name="adj" fmla="val 7896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887313"/>
            <a:ext cx="147979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EXECUTION LAYER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137196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Cardano &amp; Lucid: On-Chain Settlement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0023" y="1797248"/>
            <a:ext cx="2585145" cy="2505149"/>
          </a:xfrm>
          <a:prstGeom prst="roundRect">
            <a:avLst>
              <a:gd name="adj" fmla="val 9239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333" y="1970559"/>
            <a:ext cx="462855" cy="462855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581" y="2097807"/>
            <a:ext cx="208285" cy="2082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333" y="2587675"/>
            <a:ext cx="2238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Client-Side Minting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3333" y="2894558"/>
            <a:ext cx="2238524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frontend uses Lucid Evolution to construct and sign transactions entirely within the browser — no centralized server trust required.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9428" y="1797248"/>
            <a:ext cx="2585145" cy="2505149"/>
          </a:xfrm>
          <a:prstGeom prst="roundRect">
            <a:avLst>
              <a:gd name="adj" fmla="val 9239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52738" y="1970559"/>
            <a:ext cx="462855" cy="462855"/>
          </a:xfrm>
          <a:prstGeom prst="ellipse">
            <a:avLst/>
          </a:prstGeom>
          <a:solidFill>
            <a:srgbClr val="29DDD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9986" y="2097807"/>
            <a:ext cx="208285" cy="2082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2738" y="2587675"/>
            <a:ext cx="2238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Lace Wallet Integration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52738" y="2894558"/>
            <a:ext cx="223852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Direct integration with Lace Wallet enables frictionless, decentralized authentication and transaction signing.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18833" y="1797248"/>
            <a:ext cx="2585145" cy="2505149"/>
          </a:xfrm>
          <a:prstGeom prst="roundRect">
            <a:avLst>
              <a:gd name="adj" fmla="val 9239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92143" y="1970559"/>
            <a:ext cx="462855" cy="462855"/>
          </a:xfrm>
          <a:prstGeom prst="ellipse">
            <a:avLst/>
          </a:prstGeom>
          <a:solidFill>
            <a:srgbClr val="37A7E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391" y="2097807"/>
            <a:ext cx="208285" cy="20828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2143" y="2587675"/>
            <a:ext cx="2238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Blockfrost Infrastructure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192143" y="2894558"/>
            <a:ext cx="2238524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High-speed on-chain queries and transaction submissions executed seamlessly via the Blockfrost API on Cardano Preprod testnet.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44029"/>
            <a:ext cx="911870" cy="205160"/>
          </a:xfrm>
          <a:prstGeom prst="roundRect">
            <a:avLst>
              <a:gd name="adj" fmla="val 78973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20985" y="484510"/>
            <a:ext cx="1207145" cy="12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0023" y="696441"/>
            <a:ext cx="8063954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System Architecture &amp; Data Flow</a:t>
            </a:r>
            <a:endParaRPr lang="en-US" sz="2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248668"/>
            <a:ext cx="2687985" cy="540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5010" y="1906786"/>
            <a:ext cx="241801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 Input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75010" y="2165152"/>
            <a:ext cx="2418011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React UI captures trip details and wallet authentication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008" y="1248668"/>
            <a:ext cx="2687985" cy="5400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62995" y="1906786"/>
            <a:ext cx="241801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Processing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362995" y="2165152"/>
            <a:ext cx="2418011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Node.js backend queries Gemini AI for optimal chargers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992" y="1248668"/>
            <a:ext cx="2687985" cy="5400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50979" y="1906786"/>
            <a:ext cx="241801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Selection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050979" y="2165152"/>
            <a:ext cx="2418011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Frontend renders interactive AI recommendations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23" y="2705100"/>
            <a:ext cx="2687985" cy="5400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5010" y="3363218"/>
            <a:ext cx="241801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Transaction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675010" y="3621584"/>
            <a:ext cx="2418011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Lucid Evolution builds the minting transaction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8008" y="2705100"/>
            <a:ext cx="2687985" cy="54002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62995" y="3363218"/>
            <a:ext cx="241801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Settlement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3362995" y="3621584"/>
            <a:ext cx="2418011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Lace Wallet signs and broadcasts to Cardano Preprod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540023" y="4294436"/>
            <a:ext cx="8063954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wallet connection to on-chain confirmation, every step is transparent, verifiable, and decentralized — with zero centralized intermediaries in the critical path.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24309"/>
            <a:ext cx="593527" cy="117202"/>
          </a:xfrm>
          <a:prstGeom prst="roundRect">
            <a:avLst>
              <a:gd name="adj" fmla="val 78994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586308" y="447452"/>
            <a:ext cx="958155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WEB3 ADVANTAGE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540023" y="556915"/>
            <a:ext cx="80639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Native Assets?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872430"/>
            <a:ext cx="3937918" cy="39379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70822" y="2576215"/>
            <a:ext cx="3937918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By representing charging reservations as 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Cardano Native Assets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ChargePass eliminates the complexity and risk of traditional smart contract architectures — while delivering instant, trustless verification at the station.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4670822" y="2804740"/>
            <a:ext cx="3937918" cy="293043"/>
          </a:xfrm>
          <a:prstGeom prst="roundRect">
            <a:avLst>
              <a:gd name="adj" fmla="val 39492"/>
            </a:avLst>
          </a:prstGeom>
          <a:solidFill>
            <a:srgbClr val="00805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915" y="2909813"/>
            <a:ext cx="96441" cy="770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21448" y="2858691"/>
            <a:ext cx="3610198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Native Assets are first-class citizens on the Cardano ledger, requiring no separate contract deployment or execution overhead.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24681"/>
            <a:ext cx="1155799" cy="201439"/>
          </a:xfrm>
          <a:prstGeom prst="roundRect">
            <a:avLst>
              <a:gd name="adj" fmla="val 78995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19571" y="464418"/>
            <a:ext cx="1453902" cy="12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ON-CHAIN METADATA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0023" y="671661"/>
            <a:ext cx="8063954" cy="368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CIP-25 Immutable Metadata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0023" y="1324868"/>
            <a:ext cx="261200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Permanent On-Chain Storage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0023" y="1622971"/>
            <a:ext cx="2612008" cy="985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ChargePass uses the Cardano CIP-25 NFT metadata standard to embed critical reservation details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permanently on-chain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no off-chain dependencies, no mutable databases.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0023" y="2722885"/>
            <a:ext cx="261200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Embedded Payload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0023" y="3020988"/>
            <a:ext cx="2612008" cy="59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ChargePass inherently contains: Charger Name, Arrival Time, Pricing, Grid Load, and Carbon Saved.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0023" y="3726507"/>
            <a:ext cx="261200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Tamper-Proof Records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0023" y="4024610"/>
            <a:ext cx="2612008" cy="59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Once minted, neither the user nor the station operator can alter agreed-upon reservation parameters — establishing 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absolute trust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0346" y="1511796"/>
            <a:ext cx="5128320" cy="29060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618232"/>
            <a:ext cx="773311" cy="234479"/>
          </a:xfrm>
          <a:prstGeom prst="roundRect">
            <a:avLst>
              <a:gd name="adj" fmla="val 7896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664518"/>
            <a:ext cx="1045369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DEMO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914400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End-to-End Walkthrough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0023" y="1574453"/>
            <a:ext cx="30859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0023" y="1817638"/>
            <a:ext cx="2585145" cy="1905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7" name="Text 5"/>
          <p:cNvSpPr/>
          <p:nvPr/>
        </p:nvSpPr>
        <p:spPr>
          <a:xfrm>
            <a:off x="540023" y="1932831"/>
            <a:ext cx="25851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Connect Wallet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0023" y="2239714"/>
            <a:ext cx="2585145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 connects Lace Wallet to access the dApp.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79428" y="1574453"/>
            <a:ext cx="30859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79428" y="1817638"/>
            <a:ext cx="2585145" cy="1905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1" name="Text 9"/>
          <p:cNvSpPr/>
          <p:nvPr/>
        </p:nvSpPr>
        <p:spPr>
          <a:xfrm>
            <a:off x="3279428" y="1932831"/>
            <a:ext cx="25851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Input Trip Details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79428" y="2239714"/>
            <a:ext cx="2585145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Enter destination, battery level, and preferred arrival time.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18833" y="1574453"/>
            <a:ext cx="30859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18833" y="1817638"/>
            <a:ext cx="2585145" cy="1905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5" name="Text 13"/>
          <p:cNvSpPr/>
          <p:nvPr/>
        </p:nvSpPr>
        <p:spPr>
          <a:xfrm>
            <a:off x="6018833" y="1932831"/>
            <a:ext cx="25851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Generates Options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18833" y="2239714"/>
            <a:ext cx="2585145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Gemini AI returns three context-aware options with pricing, grid load, and environmental impact.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0023" y="3250406"/>
            <a:ext cx="30859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0023" y="3493591"/>
            <a:ext cx="3954810" cy="1905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9" name="Text 17"/>
          <p:cNvSpPr/>
          <p:nvPr/>
        </p:nvSpPr>
        <p:spPr>
          <a:xfrm>
            <a:off x="540023" y="3608784"/>
            <a:ext cx="39548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Reserve &amp; Mint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0023" y="3915668"/>
            <a:ext cx="395481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Select a charger, click "Reserve &amp; Mint," and sign in Lace.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49093" y="3250406"/>
            <a:ext cx="30859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49093" y="3493591"/>
            <a:ext cx="3954884" cy="1905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23" name="Text 21"/>
          <p:cNvSpPr/>
          <p:nvPr/>
        </p:nvSpPr>
        <p:spPr>
          <a:xfrm>
            <a:off x="4649093" y="3608784"/>
            <a:ext cx="39548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Digital Gate Pass Issued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49093" y="3915668"/>
            <a:ext cx="39548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ChargePass NFT is minted on Cardano Preprod with an on-screen transaction hash and Apple Wallet-style ticket.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630808"/>
            <a:ext cx="724570" cy="234479"/>
          </a:xfrm>
          <a:prstGeom prst="roundRect">
            <a:avLst>
              <a:gd name="adj" fmla="val 7896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677094"/>
            <a:ext cx="99662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926976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Phase 2: Scalability &amp; Future Vision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0023" y="1587029"/>
            <a:ext cx="2585145" cy="1888034"/>
          </a:xfrm>
          <a:prstGeom prst="roundRect">
            <a:avLst>
              <a:gd name="adj" fmla="val 12259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333" y="1760339"/>
            <a:ext cx="2238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CIP-68 Dynamic Datums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333" y="2067223"/>
            <a:ext cx="2238524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Upgrade to CIP-68 for real-time on-chain status tracking: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Reserved → Charging → Completed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no re-minting required.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9428" y="1587029"/>
            <a:ext cx="2585145" cy="1888034"/>
          </a:xfrm>
          <a:prstGeom prst="roundRect">
            <a:avLst>
              <a:gd name="adj" fmla="val 12259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2738" y="1760339"/>
            <a:ext cx="2238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Plutus Escrow Contracts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52738" y="2067223"/>
            <a:ext cx="223852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Plutus v3 contracts hold ADA in escrow, auto-releasing payment to providers upon verified energy transfer via IoT sensors.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18833" y="1587029"/>
            <a:ext cx="2585145" cy="1888034"/>
          </a:xfrm>
          <a:prstGeom prst="roundRect">
            <a:avLst>
              <a:gd name="adj" fmla="val 12259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2143" y="1760339"/>
            <a:ext cx="2238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Grid Balancing Agents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92143" y="2067223"/>
            <a:ext cx="2238524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Autonomous AI agents dynamically adjust charging pricing based on real-time city grid demand — optimizing energy distribution at scale.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0023" y="3648596"/>
            <a:ext cx="8063954" cy="864022"/>
          </a:xfrm>
          <a:prstGeom prst="roundRect">
            <a:avLst>
              <a:gd name="adj" fmla="val 26788"/>
            </a:avLst>
          </a:prstGeom>
          <a:solidFill>
            <a:srgbClr val="00805A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83" y="3868341"/>
            <a:ext cx="192881" cy="1542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41425" y="3841403"/>
            <a:ext cx="740829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ChargePass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is not just a reservation app — it's the foundational layer for a decentralized, AI-optimized EV energy economy.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2026-07-12T12:01:05Z</dcterms:created>
  <dcterms:modified xsi:type="dcterms:W3CDTF">2026-07-12T12:01:05Z</dcterms:modified>
</cp:coreProperties>
</file>