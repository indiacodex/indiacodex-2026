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Google Sans SemiBold"/>
      <p:regular r:id="rId12"/>
      <p:bold r:id="rId13"/>
      <p:italic r:id="rId14"/>
      <p:boldItalic r:id="rId15"/>
    </p:embeddedFont>
    <p:embeddedFont>
      <p:font typeface="Google Sans"/>
      <p:regular r:id="rId16"/>
      <p:bold r:id="rId17"/>
      <p:italic r:id="rId18"/>
      <p:boldItalic r:id="rId19"/>
    </p:embeddedFont>
    <p:embeddedFont>
      <p:font typeface="Google Sans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regular.fntdata"/><Relationship Id="rId11" Type="http://schemas.openxmlformats.org/officeDocument/2006/relationships/slide" Target="slides/slide6.xml"/><Relationship Id="rId22" Type="http://schemas.openxmlformats.org/officeDocument/2006/relationships/font" Target="fonts/GoogleSansMedium-italic.fntdata"/><Relationship Id="rId10" Type="http://schemas.openxmlformats.org/officeDocument/2006/relationships/slide" Target="slides/slide5.xml"/><Relationship Id="rId21" Type="http://schemas.openxmlformats.org/officeDocument/2006/relationships/font" Target="fonts/GoogleSansMedium-bold.fntdata"/><Relationship Id="rId13" Type="http://schemas.openxmlformats.org/officeDocument/2006/relationships/font" Target="fonts/GoogleSansSemiBold-bold.fntdata"/><Relationship Id="rId12" Type="http://schemas.openxmlformats.org/officeDocument/2006/relationships/font" Target="fonts/GoogleSansSemiBold-regular.fntdata"/><Relationship Id="rId23" Type="http://schemas.openxmlformats.org/officeDocument/2006/relationships/font" Target="fonts/Google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SemiBold-boldItalic.fntdata"/><Relationship Id="rId14" Type="http://schemas.openxmlformats.org/officeDocument/2006/relationships/font" Target="fonts/GoogleSansSemiBold-italic.fntdata"/><Relationship Id="rId17" Type="http://schemas.openxmlformats.org/officeDocument/2006/relationships/font" Target="fonts/GoogleSans-bold.fntdata"/><Relationship Id="rId16" Type="http://schemas.openxmlformats.org/officeDocument/2006/relationships/font" Target="fonts/Google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oogleSans-boldItalic.fntdata"/><Relationship Id="rId6" Type="http://schemas.openxmlformats.org/officeDocument/2006/relationships/slide" Target="slides/slide1.xml"/><Relationship Id="rId18" Type="http://schemas.openxmlformats.org/officeDocument/2006/relationships/font" Target="fonts/Google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57ec2d35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57ec2d35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7ec2d35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57ec2d35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57ec2d3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57ec2d3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57ec2d35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57ec2d35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57ec2d35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57ec2d35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khushal1512/ft" TargetMode="External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youtu.be/x4Pt95QZ-Og" TargetMode="External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410325" y="1271500"/>
            <a:ext cx="6653700" cy="10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oogle Sans SemiBold"/>
                <a:ea typeface="Google Sans SemiBold"/>
                <a:cs typeface="Google Sans SemiBold"/>
                <a:sym typeface="Google Sans SemiBold"/>
              </a:rPr>
              <a:t>f</a:t>
            </a:r>
            <a:r>
              <a:rPr lang="en-GB">
                <a:latin typeface="Google Sans SemiBold"/>
                <a:ea typeface="Google Sans SemiBold"/>
                <a:cs typeface="Google Sans SemiBold"/>
                <a:sym typeface="Google Sans SemiBold"/>
              </a:rPr>
              <a:t>t. - Face Tokens</a:t>
            </a:r>
            <a:endParaRPr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-244700" y="2361650"/>
            <a:ext cx="63957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  <a:t>Mint Sovereign Face Tokens using Midnight</a:t>
            </a:r>
            <a:endParaRPr sz="2100">
              <a:solidFill>
                <a:schemeClr val="accen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descr="remove the background and the spline and dots are of black color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22883" r="-18871" t="0"/>
          <a:stretch/>
        </p:blipFill>
        <p:spPr>
          <a:xfrm>
            <a:off x="6311850" y="1417525"/>
            <a:ext cx="3540401" cy="372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99500" y="2841425"/>
            <a:ext cx="3645600" cy="6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  <a:t>Team Gravitino</a:t>
            </a:r>
            <a:endParaRPr sz="1800">
              <a:solidFill>
                <a:schemeClr val="accent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  <a:t>~Khushal Agarwal</a:t>
            </a:r>
            <a:endParaRPr sz="1800">
              <a:solidFill>
                <a:schemeClr val="accen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oogle Sans Medium"/>
                <a:ea typeface="Google Sans Medium"/>
                <a:cs typeface="Google Sans Medium"/>
                <a:sym typeface="Google Sans Medium"/>
              </a:rPr>
              <a:t>The Problem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457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Hundreds of apps and Hundreds of 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Verifications, all of them want your 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biometric, facial, Gov ID data. 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But they do not care about data safety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-Third-party verifiers involved and your data is not safe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JUST ONE BREACH AWAY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JUST ONE MALICIOUS INTENT AWAY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5251" y="619375"/>
            <a:ext cx="4213922" cy="1144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5251" y="1874295"/>
            <a:ext cx="4213924" cy="117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5250" y="3112898"/>
            <a:ext cx="4213923" cy="116242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7362775" y="4275325"/>
            <a:ext cx="173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and more…</a:t>
            </a:r>
            <a:endParaRPr b="1"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accent1"/>
                </a:solidFill>
                <a:latin typeface="Google Sans Medium"/>
                <a:ea typeface="Google Sans Medium"/>
                <a:cs typeface="Google Sans Medium"/>
                <a:sym typeface="Google Sans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Solution - ft.</a:t>
            </a:r>
            <a:endParaRPr>
              <a:solidFill>
                <a:schemeClr val="accen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313675"/>
            <a:ext cx="457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Local and secure self attestor ML models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Midnight ZK Proof server locally creates ZK proofs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You get unique facial vector hash which can be reused in multiple websites supporting ft.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Facial/Humanity NFT also minted in users wallet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GB" sz="1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Same face = always same output, you can wear and look messy and still get the same token if re-verification is needed</a:t>
            </a:r>
            <a:endParaRPr sz="1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descr="remove the background and the spline and dots are of black color" id="74" name="Google Shape;74;p15"/>
          <p:cNvPicPr preferRelativeResize="0"/>
          <p:nvPr/>
        </p:nvPicPr>
        <p:blipFill rotWithShape="1">
          <a:blip r:embed="rId4">
            <a:alphaModFix/>
          </a:blip>
          <a:srcRect b="0" l="22883" r="-18871" t="0"/>
          <a:stretch/>
        </p:blipFill>
        <p:spPr>
          <a:xfrm>
            <a:off x="6311850" y="1417525"/>
            <a:ext cx="3540401" cy="37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accent1"/>
                </a:solidFill>
                <a:latin typeface="Google Sans Medium"/>
                <a:ea typeface="Google Sans Medium"/>
                <a:cs typeface="Google Sans Medium"/>
                <a:sym typeface="Google Sans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it works? </a:t>
            </a:r>
            <a:endParaRPr>
              <a:solidFill>
                <a:schemeClr val="accen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descr="graph TD&#10;    %% User/Browser Layer&#10;    subgraph Browser [&quot;User Browser (Local &amp; Private)&quot;]&#10;        UI[&quot;React + Vite Frontend (App.tsx)&quot;]&#10;        Cam[&quot;Video / Camera Feed&quot;]&#10;        ML[&quot;Local face-api.js ML Model&quot;]&#10;        PrivateInputs[&quot;Private Inputs: Face Vector Hash &amp; Liveness Score&quot;]&#10;        Wallet[&quot;Midnight Wallet (1AM / Lace)&quot;]&#10;        Prover[&quot;Midnight Proof JS / WASM SDK&quot;]&#10;    end&#10;&#10;    %% Prover/Node Layer&#10;    subgraph ProverService [&quot;Local Prover Service&quot;]&#10;        PS[&quot;Midnight Proof Server (Docker)&quot;]&#10;    end&#10;&#10;    %% Network Layer&#10;    subgraph MidnightNetwork [&quot;Midnight Network (Preprod)&quot;]&#10;        Ledger[&quot;Compact Smart Contract (State &amp; Circuits)&quot;]&#10;        Indexer[&quot;Indexer / GraphQL API&quot;]&#10;    end&#10;&#10;    %% Flow Connections&#10;    Cam --&gt;|Real-time capture| ML&#10;    ML --&gt;|Liveness validation| UI&#10;    UI --&gt;|Triggers mint| Wallet&#10;    PrivateInputs --&gt;|Private witness inputs| Prover&#10;    Wallet --&gt;|Connects &amp; signs| UI&#10;    Prover &lt;--&gt;|Generates ZK proof locally| PS&#10;    UI --&gt;|Submits TX + ZK Proof| MidnightNetwork&#10;    MidnightNetwork --&gt;|Update ledger state| Ledger&#10;    Indexer --&gt;|Poll token status| UI&#10;MAKE A SIMPLE DIAGRAM FOR THIS AND USE NO BACKGROUND, BLACK FONT AND WATER COLOR LIKE BOXES AND LABELS"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9400" y="868475"/>
            <a:ext cx="6152325" cy="43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oogle Sans Medium"/>
                <a:ea typeface="Google Sans Medium"/>
                <a:cs typeface="Google Sans Medium"/>
                <a:sym typeface="Google Sans Medium"/>
              </a:rPr>
              <a:t>What more can be built?</a:t>
            </a:r>
            <a:endParaRPr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oogle Sans"/>
              <a:buAutoNum type="arabicPeriod"/>
            </a:pPr>
            <a:r>
              <a:rPr b="1"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Universal Biometric SDK: </a:t>
            </a:r>
            <a:r>
              <a:rPr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An open-source package adding local face and fingerprint ZK verification to any app or protocol.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oogle Sans"/>
              <a:buAutoNum type="arabicPeriod"/>
            </a:pPr>
            <a:r>
              <a:rPr b="1"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On-Device ID Matching: </a:t>
            </a:r>
            <a:r>
              <a:rPr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Compare a li</a:t>
            </a:r>
            <a:r>
              <a:rPr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 selfie against a government ID locally to generate a privacy-first ZK match proof.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oogle Sans"/>
              <a:buAutoNum type="arabicPeriod"/>
            </a:pPr>
            <a:r>
              <a:rPr b="1"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Custom Verifier Engine:</a:t>
            </a:r>
            <a:r>
              <a:rPr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Let external platforms easily build and enforce their own verification rules.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oogle Sans"/>
              <a:buAutoNum type="arabicPeriod"/>
            </a:pPr>
            <a:r>
              <a:rPr b="1"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Private Age Verification:</a:t>
            </a:r>
            <a:r>
              <a:rPr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Prove "Over 18" status for age-gated sites without revealing exact birthdates or personal details.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oogle Sans"/>
              <a:buAutoNum type="arabicPeriod"/>
            </a:pPr>
            <a:r>
              <a:rPr b="1"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Sybil-Resistant Voting:</a:t>
            </a:r>
            <a:r>
              <a:rPr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Prevent bot manipulation in DAOs with anonymous "one-human, one-vote" proofs.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Google Sans"/>
              <a:buAutoNum type="arabicPeriod"/>
            </a:pPr>
            <a:r>
              <a:rPr b="1"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Cross-Chain Passports: </a:t>
            </a:r>
            <a:r>
              <a:rPr lang="en-GB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Allow the same ZK humanity proof to act as an interoperable identity pass across Ethereum, Solana, and other networks.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1990050"/>
            <a:ext cx="85206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320">
                <a:latin typeface="Google Sans Medium"/>
                <a:ea typeface="Google Sans Medium"/>
                <a:cs typeface="Google Sans Medium"/>
                <a:sym typeface="Google Sans Medium"/>
              </a:rPr>
              <a:t>Thank You</a:t>
            </a:r>
            <a:endParaRPr sz="4320"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