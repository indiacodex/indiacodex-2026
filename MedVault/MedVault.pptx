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Arial"/>
              </a:rPr>
              <a:t>Example pool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5CF6"/>
              </a:solidFill>
              <a:effectLst/>
            </c:spPr>
          </c:dPt>
          <c:dPt>
            <c:idx val="1"/>
            <c:bubble3D val="0"/>
            <c:spPr>
              <a:solidFill>
                <a:srgbClr val="D9DEE7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Deployed</c:v>
                </c:pt>
                <c:pt idx="1">
                  <c:v>Liquid reserve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78.9</c:v>
                </c:pt>
                <c:pt idx="1">
                  <c:v>21.1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2926080"/>
            <a:ext cx="5486400" cy="54864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842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640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MedVault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214884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Privacy-Preserving, Yield-Generating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Insurance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</a:t>
            </a:r>
            <a:pPr indent="0" marL="0">
              <a:buNone/>
            </a:pPr>
            <a:r>
              <a:rPr lang="en-US" sz="16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</a:t>
            </a:r>
            <a:pPr indent="0" marL="0">
              <a:buNone/>
            </a:pPr>
            <a:r>
              <a:rPr lang="en-US" sz="16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zero-knowledge privacy and </a:t>
            </a:r>
            <a:pPr indent="0" marL="0">
              <a:buNone/>
            </a:pPr>
            <a:r>
              <a:rPr lang="en-US" sz="16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</a:t>
            </a:r>
            <a:pPr indent="0" marL="0">
              <a:buNone/>
            </a:pPr>
            <a:r>
              <a:rPr lang="en-US" sz="16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productive on-chain liquidity.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914400" y="452628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151C2E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464515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143000" y="51937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ever stored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452628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151C2E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464515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663440" y="51937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on deployable treasury capital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0" y="4526280"/>
            <a:ext cx="3246120" cy="1234440"/>
          </a:xfrm>
          <a:prstGeom prst="roundRect">
            <a:avLst>
              <a:gd name="adj" fmla="val 8889"/>
            </a:avLst>
          </a:prstGeom>
          <a:solidFill>
            <a:srgbClr val="151C2E"/>
          </a:solidFill>
          <a:ln/>
        </p:spPr>
      </p:sp>
      <p:sp>
        <p:nvSpPr>
          <p:cNvPr id="16" name="Text 13"/>
          <p:cNvSpPr/>
          <p:nvPr/>
        </p:nvSpPr>
        <p:spPr>
          <a:xfrm>
            <a:off x="8183880" y="464515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183880" y="519379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chains, one private product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6263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build  ·  Cardano preprod testnet  ·  Midnight privacy layer (ported for a real swap)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failures collide in traditional insurance and naive on-chain alternatives.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25796" cy="4160520"/>
          </a:xfrm>
          <a:prstGeom prst="roundRect">
            <a:avLst>
              <a:gd name="adj" fmla="val 3077"/>
            </a:avLst>
          </a:prstGeom>
          <a:solidFill>
            <a:srgbClr val="F8F5FF"/>
          </a:solidFill>
          <a:ln w="12700">
            <a:solidFill>
              <a:srgbClr val="E5D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658368" cy="658368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296" y="250289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72968"/>
            <a:ext cx="45857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chains expose everything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60120" y="3959352"/>
            <a:ext cx="45857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diagnoses, and claims sit on an immutable public ledger — forever.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4654296"/>
            <a:ext cx="45857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balances and premium history become public financial records.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5349240"/>
            <a:ext cx="45857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— patients, hospitals, regulators — actually wants that trade-off.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23076" y="1965960"/>
            <a:ext cx="5225796" cy="4160520"/>
          </a:xfrm>
          <a:prstGeom prst="roundRect">
            <a:avLst>
              <a:gd name="adj" fmla="val 3077"/>
            </a:avLst>
          </a:prstGeom>
          <a:solidFill>
            <a:srgbClr val="F0FDF9"/>
          </a:solidFill>
          <a:ln w="12700">
            <a:solidFill>
              <a:srgbClr val="CFF3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43116" y="2331720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292" y="250289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43116" y="3172968"/>
            <a:ext cx="45857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Billions in premiums sit idle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6643116" y="3959352"/>
            <a:ext cx="45857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insurers hold reserves in low-yield instruments, not working capital.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643116" y="4654296"/>
            <a:ext cx="45857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idle capital does nothing for policyholders or the broader ecosystem.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43116" y="5349240"/>
            <a:ext cx="45857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on-chain liquidity markets are hungry for exactly this kind of capital.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Problem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insurance vault on Midnight, backed by productive liquidity on Cardano.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25796" cy="1938528"/>
          </a:xfrm>
          <a:prstGeom prst="roundRect">
            <a:avLst>
              <a:gd name="adj" fmla="val 5660"/>
            </a:avLst>
          </a:prstGeom>
          <a:solidFill>
            <a:srgbClr val="151C2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1720"/>
            <a:ext cx="566928" cy="566928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4791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313432"/>
            <a:ext cx="39456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premium vaults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98648"/>
            <a:ext cx="467715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 flow into shielded Midnight vaults. Balances and policy status stay invisible — even to us.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23076" y="2057400"/>
            <a:ext cx="5225796" cy="1938528"/>
          </a:xfrm>
          <a:prstGeom prst="roundRect">
            <a:avLst>
              <a:gd name="adj" fmla="val 5660"/>
            </a:avLst>
          </a:prstGeom>
          <a:solidFill>
            <a:srgbClr val="151C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97396" y="2331720"/>
            <a:ext cx="566928" cy="566928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797" y="24791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28916" y="2313432"/>
            <a:ext cx="39456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Zero-knowledge claims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97396" y="2898648"/>
            <a:ext cx="467715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prove eligibility with a ZK proof. No diagnosis, document, or identity ever reaches the server.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315968"/>
            <a:ext cx="5225796" cy="1938528"/>
          </a:xfrm>
          <a:prstGeom prst="roundRect">
            <a:avLst>
              <a:gd name="adj" fmla="val 5660"/>
            </a:avLst>
          </a:prstGeom>
          <a:solidFill>
            <a:srgbClr val="151C2E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590288"/>
            <a:ext cx="566928" cy="56692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473768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572000"/>
            <a:ext cx="39456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Yield-bearing treasury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5157216"/>
            <a:ext cx="467715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80% of idle pool capital works in vetted Cardano strategies, with a hard liquidity floor for claims.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23076" y="4315968"/>
            <a:ext cx="5225796" cy="1938528"/>
          </a:xfrm>
          <a:prstGeom prst="roundRect">
            <a:avLst>
              <a:gd name="adj" fmla="val 5660"/>
            </a:avLst>
          </a:prstGeom>
          <a:solidFill>
            <a:srgbClr val="151C2E"/>
          </a:solidFill>
          <a:ln/>
        </p:spPr>
      </p:sp>
      <p:sp>
        <p:nvSpPr>
          <p:cNvPr id="20" name="Shape 15"/>
          <p:cNvSpPr/>
          <p:nvPr/>
        </p:nvSpPr>
        <p:spPr>
          <a:xfrm>
            <a:off x="6597396" y="4590288"/>
            <a:ext cx="566928" cy="566928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797" y="473768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8916" y="4572000"/>
            <a:ext cx="39456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honest payouts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97396" y="5157216"/>
            <a:ext cx="4677156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proof in, private payout out. Approved claims settle without exposing amounts or reasons on-chain.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Solution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from enrollment to a private, verified payout.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52878" cy="3566160"/>
          </a:xfrm>
          <a:prstGeom prst="roundRect">
            <a:avLst>
              <a:gd name="adj" fmla="val 447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13432"/>
            <a:ext cx="2087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566928" cy="566928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307348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30168"/>
            <a:ext cx="20871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&amp; enroll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08711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Cardano wallet, pick a coverage tier, receive a private policy commitment on Midnight.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11246" y="3730752"/>
            <a:ext cx="347472" cy="347472"/>
          </a:xfrm>
          <a:prstGeom prst="ellipse">
            <a:avLst/>
          </a:prstGeom>
          <a:solidFill>
            <a:srgbClr val="D8DCE5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589" y="3821095"/>
            <a:ext cx="166787" cy="16678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58718" y="2148840"/>
            <a:ext cx="2452878" cy="3566160"/>
          </a:xfrm>
          <a:prstGeom prst="roundRect">
            <a:avLst>
              <a:gd name="adj" fmla="val 447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41598" y="2313432"/>
            <a:ext cx="2087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3641598" y="2926080"/>
            <a:ext cx="566928" cy="566928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999" y="307348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41598" y="3630168"/>
            <a:ext cx="20871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premiums privately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3641598" y="4297680"/>
            <a:ext cx="208711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 settle into the shielded pool. Contribution history lives in the vault — not a public ledger.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29884" y="3730752"/>
            <a:ext cx="347472" cy="347472"/>
          </a:xfrm>
          <a:prstGeom prst="ellipse">
            <a:avLst/>
          </a:prstGeom>
          <a:solidFill>
            <a:srgbClr val="D8DCE5">
              <a:alpha val="20000"/>
            </a:srgb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227" y="3821095"/>
            <a:ext cx="166787" cy="16678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77356" y="2148840"/>
            <a:ext cx="2452878" cy="3566160"/>
          </a:xfrm>
          <a:prstGeom prst="roundRect">
            <a:avLst>
              <a:gd name="adj" fmla="val 447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60236" y="2313432"/>
            <a:ext cx="2087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16"/>
          <p:cNvSpPr/>
          <p:nvPr/>
        </p:nvSpPr>
        <p:spPr>
          <a:xfrm>
            <a:off x="6460236" y="2926080"/>
            <a:ext cx="566928" cy="56692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637" y="3073481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60236" y="3630168"/>
            <a:ext cx="20871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Treasury generates yield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460236" y="4297680"/>
            <a:ext cx="208711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capital deploys into vetted Cardano strategies, with an enforced liquidity floor for claims.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8748522" y="3730752"/>
            <a:ext cx="347472" cy="347472"/>
          </a:xfrm>
          <a:prstGeom prst="ellipse">
            <a:avLst/>
          </a:prstGeom>
          <a:solidFill>
            <a:srgbClr val="D8DCE5">
              <a:alpha val="20000"/>
            </a:srgbClr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8865" y="3821095"/>
            <a:ext cx="166787" cy="166787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095994" y="2148840"/>
            <a:ext cx="2452878" cy="3566160"/>
          </a:xfrm>
          <a:prstGeom prst="roundRect">
            <a:avLst>
              <a:gd name="adj" fmla="val 447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9278874" y="2313432"/>
            <a:ext cx="20871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DC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30" name="Shape 22"/>
          <p:cNvSpPr/>
          <p:nvPr/>
        </p:nvSpPr>
        <p:spPr>
          <a:xfrm>
            <a:off x="9278874" y="2926080"/>
            <a:ext cx="566928" cy="566928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275" y="3073481"/>
            <a:ext cx="272125" cy="27212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278874" y="3630168"/>
            <a:ext cx="20871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with a proof</a:t>
            </a:r>
            <a:endParaRPr lang="en-US" sz="1450" dirty="0"/>
          </a:p>
        </p:txBody>
      </p:sp>
      <p:sp>
        <p:nvSpPr>
          <p:cNvPr id="33" name="Text 24"/>
          <p:cNvSpPr/>
          <p:nvPr/>
        </p:nvSpPr>
        <p:spPr>
          <a:xfrm>
            <a:off x="9278874" y="4297680"/>
            <a:ext cx="208711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ZK proof of eligibility. If it verifies, you're paid — your diagnosis never leaves your device.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How it works</a:t>
            </a:r>
            <a:endParaRPr lang="en-US" sz="950" dirty="0"/>
          </a:p>
        </p:txBody>
      </p:sp>
      <p:sp>
        <p:nvSpPr>
          <p:cNvPr id="35" name="Text 26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layers on the backend; two blockchains behind a single port-and-adapter seam.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217920" cy="868680"/>
          </a:xfrm>
          <a:prstGeom prst="roundRect">
            <a:avLst>
              <a:gd name="adj" fmla="val 10526"/>
            </a:avLst>
          </a:prstGeom>
          <a:solidFill>
            <a:srgbClr val="151C2E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12264"/>
            <a:ext cx="566928" cy="566928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225966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75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2423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routes — HTTP only, zero business logic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 rot="10800000">
            <a:off x="3666744" y="2843784"/>
            <a:ext cx="164592" cy="146304"/>
          </a:xfrm>
          <a:prstGeom prst="triangle">
            <a:avLst/>
          </a:prstGeom>
          <a:solidFill>
            <a:srgbClr val="6B7690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2999232"/>
            <a:ext cx="6217920" cy="868680"/>
          </a:xfrm>
          <a:prstGeom prst="roundRect">
            <a:avLst>
              <a:gd name="adj" fmla="val 10526"/>
            </a:avLst>
          </a:prstGeom>
          <a:solidFill>
            <a:srgbClr val="151C2E"/>
          </a:solidFill>
          <a:ln/>
        </p:spPr>
      </p:sp>
      <p:sp>
        <p:nvSpPr>
          <p:cNvPr id="11" name="Shape 8"/>
          <p:cNvSpPr/>
          <p:nvPr/>
        </p:nvSpPr>
        <p:spPr>
          <a:xfrm>
            <a:off x="841248" y="3145536"/>
            <a:ext cx="566928" cy="566928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49" y="329293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108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00200" y="34564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rules: eligibility, caps, state transitions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 rot="10800000">
            <a:off x="3666744" y="3877056"/>
            <a:ext cx="164592" cy="146304"/>
          </a:xfrm>
          <a:prstGeom prst="triangle">
            <a:avLst/>
          </a:prstGeom>
          <a:solidFill>
            <a:srgbClr val="6B7690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4032504"/>
            <a:ext cx="6217920" cy="868680"/>
          </a:xfrm>
          <a:prstGeom prst="roundRect">
            <a:avLst>
              <a:gd name="adj" fmla="val 10526"/>
            </a:avLst>
          </a:prstGeom>
          <a:solidFill>
            <a:srgbClr val="151C2E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" y="4178808"/>
            <a:ext cx="566928" cy="56692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49" y="4326209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1422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Layer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600200" y="44897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SQL, isolated from services and routes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 rot="10800000">
            <a:off x="3666744" y="4910328"/>
            <a:ext cx="164592" cy="146304"/>
          </a:xfrm>
          <a:prstGeom prst="triangle">
            <a:avLst/>
          </a:prstGeom>
          <a:solidFill>
            <a:srgbClr val="6B7690"/>
          </a:solidFill>
          <a:ln/>
        </p:spPr>
      </p:sp>
      <p:sp>
        <p:nvSpPr>
          <p:cNvPr id="22" name="Shape 17"/>
          <p:cNvSpPr/>
          <p:nvPr/>
        </p:nvSpPr>
        <p:spPr>
          <a:xfrm>
            <a:off x="640080" y="5065776"/>
            <a:ext cx="6217920" cy="868680"/>
          </a:xfrm>
          <a:prstGeom prst="roundRect">
            <a:avLst>
              <a:gd name="adj" fmla="val 10526"/>
            </a:avLst>
          </a:prstGeom>
          <a:solidFill>
            <a:srgbClr val="151C2E"/>
          </a:solidFill>
          <a:ln/>
        </p:spPr>
      </p:sp>
      <p:sp>
        <p:nvSpPr>
          <p:cNvPr id="23" name="Shape 18"/>
          <p:cNvSpPr/>
          <p:nvPr/>
        </p:nvSpPr>
        <p:spPr>
          <a:xfrm>
            <a:off x="841248" y="5212080"/>
            <a:ext cx="566928" cy="566928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9" y="535948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51755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600200" y="55229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 · UUID keys · money as integer lovelace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269480" y="1965960"/>
            <a:ext cx="4279392" cy="1463040"/>
          </a:xfrm>
          <a:prstGeom prst="roundRect">
            <a:avLst>
              <a:gd name="adj" fmla="val 6250"/>
            </a:avLst>
          </a:prstGeom>
          <a:solidFill>
            <a:srgbClr val="151C2E"/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498080" y="2148840"/>
            <a:ext cx="502920" cy="50292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8839" y="2279599"/>
            <a:ext cx="241402" cy="24140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138160" y="2130552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blockchain/ports.py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498080" y="2743200"/>
            <a:ext cx="38221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only — services depend on these, never on a library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269480" y="3703320"/>
            <a:ext cx="4279392" cy="1051560"/>
          </a:xfrm>
          <a:prstGeom prst="roundRect">
            <a:avLst>
              <a:gd name="adj" fmla="val 8696"/>
            </a:avLst>
          </a:prstGeom>
          <a:solidFill>
            <a:srgbClr val="151C2E"/>
          </a:solidFill>
          <a:ln/>
        </p:spPr>
      </p:sp>
      <p:sp>
        <p:nvSpPr>
          <p:cNvPr id="33" name="Shape 26"/>
          <p:cNvSpPr/>
          <p:nvPr/>
        </p:nvSpPr>
        <p:spPr>
          <a:xfrm>
            <a:off x="7470648" y="3867912"/>
            <a:ext cx="502920" cy="50292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1407" y="3998671"/>
            <a:ext cx="241402" cy="24140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138160" y="3831336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Cardano · Blockfrost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8138160" y="416052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preprod reads + CIP-8 signature verification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7269480" y="4937760"/>
            <a:ext cx="4279392" cy="1051560"/>
          </a:xfrm>
          <a:prstGeom prst="roundRect">
            <a:avLst>
              <a:gd name="adj" fmla="val 8696"/>
            </a:avLst>
          </a:prstGeom>
          <a:solidFill>
            <a:srgbClr val="151C2E"/>
          </a:solidFill>
          <a:ln/>
        </p:spPr>
      </p:sp>
      <p:sp>
        <p:nvSpPr>
          <p:cNvPr id="38" name="Shape 30"/>
          <p:cNvSpPr/>
          <p:nvPr/>
        </p:nvSpPr>
        <p:spPr>
          <a:xfrm>
            <a:off x="7470648" y="5102352"/>
            <a:ext cx="502920" cy="50292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1407" y="5233111"/>
            <a:ext cx="241402" cy="24140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138160" y="5065776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Midnight · mocked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8138160" y="5394960"/>
            <a:ext cx="31821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+ ZK verification behind the same port</a:t>
            </a:r>
            <a:endParaRPr lang="en-US" sz="950" dirty="0"/>
          </a:p>
        </p:txBody>
      </p:sp>
      <p:sp>
        <p:nvSpPr>
          <p:cNvPr id="42" name="Text 33"/>
          <p:cNvSpPr/>
          <p:nvPr/>
        </p:nvSpPr>
        <p:spPr>
          <a:xfrm>
            <a:off x="7269480" y="6217920"/>
            <a:ext cx="4279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mock Midnight for a real adapter is a one-line change in app/api/deps.py.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Architecture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In Practice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reaches the server when a claim is submitted.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80076" cy="4023360"/>
          </a:xfrm>
          <a:prstGeom prst="roundRect">
            <a:avLst>
              <a:gd name="adj" fmla="val 2727"/>
            </a:avLst>
          </a:prstGeom>
          <a:solidFill>
            <a:srgbClr val="151C2E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5658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487168"/>
            <a:ext cx="33512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to the platform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3246120"/>
            <a:ext cx="4631436" cy="502920"/>
          </a:xfrm>
          <a:prstGeom prst="roundRect">
            <a:avLst>
              <a:gd name="adj" fmla="val 14545"/>
            </a:avLst>
          </a:prstGeom>
          <a:solidFill>
            <a:srgbClr val="0F1B16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246120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policy_commitment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867912"/>
            <a:ext cx="4631436" cy="502920"/>
          </a:xfrm>
          <a:prstGeom prst="roundRect">
            <a:avLst>
              <a:gd name="adj" fmla="val 14545"/>
            </a:avLst>
          </a:prstGeom>
          <a:solidFill>
            <a:srgbClr val="0F1B16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867912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coverage_eligible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4489704"/>
            <a:ext cx="4631436" cy="502920"/>
          </a:xfrm>
          <a:prstGeom prst="roundRect">
            <a:avLst>
              <a:gd name="adj" fmla="val 14545"/>
            </a:avLst>
          </a:prstGeom>
          <a:solidFill>
            <a:srgbClr val="0F1B16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489704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claim_amount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5111496"/>
            <a:ext cx="4631436" cy="502920"/>
          </a:xfrm>
          <a:prstGeom prst="roundRect">
            <a:avLst>
              <a:gd name="adj" fmla="val 14545"/>
            </a:avLst>
          </a:prstGeom>
          <a:solidFill>
            <a:srgbClr val="0F1B16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5111496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proof_valid: true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14400" y="5824728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verify eligibility and keep the books solvent.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68796" y="2103120"/>
            <a:ext cx="5180076" cy="4023360"/>
          </a:xfrm>
          <a:prstGeom prst="roundRect">
            <a:avLst>
              <a:gd name="adj" fmla="val 2727"/>
            </a:avLst>
          </a:prstGeom>
          <a:solidFill>
            <a:srgbClr val="151C2E"/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43116" y="2423160"/>
            <a:ext cx="548640" cy="54864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762" y="2565806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28916" y="2487168"/>
            <a:ext cx="33512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captured, ever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643116" y="3246120"/>
            <a:ext cx="4631436" cy="502920"/>
          </a:xfrm>
          <a:prstGeom prst="roundRect">
            <a:avLst>
              <a:gd name="adj" fmla="val 14545"/>
            </a:avLst>
          </a:prstGeom>
          <a:solidFill>
            <a:srgbClr val="1B1330"/>
          </a:solidFill>
          <a:ln/>
        </p:spPr>
      </p:sp>
      <p:sp>
        <p:nvSpPr>
          <p:cNvPr id="22" name="Text 18"/>
          <p:cNvSpPr/>
          <p:nvPr/>
        </p:nvSpPr>
        <p:spPr>
          <a:xfrm>
            <a:off x="6825996" y="3246120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643116" y="3867912"/>
            <a:ext cx="4631436" cy="502920"/>
          </a:xfrm>
          <a:prstGeom prst="roundRect">
            <a:avLst>
              <a:gd name="adj" fmla="val 14545"/>
            </a:avLst>
          </a:prstGeom>
          <a:solidFill>
            <a:srgbClr val="1B1330"/>
          </a:solidFill>
          <a:ln/>
        </p:spPr>
      </p:sp>
      <p:sp>
        <p:nvSpPr>
          <p:cNvPr id="24" name="Text 20"/>
          <p:cNvSpPr/>
          <p:nvPr/>
        </p:nvSpPr>
        <p:spPr>
          <a:xfrm>
            <a:off x="6825996" y="3867912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medical_documents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643116" y="4489704"/>
            <a:ext cx="4631436" cy="502920"/>
          </a:xfrm>
          <a:prstGeom prst="roundRect">
            <a:avLst>
              <a:gd name="adj" fmla="val 14545"/>
            </a:avLst>
          </a:prstGeom>
          <a:solidFill>
            <a:srgbClr val="1B1330"/>
          </a:solidFill>
          <a:ln/>
        </p:spPr>
      </p:sp>
      <p:sp>
        <p:nvSpPr>
          <p:cNvPr id="26" name="Text 22"/>
          <p:cNvSpPr/>
          <p:nvPr/>
        </p:nvSpPr>
        <p:spPr>
          <a:xfrm>
            <a:off x="6825996" y="4489704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patient_identity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643116" y="5111496"/>
            <a:ext cx="4631436" cy="502920"/>
          </a:xfrm>
          <a:prstGeom prst="roundRect">
            <a:avLst>
              <a:gd name="adj" fmla="val 14545"/>
            </a:avLst>
          </a:prstGeom>
          <a:solidFill>
            <a:srgbClr val="1B1330"/>
          </a:solidFill>
          <a:ln/>
        </p:spPr>
      </p:sp>
      <p:sp>
        <p:nvSpPr>
          <p:cNvPr id="28" name="Text 24"/>
          <p:cNvSpPr/>
          <p:nvPr/>
        </p:nvSpPr>
        <p:spPr>
          <a:xfrm>
            <a:off x="6825996" y="5111496"/>
            <a:ext cx="42656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wallet_balance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643116" y="5824728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column for these in the database — not encrypted, not present.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Privacy architecture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Treasury &amp; Yield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premiums become productive capital — without ever risking a claim payout.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65960"/>
          <a:ext cx="4206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965960"/>
            <a:ext cx="6336792" cy="1170432"/>
          </a:xfrm>
          <a:prstGeom prst="roundRect">
            <a:avLst>
              <a:gd name="adj" fmla="val 781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13248" y="2148840"/>
            <a:ext cx="530352" cy="530352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140" y="2286732"/>
            <a:ext cx="254569" cy="2545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08192" y="2112264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hard cap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08192" y="2441448"/>
            <a:ext cx="5239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rejects any allocation that would push deployed funds past 80% of the pool — enforced in one place, in code.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212080" y="3300984"/>
            <a:ext cx="6336792" cy="1170432"/>
          </a:xfrm>
          <a:prstGeom prst="roundRect">
            <a:avLst>
              <a:gd name="adj" fmla="val 781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13248" y="3483864"/>
            <a:ext cx="530352" cy="530352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140" y="3621756"/>
            <a:ext cx="254569" cy="2545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08192" y="3447288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 guardrail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08192" y="3776472"/>
            <a:ext cx="5239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payouts check liquid funds first. Insufficient liquidity blocks the payout — before it ever tries to move money.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212080" y="4636008"/>
            <a:ext cx="6336792" cy="1170432"/>
          </a:xfrm>
          <a:prstGeom prst="roundRect">
            <a:avLst>
              <a:gd name="adj" fmla="val 7813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13248" y="4818888"/>
            <a:ext cx="530352" cy="530352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140" y="49567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08192" y="4782312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Vetted strategies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108192" y="5111496"/>
            <a:ext cx="5239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Collateralized lending, ADA staking, and stable liquidity pools — swappable behind the same allocation service.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Treasury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production-grade tooling on both sides of the API.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52878" cy="3794760"/>
          </a:xfrm>
          <a:prstGeom prst="roundRect">
            <a:avLst>
              <a:gd name="adj" fmla="val 4473"/>
            </a:avLst>
          </a:prstGeom>
          <a:solidFill>
            <a:srgbClr val="151C2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774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2D3EE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19956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/ React 19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4041648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608576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5175504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8718" y="2103120"/>
            <a:ext cx="2452878" cy="3794760"/>
          </a:xfrm>
          <a:prstGeom prst="roundRect">
            <a:avLst>
              <a:gd name="adj" fmla="val 4473"/>
            </a:avLst>
          </a:prstGeom>
          <a:solidFill>
            <a:srgbClr val="151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87318" y="23774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8B5CF6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87318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87318" y="2971800"/>
            <a:ext cx="19956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87318" y="3474720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(async)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87318" y="4041648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 + Alembic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87318" y="4608576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87318" y="5175504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25 tests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7356" y="2103120"/>
            <a:ext cx="2452878" cy="3794760"/>
          </a:xfrm>
          <a:prstGeom prst="roundRect">
            <a:avLst>
              <a:gd name="adj" fmla="val 4473"/>
            </a:avLst>
          </a:prstGeom>
          <a:solidFill>
            <a:srgbClr val="151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505956" y="23774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0B981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05956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05956" y="2971800"/>
            <a:ext cx="19956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05956" y="3474720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password hashing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05956" y="4041648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 rotation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05956" y="4608576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05956" y="5175504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(slowapi)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095994" y="2103120"/>
            <a:ext cx="2452878" cy="3794760"/>
          </a:xfrm>
          <a:prstGeom prst="roundRect">
            <a:avLst>
              <a:gd name="adj" fmla="val 4473"/>
            </a:avLst>
          </a:prstGeom>
          <a:solidFill>
            <a:srgbClr val="151C2E"/>
          </a:solidFill>
          <a:ln/>
        </p:spPr>
      </p:sp>
      <p:sp>
        <p:nvSpPr>
          <p:cNvPr id="29" name="Shape 27"/>
          <p:cNvSpPr/>
          <p:nvPr/>
        </p:nvSpPr>
        <p:spPr>
          <a:xfrm>
            <a:off x="9324594" y="23774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59E0B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324594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24594" y="2971800"/>
            <a:ext cx="19956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324594" y="3474720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· Blockfrost (real)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324594" y="4041648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PyCardano · CIP-8 signatures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324594" y="4608576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(ported, mocked)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324594" y="5175504"/>
            <a:ext cx="19956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Alembic migrations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Tech stack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By Default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exists for a specific, named threat.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67128"/>
            <a:ext cx="457200" cy="45720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860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93976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Argon2 password hashing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63040" y="2423160"/>
            <a:ext cx="42199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OWASP-recommended, memory-hard — brute-forcing a leaked hash is economically impractical.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23076" y="1965960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5956" y="2167128"/>
            <a:ext cx="45720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8" y="22860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46036" y="2093976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access + rotating refresh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146036" y="2423160"/>
            <a:ext cx="42199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access tokens; refresh tokens burn on use, so a stolen token dies on first replay.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0080" y="3410712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73075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53872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463040" y="3867912"/>
            <a:ext cx="42199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route requires a server-verified admin role — never a client-side flag.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323076" y="3410712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05956" y="361188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373075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46036" y="353872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limiting on auth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46036" y="3867912"/>
            <a:ext cx="42199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requests/minute on login, register, and refresh blunts credential-stuffing attempts.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4855464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5056632"/>
            <a:ext cx="457200" cy="457200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17550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983480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audit log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463040" y="5312664"/>
            <a:ext cx="42199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approval, payout, and allocation is attributed to an actor and timestamped.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323076" y="4855464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05956" y="5056632"/>
            <a:ext cx="457200" cy="45720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828" y="517550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46036" y="4983480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medical data at rest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146036" y="5312664"/>
            <a:ext cx="42199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control: the database has no column that could hold it.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Security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Portals, Three Views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layouts, navigation, and permissions per role.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61944" cy="3749040"/>
          </a:xfrm>
          <a:prstGeom prst="roundRect">
            <a:avLst>
              <a:gd name="adj" fmla="val 3264"/>
            </a:avLst>
          </a:prstGeom>
          <a:solidFill>
            <a:srgbClr val="151C2E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423160"/>
            <a:ext cx="685800" cy="68580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601468"/>
            <a:ext cx="329184" cy="329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84704" y="248716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584704" y="24871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32688" y="3291840"/>
            <a:ext cx="2813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Portal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32688" y="3840480"/>
            <a:ext cx="2776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buy insurance, claims + ZK proof flow, wallet, live transaction history — fully wired to the API.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13504" y="2103120"/>
            <a:ext cx="3361944" cy="3749040"/>
          </a:xfrm>
          <a:prstGeom prst="roundRect">
            <a:avLst>
              <a:gd name="adj" fmla="val 3264"/>
            </a:avLst>
          </a:prstGeom>
          <a:solidFill>
            <a:srgbClr val="151C2E"/>
          </a:solidFill>
          <a:ln/>
        </p:spPr>
      </p:sp>
      <p:sp>
        <p:nvSpPr>
          <p:cNvPr id="12" name="Shape 9"/>
          <p:cNvSpPr/>
          <p:nvPr/>
        </p:nvSpPr>
        <p:spPr>
          <a:xfrm>
            <a:off x="4706112" y="2423160"/>
            <a:ext cx="685800" cy="6858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420" y="2601468"/>
            <a:ext cx="329184" cy="3291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58128" y="248716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358128" y="24871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complete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706112" y="3291840"/>
            <a:ext cx="2813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Portal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706112" y="3840480"/>
            <a:ext cx="2776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workflow, coverage verification, payout tracker, analytics — backend integration is the next module.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86928" y="2103120"/>
            <a:ext cx="3361944" cy="3749040"/>
          </a:xfrm>
          <a:prstGeom prst="roundRect">
            <a:avLst>
              <a:gd name="adj" fmla="val 3264"/>
            </a:avLst>
          </a:prstGeom>
          <a:solidFill>
            <a:srgbClr val="151C2E"/>
          </a:solidFill>
          <a:ln/>
        </p:spPr>
      </p:sp>
      <p:sp>
        <p:nvSpPr>
          <p:cNvPr id="19" name="Shape 15"/>
          <p:cNvSpPr/>
          <p:nvPr/>
        </p:nvSpPr>
        <p:spPr>
          <a:xfrm>
            <a:off x="8479536" y="2423160"/>
            <a:ext cx="685800" cy="6858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844" y="2601468"/>
            <a:ext cx="329184" cy="32918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131552" y="2487168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10131552" y="248716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479536" y="3291840"/>
            <a:ext cx="2813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Admin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479536" y="3840480"/>
            <a:ext cx="27767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approvals, treasury allocation with the 80% cap, fraud monitor, audit logs — fully wired to the API.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Product surface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beneficiaries, one shared mechanism.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180076" cy="4069080"/>
          </a:xfrm>
          <a:prstGeom prst="roundRect">
            <a:avLst>
              <a:gd name="adj" fmla="val 2697"/>
            </a:avLst>
          </a:prstGeom>
          <a:solidFill>
            <a:srgbClr val="F0F9FF"/>
          </a:solidFill>
          <a:ln w="12700">
            <a:solidFill>
              <a:srgbClr val="CDEB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566928" cy="566928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5248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459736"/>
            <a:ext cx="33512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Users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medical privacy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3712464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financial privacy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4224528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funds keep earning while they protect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4736592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sustainable, better-capitalized pool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5248656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increased coverage over time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68796" y="2057400"/>
            <a:ext cx="5180076" cy="4069080"/>
          </a:xfrm>
          <a:prstGeom prst="roundRect">
            <a:avLst>
              <a:gd name="adj" fmla="val 2697"/>
            </a:avLst>
          </a:prstGeom>
          <a:solidFill>
            <a:srgbClr val="F0FDF9"/>
          </a:solidFill>
          <a:ln w="12700">
            <a:solidFill>
              <a:srgbClr val="CFF3E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43116" y="2377440"/>
            <a:ext cx="566928" cy="56692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517" y="2524841"/>
            <a:ext cx="272125" cy="2721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28916" y="2459736"/>
            <a:ext cx="33512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Cardano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643116" y="3200400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insurance capital becomes productive liquidity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43116" y="3712464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TVL enters the ecosystem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643116" y="4224528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staking and DeFi liquidity depth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643116" y="4736592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Midnight privacy with Cardano liquidity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643116" y="5248656"/>
            <a:ext cx="46314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use case beyond speculation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Value proposition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Status &amp; Roadmap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backend modules shipped and tested; frontend fully integrated.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08792" cy="1920240"/>
          </a:xfrm>
          <a:prstGeom prst="roundRect">
            <a:avLst>
              <a:gd name="adj" fmla="val 5714"/>
            </a:avLst>
          </a:prstGeom>
          <a:solidFill>
            <a:srgbClr val="151C2E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3829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10360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(Argon2/JWT) · Wallet linking (CIP-8) · Plans &amp; policies · Blockfrost premium verification · ZK-style claims · Treasury &amp; 80% cap · Transactions &amp; audit · Rate limiting · 25-test pytest suite · Docker packaging · Full frontend integration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160520"/>
            <a:ext cx="10908792" cy="1920240"/>
          </a:xfrm>
          <a:prstGeom prst="roundRect">
            <a:avLst>
              <a:gd name="adj" fmla="val 5714"/>
            </a:avLst>
          </a:prstGeom>
          <a:solidFill>
            <a:srgbClr val="151C2E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4531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14400" y="4937760"/>
            <a:ext cx="10360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portal backend · Profile &amp; notification endpoints · Pool history time-series · Real Midnight adapter (as tooling matures) · Mainnet migration &amp; external security audit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Roadmap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MedVault goes next — deeper automation, deeper trust.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67128"/>
            <a:ext cx="457200" cy="45720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860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93976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claim-verification calls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63040" y="2423160"/>
            <a:ext cx="42199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AI agent calls the treating hospital directly to confirm a claim is genuine before payout — catching fraud a document review alone would miss.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6323076" y="1965960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5956" y="2167128"/>
            <a:ext cx="457200" cy="4572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8" y="228600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46036" y="2093976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transcripts in the audit log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146036" y="2423160"/>
            <a:ext cx="42199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verification call is transcribed and written into the same immutable audit log as approvals and payouts — reviewable, never editable.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640080" y="3410712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73075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53872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policy assistant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463040" y="3867912"/>
            <a:ext cx="42199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assistant built into the User Portal answers coverage and claims questions instantly, grounded only in MedVault's own policy terms — no medical data in, no hallucinated answers out.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6323076" y="3410712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05956" y="361188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373075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46036" y="3538728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ML-assisted fraud scoring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46036" y="3867912"/>
            <a:ext cx="42199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patterns feed a risk model that flags anomalies for human review, layered on top of — never instead of — the ZK eligibility proof.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640080" y="4855464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5056632"/>
            <a:ext cx="457200" cy="457200"/>
          </a:xfrm>
          <a:prstGeom prst="ellipse">
            <a:avLst/>
          </a:prstGeom>
          <a:solidFill>
            <a:srgbClr val="F43F5E">
              <a:alpha val="2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17550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983480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Mainnet &amp; a real Midnight adapter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463040" y="5312664"/>
            <a:ext cx="42199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Cardano preprod to mainnet and swap in a production Midnight adapter behind the existing ports interface, once tooling matures.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6323076" y="4855464"/>
            <a:ext cx="5225796" cy="1188720"/>
          </a:xfrm>
          <a:prstGeom prst="roundRect">
            <a:avLst>
              <a:gd name="adj" fmla="val 7692"/>
            </a:avLst>
          </a:prstGeom>
          <a:solidFill>
            <a:srgbClr val="F7F8FA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505956" y="5056632"/>
            <a:ext cx="457200" cy="45720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828" y="517550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46036" y="4983480"/>
            <a:ext cx="42199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Community-governed treasury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146036" y="5312664"/>
            <a:ext cx="42199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Policyholders vote on which vetted yield strategies the pool deploys into — turning passive premium payers into active stakeholders.</a:t>
            </a:r>
            <a:endParaRPr lang="en-US" sz="930" dirty="0"/>
          </a:p>
        </p:txBody>
      </p:sp>
      <p:sp>
        <p:nvSpPr>
          <p:cNvPr id="34" name="Text 2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Future scope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 For Cardano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policyholder premium becomes capital working inside the Cardano ecosystem — not sitting on the sidelines.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25796" cy="1536192"/>
          </a:xfrm>
          <a:prstGeom prst="roundRect">
            <a:avLst>
              <a:gd name="adj" fmla="val 7143"/>
            </a:avLst>
          </a:prstGeom>
          <a:solidFill>
            <a:srgbClr val="151C2E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85416"/>
            <a:ext cx="493776" cy="493776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494" y="2313798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2148840"/>
            <a:ext cx="40553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new, non-speculative capital source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752344"/>
            <a:ext cx="47137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premiums exist independent of crypto market cycles — a steady inflow of real capital into Cardano DeFi, not capital chasing yield.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6323076" y="1965960"/>
            <a:ext cx="5225796" cy="1536192"/>
          </a:xfrm>
          <a:prstGeom prst="roundRect">
            <a:avLst>
              <a:gd name="adj" fmla="val 7143"/>
            </a:avLst>
          </a:prstGeom>
          <a:solidFill>
            <a:srgbClr val="151C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79108" y="2185416"/>
            <a:ext cx="493776" cy="493776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490" y="2313798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9188" y="2148840"/>
            <a:ext cx="40553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staking &amp; lending markets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79108" y="2752344"/>
            <a:ext cx="47137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treasury capital flows into native ADA staking and collateralized lending, adding real depth where Cardano DeFi needs it most.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640080" y="3730752"/>
            <a:ext cx="5225796" cy="1536192"/>
          </a:xfrm>
          <a:prstGeom prst="roundRect">
            <a:avLst>
              <a:gd name="adj" fmla="val 7143"/>
            </a:avLst>
          </a:prstGeom>
          <a:solidFill>
            <a:srgbClr val="151C2E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3950208"/>
            <a:ext cx="493776" cy="493776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94" y="4078590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3913632"/>
            <a:ext cx="40553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stable liquidity pools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96112" y="4517136"/>
            <a:ext cx="47137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 of the treasury supports stable LPs — tightening spreads and improving execution for every trader on Cardano, not just MedVault users.</a:t>
            </a:r>
            <a:endParaRPr lang="en-US" sz="1020" dirty="0"/>
          </a:p>
        </p:txBody>
      </p:sp>
      <p:sp>
        <p:nvSpPr>
          <p:cNvPr id="19" name="Shape 14"/>
          <p:cNvSpPr/>
          <p:nvPr/>
        </p:nvSpPr>
        <p:spPr>
          <a:xfrm>
            <a:off x="6323076" y="3730752"/>
            <a:ext cx="5225796" cy="1536192"/>
          </a:xfrm>
          <a:prstGeom prst="roundRect">
            <a:avLst>
              <a:gd name="adj" fmla="val 7143"/>
            </a:avLst>
          </a:prstGeom>
          <a:solidFill>
            <a:srgbClr val="151C2E"/>
          </a:solidFill>
          <a:ln/>
        </p:spPr>
      </p:sp>
      <p:sp>
        <p:nvSpPr>
          <p:cNvPr id="20" name="Shape 15"/>
          <p:cNvSpPr/>
          <p:nvPr/>
        </p:nvSpPr>
        <p:spPr>
          <a:xfrm>
            <a:off x="6579108" y="3950208"/>
            <a:ext cx="493776" cy="493776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490" y="4078590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9188" y="3913632"/>
            <a:ext cx="40553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Cardano can host serious finance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79108" y="4517136"/>
            <a:ext cx="471373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ADA at work here is backed by an actual insurance obligation — a real-world use case beyond speculation, running on real infrastructure.</a:t>
            </a:r>
            <a:endParaRPr lang="en-US" sz="1020" dirty="0"/>
          </a:p>
        </p:txBody>
      </p:sp>
      <p:sp>
        <p:nvSpPr>
          <p:cNvPr id="24" name="Shape 18"/>
          <p:cNvSpPr/>
          <p:nvPr/>
        </p:nvSpPr>
        <p:spPr>
          <a:xfrm>
            <a:off x="640080" y="5623560"/>
            <a:ext cx="3392424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6B7690">
                <a:alpha val="30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68680" y="5687568"/>
            <a:ext cx="2935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68680" y="6016752"/>
            <a:ext cx="2935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deployable into strategies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4398264" y="5623560"/>
            <a:ext cx="3392424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6B7690">
                <a:alpha val="30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626864" y="5687568"/>
            <a:ext cx="2935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20%+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4626864" y="6016752"/>
            <a:ext cx="2935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liquid, enforced in code</a:t>
            </a:r>
            <a:endParaRPr lang="en-US" sz="930" dirty="0"/>
          </a:p>
        </p:txBody>
      </p:sp>
      <p:sp>
        <p:nvSpPr>
          <p:cNvPr id="30" name="Shape 24"/>
          <p:cNvSpPr/>
          <p:nvPr/>
        </p:nvSpPr>
        <p:spPr>
          <a:xfrm>
            <a:off x="8156448" y="5623560"/>
            <a:ext cx="3392424" cy="777240"/>
          </a:xfrm>
          <a:prstGeom prst="roundRect">
            <a:avLst>
              <a:gd name="adj" fmla="val 11765"/>
            </a:avLst>
          </a:prstGeom>
          <a:solidFill>
            <a:srgbClr val="111827"/>
          </a:solidFill>
          <a:ln w="12700">
            <a:solidFill>
              <a:srgbClr val="6B7690">
                <a:alpha val="30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385048" y="5687568"/>
            <a:ext cx="2935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8385048" y="6016752"/>
            <a:ext cx="2935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ever left idle by design</a:t>
            </a:r>
            <a:endParaRPr lang="en-US" sz="930" dirty="0"/>
          </a:p>
        </p:txBody>
      </p:sp>
      <p:sp>
        <p:nvSpPr>
          <p:cNvPr id="33" name="Text 27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Cardano liquidity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We're Different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architecture that protects privacy also proves solvency — most models force you to pick one.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71800"/>
                <a:gridCol w="3063240"/>
                <a:gridCol w="30449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Traditional Insurers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Public-Chain Crypto Insurance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0F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MedVault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Medical privacy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database — a breach waiting to happen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exposed on a fully public ledger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0B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Zero-knowledge — diagnosis and documents never stored, never seen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Idle capital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Reserves parked at low yield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productive, if addressed at all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0B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80% deployed as productive Cardano liquidity, by rule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Claims process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document review, weeks-long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or committee-based adjudication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0B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Cryptographic ZK proof, verified automatically in code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Solvency transparency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Opaque, self-reported reserve figures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public — but exposes every user to do 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0B4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pool health publicly auditable; individual data stays private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Differentiation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286000"/>
            <a:ext cx="6400800" cy="64008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280160"/>
            <a:ext cx="914400" cy="91440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15179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health is yours.</a:t>
            </a:r>
            <a:endParaRPr lang="en-US" sz="3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that way.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— private coverage, productive capital, verifiable trust.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MedVault  ·  Thank you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18311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2026-07-21T13:43:32Z</dcterms:created>
  <dcterms:modified xsi:type="dcterms:W3CDTF">2026-07-21T13:43:32Z</dcterms:modified>
</cp:coreProperties>
</file>