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27432" y="4087368"/>
            <a:ext cx="12246559" cy="2798064"/>
          </a:xfrm>
          <a:prstGeom prst="rect">
            <a:avLst/>
          </a:prstGeom>
          <a:noFill/>
          <a:ln w="31750">
            <a:solidFill>
              <a:srgbClr val="59A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me-v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4800"/>
            <a:ext cx="12191695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2E7D5"/>
                </a:solidFill>
                <a:latin typeface="Verdana"/>
              </a:rPr>
              <a:t>HYDRA </a:t>
            </a:r>
            <a:r>
              <a:rPr sz="6600" b="1">
                <a:solidFill>
                  <a:srgbClr val="59A832"/>
                </a:solidFill>
                <a:latin typeface="Verdana"/>
              </a:rPr>
              <a:t>MINECRAFT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945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9CD8E"/>
                </a:solidFill>
                <a:latin typeface="Consolas"/>
              </a:rPr>
              <a:t>Every block you place or break is a real Cardano </a:t>
            </a:r>
            <a:r>
              <a:rPr sz="2000" b="1">
                <a:solidFill>
                  <a:srgbClr val="7FB4FF"/>
                </a:solidFill>
                <a:latin typeface="Consolas"/>
              </a:rPr>
              <a:t>Hydra L2</a:t>
            </a:r>
            <a:r>
              <a:rPr sz="2000" b="0">
                <a:solidFill>
                  <a:srgbClr val="D9CD8E"/>
                </a:solidFill>
                <a:latin typeface="Consolas"/>
              </a:rPr>
              <a:t> transaction.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54680"/>
            <a:ext cx="2011680" cy="502920"/>
          </a:xfrm>
          <a:prstGeom prst="rect">
            <a:avLst/>
          </a:prstGeom>
          <a:noFill/>
          <a:ln w="31750">
            <a:solidFill>
              <a:srgbClr val="59A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5468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9A832"/>
                </a:solidFill>
                <a:latin typeface="Consolas"/>
              </a:rPr>
              <a:t>TEAM 0x0D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3154680"/>
            <a:ext cx="2743200" cy="502920"/>
          </a:xfrm>
          <a:prstGeom prst="rect">
            <a:avLst/>
          </a:prstGeom>
          <a:noFill/>
          <a:ln w="31750">
            <a:solidFill>
              <a:srgbClr val="7F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1546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FB4FF"/>
                </a:solidFill>
                <a:latin typeface="Consolas"/>
              </a:rPr>
              <a:t>INDIACODEX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154680"/>
            <a:ext cx="2743200" cy="502920"/>
          </a:xfrm>
          <a:prstGeom prst="rect">
            <a:avLst/>
          </a:prstGeom>
          <a:noFill/>
          <a:ln w="31750">
            <a:solidFill>
              <a:srgbClr val="D94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31546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94534"/>
                </a:solidFill>
                <a:latin typeface="Consolas"/>
              </a:rPr>
              <a:t>CARDANO · HYDRA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9A832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E7D5"/>
                </a:solidFill>
                <a:latin typeface="Verdana"/>
              </a:rPr>
              <a:t>A playable Minecraft-style voxel world in the browser —</a:t>
            </a:r>
          </a:p>
          <a:p>
            <a:pPr algn="l">
              <a:lnSpc>
                <a:spcPct val="105000"/>
              </a:lnSpc>
            </a:pPr>
            <a:r>
              <a:rPr sz="3000" b="0">
                <a:solidFill>
                  <a:srgbClr val="F2E7D5"/>
                </a:solidFill>
                <a:latin typeface="Verdana"/>
              </a:rPr>
              <a:t>where the </a:t>
            </a:r>
            <a:r>
              <a:rPr sz="3000" b="1">
                <a:solidFill>
                  <a:srgbClr val="59A832"/>
                </a:solidFill>
                <a:latin typeface="Verdana"/>
              </a:rPr>
              <a:t>save file is a blockchain.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98648"/>
            <a:ext cx="164592" cy="164592"/>
          </a:xfrm>
          <a:prstGeom prst="rect">
            <a:avLst/>
          </a:prstGeom>
          <a:solidFill>
            <a:srgbClr val="F2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2E7D5"/>
                </a:solidFill>
                <a:latin typeface="Consolas"/>
              </a:rPr>
              <a:t>Terrain is a pure function of one seed — so the world isn't stored.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57016"/>
            <a:ext cx="164592" cy="164592"/>
          </a:xfrm>
          <a:prstGeom prst="rect">
            <a:avLst/>
          </a:prstGeom>
          <a:solidFill>
            <a:srgbClr val="D9C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4728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9CD8E"/>
                </a:solidFill>
                <a:latin typeface="Consolas"/>
              </a:rPr>
              <a:t>Only the EDITS matter. Each place/break = one tiny on-chain record.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15384"/>
            <a:ext cx="164592" cy="164592"/>
          </a:xfrm>
          <a:prstGeom prst="rect">
            <a:avLst/>
          </a:prstGeom>
          <a:solidFill>
            <a:srgbClr val="7F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056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7FB4FF"/>
                </a:solidFill>
                <a:latin typeface="Consolas"/>
              </a:rPr>
              <a:t>The Hydra head's UTxO set IS the world. Replay it -&gt; exact world.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73752"/>
            <a:ext cx="164592" cy="164592"/>
          </a:xfrm>
          <a:prstGeom prst="rect">
            <a:avLst/>
          </a:prstGeom>
          <a:solidFill>
            <a:srgbClr val="59A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6402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59A832"/>
                </a:solidFill>
                <a:latin typeface="Consolas"/>
              </a:rPr>
              <a:t>No wallet. No popups. No fees. No delays. The player never notices.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7848" y="4087368"/>
            <a:ext cx="3895344" cy="2386584"/>
          </a:xfrm>
          <a:prstGeom prst="rect">
            <a:avLst/>
          </a:prstGeom>
          <a:noFill/>
          <a:ln w="31750">
            <a:solidFill>
              <a:srgbClr val="7F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am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4114800"/>
            <a:ext cx="384048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FB4FF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2E7D5"/>
                </a:solidFill>
                <a:latin typeface="Verdana"/>
              </a:rPr>
              <a:t>Browser  →  Relay  →  Hydra 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566160" cy="3200400"/>
          </a:xfrm>
          <a:prstGeom prst="rect">
            <a:avLst/>
          </a:prstGeom>
          <a:solidFill>
            <a:srgbClr val="10162E"/>
          </a:solidFill>
          <a:ln w="38100">
            <a:solidFill>
              <a:srgbClr val="59A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59A832"/>
                </a:solidFill>
                <a:latin typeface="Consolas"/>
              </a:rPr>
              <a:t>YOUR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Three.js voxel game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place / break a block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applied instantly,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then fire-and-forget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3108960"/>
            <a:ext cx="502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D9CD8E"/>
                </a:solidFill>
                <a:latin typeface="Verdan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920240"/>
            <a:ext cx="3566160" cy="3200400"/>
          </a:xfrm>
          <a:prstGeom prst="rect">
            <a:avLst/>
          </a:prstGeom>
          <a:solidFill>
            <a:srgbClr val="10162E"/>
          </a:solidFill>
          <a:ln w="38100">
            <a:solidFill>
              <a:srgbClr val="7F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FB4FF"/>
                </a:solidFill>
                <a:latin typeface="Consolas"/>
              </a:rPr>
              <a:t>RELAY (Node.js)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88036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holds an Ed25519 key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server-side — no wallet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builds + signs a zero-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fee tx, submits NewTx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108960"/>
            <a:ext cx="502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D9CD8E"/>
                </a:solidFill>
                <a:latin typeface="Verdana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920240"/>
            <a:ext cx="3566160" cy="3200400"/>
          </a:xfrm>
          <a:prstGeom prst="rect">
            <a:avLst/>
          </a:prstGeom>
          <a:solidFill>
            <a:srgbClr val="10162E"/>
          </a:solidFill>
          <a:ln w="38100">
            <a:solidFill>
              <a:srgbClr val="D94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1488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94534"/>
                </a:solidFill>
                <a:latin typeface="Consolas"/>
              </a:rPr>
              <a:t>HYDRA 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88036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offline head, seeded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UTxO. Inline datum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Constr 0 [x,y,z,type,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action,seq]. Replayable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D9CD8E"/>
                </a:solidFill>
                <a:latin typeface="Consolas"/>
              </a:rPr>
              <a:t>On SnapshotConfirmed the relay decodes datums and broadcasts world deltas to every client. 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3A0"/>
                </a:solidFill>
                <a:latin typeface="Consolas"/>
              </a:rPr>
              <a:t>Hydra unreachable? The game keeps running; queued edits land on-chain when it returns.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9A832"/>
                </a:solidFill>
                <a:latin typeface="Consolas"/>
              </a:rPr>
              <a:t>IT'S A REAL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2E7D5"/>
                </a:solidFill>
                <a:latin typeface="Verdana"/>
              </a:rPr>
              <a:t>Not a tech demo — a game people actually 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7" y="1801368"/>
            <a:ext cx="3575304" cy="2203704"/>
          </a:xfrm>
          <a:prstGeom prst="rect">
            <a:avLst/>
          </a:prstGeom>
          <a:noFill/>
          <a:ln w="31750">
            <a:solidFill>
              <a:srgbClr val="59A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me-m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520440" cy="2148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15968" y="1801368"/>
            <a:ext cx="3575304" cy="2203704"/>
          </a:xfrm>
          <a:prstGeom prst="rect">
            <a:avLst/>
          </a:prstGeom>
          <a:noFill/>
          <a:ln w="31750">
            <a:solidFill>
              <a:srgbClr val="D94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ame-t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28800"/>
            <a:ext cx="3520440" cy="2148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19288" y="1801368"/>
            <a:ext cx="3575304" cy="2203704"/>
          </a:xfrm>
          <a:prstGeom prst="rect">
            <a:avLst/>
          </a:prstGeom>
          <a:noFill/>
          <a:ln w="31750">
            <a:solidFill>
              <a:srgbClr val="7F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ame-n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3520440" cy="2148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389120"/>
            <a:ext cx="146304" cy="146304"/>
          </a:xfrm>
          <a:prstGeom prst="rect">
            <a:avLst/>
          </a:prstGeom>
          <a:solidFill>
            <a:srgbClr val="59A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33672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9A832"/>
                </a:solidFill>
                <a:latin typeface="Consolas"/>
              </a:rPr>
              <a:t>Survival mode — </a:t>
            </a:r>
            <a:r>
              <a:rPr sz="1400" b="0">
                <a:solidFill>
                  <a:srgbClr val="F2E7D5"/>
                </a:solidFill>
                <a:latin typeface="Consolas"/>
              </a:rPr>
              <a:t>hearts, fall &amp; drowning damage, death + respawn, item drops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389120"/>
            <a:ext cx="146304" cy="146304"/>
          </a:xfrm>
          <a:prstGeom prst="rect">
            <a:avLst/>
          </a:prstGeom>
          <a:solidFill>
            <a:srgbClr val="D94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4233672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4534"/>
                </a:solidFill>
                <a:latin typeface="Consolas"/>
              </a:rPr>
              <a:t>TNT + physics — </a:t>
            </a:r>
            <a:r>
              <a:rPr sz="1400" b="0">
                <a:solidFill>
                  <a:srgbClr val="F2E7D5"/>
                </a:solidFill>
                <a:latin typeface="Consolas"/>
              </a:rPr>
              <a:t>fuses, chain reactions, falling sand — each explosion a tx burst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49240"/>
            <a:ext cx="146304" cy="146304"/>
          </a:xfrm>
          <a:prstGeom prst="rect">
            <a:avLst/>
          </a:prstGeom>
          <a:solidFill>
            <a:srgbClr val="7F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193792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7FB4FF"/>
                </a:solidFill>
                <a:latin typeface="Consolas"/>
              </a:rPr>
              <a:t>Mobs &amp; caves — </a:t>
            </a:r>
            <a:r>
              <a:rPr sz="1400" b="0">
                <a:solidFill>
                  <a:srgbClr val="F2E7D5"/>
                </a:solidFill>
                <a:latin typeface="Consolas"/>
              </a:rPr>
              <a:t>zombies at night, sheep/pigs/cows, ore veins, real mining times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5349240"/>
            <a:ext cx="146304" cy="146304"/>
          </a:xfrm>
          <a:prstGeom prst="rect">
            <a:avLst/>
          </a:prstGeom>
          <a:solidFill>
            <a:srgbClr val="D9C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5193792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CD8E"/>
                </a:solidFill>
                <a:latin typeface="Consolas"/>
              </a:rPr>
              <a:t>Multiplayer — </a:t>
            </a:r>
            <a:r>
              <a:rPr sz="1400" b="0">
                <a:solidFill>
                  <a:srgbClr val="F2E7D5"/>
                </a:solidFill>
                <a:latin typeface="Consolas"/>
              </a:rPr>
              <a:t>avatars, chat, minimap, day/night — synced via the relay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FB4FF"/>
                </a:solidFill>
                <a:latin typeface="Consolas"/>
              </a:rPr>
              <a:t>ON-CHAIN — THE SMART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2E7D5"/>
                </a:solidFill>
                <a:latin typeface="Verdana"/>
              </a:rPr>
              <a:t>The datum is the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6766560" cy="2286000"/>
          </a:xfrm>
          <a:prstGeom prst="rect">
            <a:avLst/>
          </a:prstGeom>
          <a:solidFill>
            <a:srgbClr val="10162E"/>
          </a:solidFill>
          <a:ln w="31750">
            <a:solidFill>
              <a:srgbClr val="7F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6400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59A832"/>
                </a:solidFill>
                <a:latin typeface="Consolas"/>
              </a:rPr>
              <a:t>BlockAction = Constr 0 [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   x, y, z          : Int   -- coordinates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   block_type_id    : Int   -- 0..13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   action           : Int   -- 0 place / 1 break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   seq              : Int   -- replay order</a:t>
            </a:r>
          </a:p>
          <a:p>
            <a:pPr algn="l">
              <a:lnSpc>
                <a:spcPct val="110000"/>
              </a:lnSpc>
            </a:pPr>
            <a:r>
              <a:rPr sz="1600" b="1">
                <a:solidFill>
                  <a:srgbClr val="59A832"/>
                </a:solidFill>
                <a:latin typeface="Consolas"/>
              </a:rPr>
              <a:t>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783080"/>
            <a:ext cx="3977639" cy="2286000"/>
          </a:xfrm>
          <a:prstGeom prst="rect">
            <a:avLst/>
          </a:prstGeom>
          <a:solidFill>
            <a:srgbClr val="10162E"/>
          </a:solidFill>
          <a:ln w="31750">
            <a:solidFill>
              <a:srgbClr val="59A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965960"/>
            <a:ext cx="3657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9A832"/>
                </a:solidFill>
                <a:latin typeface="Consolas"/>
              </a:rPr>
              <a:t>Aiken · Plutus V3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CD8E"/>
                </a:solidFill>
                <a:latin typeface="Consolas"/>
              </a:rPr>
              <a:t>block_ledger validator: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2E7D5"/>
                </a:solidFill>
                <a:latin typeface="Consolas"/>
              </a:rPr>
              <a:t>• append-only world log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2E7D5"/>
                </a:solidFill>
                <a:latin typeface="Consolas"/>
              </a:rPr>
              <a:t>• only head authority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2E7D5"/>
                </a:solidFill>
                <a:latin typeface="Consolas"/>
              </a:rPr>
              <a:t>  may spend a record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2E7D5"/>
                </a:solidFill>
                <a:latin typeface="Consolas"/>
              </a:rPr>
              <a:t>• well-formedness guard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5486400" cy="502920"/>
          </a:xfrm>
          <a:prstGeom prst="rect">
            <a:avLst/>
          </a:prstGeom>
          <a:noFill/>
          <a:ln w="31750">
            <a:solidFill>
              <a:srgbClr val="59A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5486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59A832"/>
                </a:solidFill>
                <a:latin typeface="Consolas"/>
              </a:rPr>
              <a:t>aiken check → 3 PASSED / 0 FAILED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434840"/>
            <a:ext cx="2926080" cy="502920"/>
          </a:xfrm>
          <a:prstGeom prst="rect">
            <a:avLst/>
          </a:prstGeom>
          <a:noFill/>
          <a:ln w="31750">
            <a:solidFill>
              <a:srgbClr val="7F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43484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FB4FF"/>
                </a:solidFill>
                <a:latin typeface="Consolas"/>
              </a:rPr>
              <a:t>hash 6c433965…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2E7D5"/>
                </a:solidFill>
                <a:latin typeface="Consolas"/>
              </a:rPr>
              <a:t>Verified: a 2-TNT chain reaction produced </a:t>
            </a:r>
            <a:r>
              <a:rPr sz="1700" b="1">
                <a:solidFill>
                  <a:srgbClr val="D94534"/>
                </a:solidFill>
                <a:latin typeface="Consolas"/>
              </a:rPr>
              <a:t>37 valid L2 transactions, 0 invalid</a:t>
            </a:r>
            <a:r>
              <a:rPr sz="1700" b="0">
                <a:solidFill>
                  <a:srgbClr val="F2E7D5"/>
                </a:solidFill>
                <a:latin typeface="Consolas"/>
              </a:rPr>
              <a:t> in one blast —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D9CD8E"/>
                </a:solidFill>
                <a:latin typeface="Consolas"/>
              </a:rPr>
              <a:t>proof, live from the head via GET /chain (real tx hashes + raw datum CBOR).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9A832"/>
                </a:solidFill>
                <a:latin typeface="Consolas"/>
              </a:rPr>
              <a:t>STACK &amp;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2E7D5"/>
                </a:solidFill>
                <a:latin typeface="Verdana"/>
              </a:rPr>
              <a:t>Vanilla, fast, verifiable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solidFill>
            <a:srgbClr val="10162E"/>
          </a:solidFill>
          <a:ln w="38100">
            <a:solidFill>
              <a:srgbClr val="59A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9A832"/>
                </a:solidFill>
                <a:latin typeface="Consolas"/>
              </a:rPr>
              <a:t>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Three.js r158 (CDN)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vanilla JS, no bundler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InstancedMesh voxels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pointer-lock + physics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566160" cy="2743200"/>
          </a:xfrm>
          <a:prstGeom prst="rect">
            <a:avLst/>
          </a:prstGeom>
          <a:solidFill>
            <a:srgbClr val="10162E"/>
          </a:solidFill>
          <a:ln w="38100">
            <a:solidFill>
              <a:srgbClr val="7F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7FB4FF"/>
                </a:solidFill>
                <a:latin typeface="Consolas"/>
              </a:rPr>
              <a:t>BACK-END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5176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Node.js relay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Express + ws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cardano-serialization-lib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GET /chain explorer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828800"/>
            <a:ext cx="3566160" cy="2743200"/>
          </a:xfrm>
          <a:prstGeom prst="rect">
            <a:avLst/>
          </a:prstGeom>
          <a:solidFill>
            <a:srgbClr val="10162E"/>
          </a:solidFill>
          <a:ln w="38100">
            <a:solidFill>
              <a:srgbClr val="D94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11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94534"/>
                </a:solidFill>
                <a:latin typeface="Consolas"/>
              </a:rPr>
              <a:t>ON-CHAIN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65176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hydra-node (Docker)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offline head, zero-fee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Aiken / Plutus V3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2E7D5"/>
                </a:solidFill>
                <a:latin typeface="Consolas"/>
              </a:rPr>
              <a:t>CBOR inline datums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F2E7D5"/>
                </a:solidFill>
                <a:latin typeface="Verdana"/>
              </a:rPr>
              <a:t>Built end to end by </a:t>
            </a:r>
            <a:r>
              <a:rPr sz="2000" b="1">
                <a:solidFill>
                  <a:srgbClr val="59A832"/>
                </a:solidFill>
                <a:latin typeface="Verdana"/>
              </a:rPr>
              <a:t>Claude Fable 5</a:t>
            </a:r>
            <a:r>
              <a:rPr sz="2000" b="0">
                <a:solidFill>
                  <a:srgbClr val="F2E7D5"/>
                </a:solidFill>
                <a:latin typeface="Verdana"/>
              </a:rPr>
              <a:t> — from one prompt.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D9CD8E"/>
                </a:solidFill>
                <a:latin typeface="Consolas"/>
              </a:rPr>
              <a:t>~3,800 lines · 12/12 features · verified in-browser · every claim reproducible.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30568" y="1709928"/>
            <a:ext cx="4901183" cy="2889504"/>
          </a:xfrm>
          <a:prstGeom prst="rect">
            <a:avLst/>
          </a:prstGeom>
          <a:noFill/>
          <a:ln w="31750">
            <a:solidFill>
              <a:srgbClr val="7F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me-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4846320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463040"/>
            <a:ext cx="6035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2E7D5"/>
                </a:solidFill>
                <a:latin typeface="Verdana"/>
              </a:rPr>
              <a:t>Clone it.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F2E7D5"/>
                </a:solidFill>
                <a:latin typeface="Verdana"/>
              </a:rPr>
              <a:t>Run it.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59A832"/>
                </a:solidFill>
                <a:latin typeface="Verdana"/>
              </a:rPr>
              <a:t>Mine on-chain.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709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D9CD8E"/>
                </a:solidFill>
                <a:latin typeface="Consolas"/>
              </a:rPr>
              <a:t>A world you can dig — and a ledger that never forgets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257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FB4FF"/>
                </a:solidFill>
                <a:latin typeface="Consolas"/>
              </a:rPr>
              <a:t>github.com/nickthelegend/hydra-minecraft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943600"/>
            <a:ext cx="2011680" cy="502920"/>
          </a:xfrm>
          <a:prstGeom prst="rect">
            <a:avLst/>
          </a:prstGeom>
          <a:noFill/>
          <a:ln w="31750">
            <a:solidFill>
              <a:srgbClr val="59A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94360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9A832"/>
                </a:solidFill>
                <a:latin typeface="Consolas"/>
              </a:rPr>
              <a:t>TEAM 0x0D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5943600"/>
            <a:ext cx="3108960" cy="502920"/>
          </a:xfrm>
          <a:prstGeom prst="rect">
            <a:avLst/>
          </a:prstGeom>
          <a:noFill/>
          <a:ln w="31750">
            <a:solidFill>
              <a:srgbClr val="7FB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594360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FB4FF"/>
                </a:solidFill>
                <a:latin typeface="Consolas"/>
              </a:rPr>
              <a:t>CARDANO HYDRA L2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5943600"/>
            <a:ext cx="3840480" cy="502920"/>
          </a:xfrm>
          <a:prstGeom prst="rect">
            <a:avLst/>
          </a:prstGeom>
          <a:noFill/>
          <a:ln w="31750">
            <a:solidFill>
              <a:srgbClr val="D94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594360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94534"/>
                </a:solidFill>
                <a:latin typeface="Consolas"/>
              </a:rPr>
              <a:t>▶ DEMO VIDEO IN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