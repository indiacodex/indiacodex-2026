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Midnight Compass — a compatibility intelligence engine for the Midnight ecosystem, not a concept. Everything in this deck is generated from the real, working repository: real screenshots, real test counts, and one real finding we're about to walk through. Compass reads actual release and dependency metadata from Midnight's GitHub repositories and computes, deterministically, which combinations of releases are known to work together.</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Midnight ships as a constellation of independently versioned components, each maintained by different teams on different release cadences. An application depends on a specific combination of compiler version, SDK version, runtime version, and wallet API all agreeing with each other. Nothing today records that agreement — so the discovery mechanism is a broken build, a failed proof generation, or a red CI run, usually after the change has already shipped.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tooling doesn't solve this because it operates one layer too low. A dependency bot compares a package.json range against a registry's latest version — it has no model of cross-repository, cross-versioning-scheme compatibility, and it has no visibility into facts that aren't in a manifest at all, like the Compact language version embedded as text inside a GitHub release name. The result: the ecosystem's compatibility knowledge lives in people's heads, not in a system.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Compass is one engine exposed through five capabilities, all computed from the same deterministic core. Every one of these is implemented and tested today, not on a roadmap. The design choice that matters most: no machine learning, no probabilistic guessing — every compatibility verdict is a reproducible conclusion computed from declared metadata and cited evidence. Ask the same question twice, get the same answer, and trace it back to why.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Clean, layered architecture. A framework-independent domain core models components, releases, and compatibility relationships with zero knowledge of Midnight. The Midnight plugin is the only piece that knows the ecosystem exists, populating the model through three explicit extension points: a source adapter, capability extractors, and a rule pack. Every consumer — CLI, Action, dashboard — calls the same application-layer use cases and renders through the same shared formatting layer. A dependency-cruiser check runs in CI and fails the build if this inward-only dependency rule is ever violated — this is enforced, not just documented.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actual terminal output of `npm run demo` — the project's offline demo. It replays a real, recorded snapshot of the Midnight ecosystem through the exact same engine that live mode uses, with zero network calls and zero GitHub API rate-limit risk. Seven real components, thirty-one real releases, twenty evaluated relationships, four real incompatibilities — computed in under two seconds. This is also the recommended way to demo Compass live, because it never depends on the room's Wi-Fi or GitHub's API being available.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not a simulated finding for the pitch. This is the actual, current state of the real Midnight GitHub organization, discovered by Compass parsing example-counter's real package.json and comparing its declared dependency range against the SDK's actual tracked release. Nobody wrote a rule specific to this pair — the declared constraint itself is evaluated directly as a compatibility signal. That's the single most concrete piece of evidence this project has: the ecosystem's own official example app disagreeing with the ecosystem's own official SDK, caught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developer has three equally real ways to ask Compass a question: the forge-midnight CLI locally, the GitHub Action automatically on every pull request, or the static dashboard for a browsable overview. None of these three duplicate any compatibility logic — they are thin translation layers over the same use cases, formatted through the same shared rendering functions. A bug in one is, structurally, a bug in all three at once, which means it gets caught fast.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numbers are real, verified by running the project's own CI pipeline: build, lint, dependency boundary check, and the full test suite with coverage. Four hundred eleven tests, ninety-five percent line coverage, zero architecture violations, twelve architecture decision records. The last bullet is the one worth dwelling on: ADR 0012 is the project documenting its own current limitation — the GitHub Action doesn't yet meet the CI latency budget the architecture originally targeted, and that's written down in the repository instead of quietly ignored. That's the strongest signal that the rest of the documentation describes what the code actually does.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concrete audiences, each already served by a shipped capability, not a persona slide for its own sake. On licensing: Apache-2.0 was chosen deliberately so this can become infrastructure the Midnight ecosystem owns collectively, the way a foundation-backed project should be licensed, rather than a single company's product. The plugin architecture is the technical mechanism behind that: the engine's contributor surface is a stable set of ports, so ecosystem coverage can grow without ever touching the core.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roadmap is taken directly from the project's own docs/roadmap.md, not invented for this deck. The sequencing principle behind it: nothing gets built on a layer that hasn't already been proven. The compatibility matrix and CI check came before the upgrade advisor and breaking-change detection; a hosted dashboard is deliberately sequenced after the CLI and Action are proven, since its entire value is derivative of the engine underneath being trustworthy. Every future item is a new caller or a new adapter behind an existing port — not a change to the engine's own contract.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Closing. The call to action is literal, not rhetorical: run npm run demo right now, on this machine, with no network connection, and you will see the same real finding this deck has been showing you. That's the whole pitch — this isn't a concept deck for something that might work, it's a working engine that already found a real problem in the real ecosystem, built on an architecture that's enforced by CI rather than promised in a README.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965960"/>
            <a:ext cx="10515600" cy="548640"/>
          </a:xfrm>
          <a:prstGeom prst="rect">
            <a:avLst/>
          </a:prstGeom>
          <a:noFill/>
        </p:spPr>
        <p:txBody>
          <a:bodyPr wrap="square" anchor="t">
            <a:spAutoFit/>
          </a:bodyPr>
          <a:lstStyle/>
          <a:p>
            <a:pPr algn="l">
              <a:lnSpc>
                <a:spcPct val="115000"/>
              </a:lnSpc>
            </a:pPr>
            <a:r>
              <a:rPr sz="2000" b="1" i="0">
                <a:solidFill>
                  <a:srgbClr val="A78BFA"/>
                </a:solidFill>
                <a:latin typeface="Arial"/>
              </a:rPr>
              <a:t>MIDNIGHT COMPASS</a:t>
            </a:r>
          </a:p>
        </p:txBody>
      </p:sp>
      <p:sp>
        <p:nvSpPr>
          <p:cNvPr id="4" name="TextBox 3"/>
          <p:cNvSpPr txBox="1"/>
          <p:nvPr/>
        </p:nvSpPr>
        <p:spPr>
          <a:xfrm>
            <a:off x="777240" y="2377440"/>
            <a:ext cx="10607040" cy="1463040"/>
          </a:xfrm>
          <a:prstGeom prst="rect">
            <a:avLst/>
          </a:prstGeom>
          <a:noFill/>
        </p:spPr>
        <p:txBody>
          <a:bodyPr wrap="square" anchor="t">
            <a:spAutoFit/>
          </a:bodyPr>
          <a:lstStyle/>
          <a:p>
            <a:pPr algn="l">
              <a:lnSpc>
                <a:spcPct val="105000"/>
              </a:lnSpc>
            </a:pPr>
            <a:r>
              <a:rPr sz="4600" b="1" i="0">
                <a:solidFill>
                  <a:srgbClr val="E6EDF3"/>
                </a:solidFill>
                <a:latin typeface="Arial"/>
              </a:rPr>
              <a:t>Ecosystem Compatibility</a:t>
            </a:r>
          </a:p>
          <a:p>
            <a:pPr algn="l">
              <a:lnSpc>
                <a:spcPct val="105000"/>
              </a:lnSpc>
            </a:pPr>
            <a:r>
              <a:rPr sz="4600" b="1" i="0">
                <a:solidFill>
                  <a:srgbClr val="E6EDF3"/>
                </a:solidFill>
                <a:latin typeface="Arial"/>
              </a:rPr>
              <a:t>Intelligence for Midnight</a:t>
            </a:r>
          </a:p>
        </p:txBody>
      </p:sp>
      <p:sp>
        <p:nvSpPr>
          <p:cNvPr id="5" name="TextBox 4"/>
          <p:cNvSpPr txBox="1"/>
          <p:nvPr/>
        </p:nvSpPr>
        <p:spPr>
          <a:xfrm>
            <a:off x="822960" y="3977639"/>
            <a:ext cx="9875520" cy="822960"/>
          </a:xfrm>
          <a:prstGeom prst="rect">
            <a:avLst/>
          </a:prstGeom>
          <a:noFill/>
        </p:spPr>
        <p:txBody>
          <a:bodyPr wrap="square" anchor="t">
            <a:spAutoFit/>
          </a:bodyPr>
          <a:lstStyle/>
          <a:p>
            <a:pPr algn="l">
              <a:lnSpc>
                <a:spcPct val="130000"/>
              </a:lnSpc>
            </a:pPr>
            <a:r>
              <a:rPr sz="1700" b="0" i="0">
                <a:solidFill>
                  <a:srgbClr val="8B949E"/>
                </a:solidFill>
                <a:latin typeface="Arial"/>
              </a:rPr>
              <a:t>Compass ingests real release data from the Midnight ecosystem and computes,</a:t>
            </a:r>
          </a:p>
          <a:p>
            <a:pPr algn="l">
              <a:lnSpc>
                <a:spcPct val="130000"/>
              </a:lnSpc>
            </a:pPr>
            <a:r>
              <a:rPr sz="1700" b="0" i="0">
                <a:solidFill>
                  <a:srgbClr val="8B949E"/>
                </a:solidFill>
                <a:latin typeface="Arial"/>
              </a:rPr>
              <a:t>deterministically, which versions actually work together — before a broken build tells you.</a:t>
            </a:r>
          </a:p>
        </p:txBody>
      </p:sp>
      <p:sp>
        <p:nvSpPr>
          <p:cNvPr id="6" name="Rounded Rectangle 5"/>
          <p:cNvSpPr/>
          <p:nvPr/>
        </p:nvSpPr>
        <p:spPr>
          <a:xfrm>
            <a:off x="822960" y="5074920"/>
            <a:ext cx="9692640" cy="868680"/>
          </a:xfrm>
          <a:prstGeom prst="roundRect">
            <a:avLst>
              <a:gd name="adj" fmla="val 6000"/>
            </a:avLst>
          </a:prstGeom>
          <a:solidFill>
            <a:srgbClr val="1F142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51560" y="5230368"/>
            <a:ext cx="9235440" cy="594360"/>
          </a:xfrm>
          <a:prstGeom prst="rect">
            <a:avLst/>
          </a:prstGeom>
          <a:noFill/>
        </p:spPr>
        <p:txBody>
          <a:bodyPr wrap="square" anchor="t">
            <a:spAutoFit/>
          </a:bodyPr>
          <a:lstStyle/>
          <a:p>
            <a:pPr algn="l">
              <a:lnSpc>
                <a:spcPct val="125000"/>
              </a:lnSpc>
            </a:pPr>
            <a:r>
              <a:rPr sz="1350" b="0" i="1">
                <a:solidFill>
                  <a:srgbClr val="EDE9FE"/>
                </a:solidFill>
                <a:latin typeface="Arial"/>
              </a:rPr>
              <a:t>Real finding, discovered automatically: Midnight's own official reference template is</a:t>
            </a:r>
          </a:p>
          <a:p>
            <a:pPr algn="l">
              <a:lnSpc>
                <a:spcPct val="125000"/>
              </a:lnSpc>
            </a:pPr>
            <a:r>
              <a:rPr sz="1350" b="0" i="1">
                <a:solidFill>
                  <a:srgbClr val="EDE9FE"/>
                </a:solidFill>
                <a:latin typeface="Arial"/>
              </a:rPr>
              <a:t>currently incompatible with the current midnight-js SDK release.</a:t>
            </a:r>
          </a:p>
        </p:txBody>
      </p:sp>
      <p:sp>
        <p:nvSpPr>
          <p:cNvPr id="8" name="TextBox 7"/>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9" name="TextBox 8"/>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THE PROBLEM</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Midnight is not one artifact.</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28800"/>
            <a:ext cx="5943600" cy="4114800"/>
          </a:xfrm>
          <a:prstGeom prst="rect">
            <a:avLst/>
          </a:prstGeom>
          <a:noFill/>
        </p:spPr>
        <p:txBody>
          <a:bodyPr wrap="square">
            <a:spAutoFit/>
          </a:bodyPr>
          <a:lstStyle/>
          <a:p>
            <a:pPr>
              <a:lnSpc>
                <a:spcPct val="120000"/>
              </a:lnSpc>
              <a:spcAft>
                <a:spcPts val="1400"/>
              </a:spcAft>
            </a:pPr>
            <a:r>
              <a:rPr sz="1700" b="1">
                <a:solidFill>
                  <a:srgbClr val="A78BFA"/>
                </a:solidFill>
                <a:latin typeface="Arial"/>
              </a:rPr>
              <a:t>―  </a:t>
            </a:r>
            <a:r>
              <a:rPr sz="1700" b="1">
                <a:solidFill>
                  <a:srgbClr val="E6EDF3"/>
                </a:solidFill>
                <a:latin typeface="Arial"/>
              </a:rPr>
              <a:t>Protocol </a:t>
            </a:r>
            <a:r>
              <a:rPr sz="1700">
                <a:solidFill>
                  <a:srgbClr val="8B949E"/>
                </a:solidFill>
                <a:latin typeface="Arial"/>
              </a:rPr>
              <a:t> the base layer everything else builds on</a:t>
            </a:r>
          </a:p>
          <a:p>
            <a:pPr>
              <a:lnSpc>
                <a:spcPct val="120000"/>
              </a:lnSpc>
              <a:spcAft>
                <a:spcPts val="1400"/>
              </a:spcAft>
            </a:pPr>
            <a:r>
              <a:rPr sz="1700" b="1">
                <a:solidFill>
                  <a:srgbClr val="A78BFA"/>
                </a:solidFill>
                <a:latin typeface="Arial"/>
              </a:rPr>
              <a:t>―  </a:t>
            </a:r>
            <a:r>
              <a:rPr sz="1700" b="1">
                <a:solidFill>
                  <a:srgbClr val="E6EDF3"/>
                </a:solidFill>
                <a:latin typeface="Arial"/>
              </a:rPr>
              <a:t>Compact compiler </a:t>
            </a:r>
            <a:r>
              <a:rPr sz="1700">
                <a:solidFill>
                  <a:srgbClr val="8B949E"/>
                </a:solidFill>
                <a:latin typeface="Arial"/>
              </a:rPr>
              <a:t> its own release cadence, its own version scheme</a:t>
            </a:r>
          </a:p>
          <a:p>
            <a:pPr>
              <a:lnSpc>
                <a:spcPct val="120000"/>
              </a:lnSpc>
              <a:spcAft>
                <a:spcPts val="1400"/>
              </a:spcAft>
            </a:pPr>
            <a:r>
              <a:rPr sz="1700" b="1">
                <a:solidFill>
                  <a:srgbClr val="A78BFA"/>
                </a:solidFill>
                <a:latin typeface="Arial"/>
              </a:rPr>
              <a:t>―  </a:t>
            </a:r>
            <a:r>
              <a:rPr sz="1700" b="1">
                <a:solidFill>
                  <a:srgbClr val="E6EDF3"/>
                </a:solidFill>
                <a:latin typeface="Arial"/>
              </a:rPr>
              <a:t>SDK packages </a:t>
            </a:r>
            <a:r>
              <a:rPr sz="1700">
                <a:solidFill>
                  <a:srgbClr val="8B949E"/>
                </a:solidFill>
                <a:latin typeface="Arial"/>
              </a:rPr>
              <a:t> midnight-js and friends, versioned independently</a:t>
            </a:r>
          </a:p>
          <a:p>
            <a:pPr>
              <a:lnSpc>
                <a:spcPct val="120000"/>
              </a:lnSpc>
              <a:spcAft>
                <a:spcPts val="1400"/>
              </a:spcAft>
            </a:pPr>
            <a:r>
              <a:rPr sz="1700" b="1">
                <a:solidFill>
                  <a:srgbClr val="A78BFA"/>
                </a:solidFill>
                <a:latin typeface="Arial"/>
              </a:rPr>
              <a:t>―  </a:t>
            </a:r>
            <a:r>
              <a:rPr sz="1700" b="1">
                <a:solidFill>
                  <a:srgbClr val="E6EDF3"/>
                </a:solidFill>
                <a:latin typeface="Arial"/>
              </a:rPr>
              <a:t>Node &amp; wallet </a:t>
            </a:r>
            <a:r>
              <a:rPr sz="1700">
                <a:solidFill>
                  <a:srgbClr val="8B949E"/>
                </a:solidFill>
                <a:latin typeface="Arial"/>
              </a:rPr>
              <a:t> runtime and API surface, evolving on their own schedule</a:t>
            </a:r>
          </a:p>
          <a:p>
            <a:pPr>
              <a:lnSpc>
                <a:spcPct val="120000"/>
              </a:lnSpc>
              <a:spcAft>
                <a:spcPts val="1400"/>
              </a:spcAft>
            </a:pPr>
            <a:r>
              <a:rPr sz="1700" b="1">
                <a:solidFill>
                  <a:srgbClr val="A78BFA"/>
                </a:solidFill>
                <a:latin typeface="Arial"/>
              </a:rPr>
              <a:t>―  </a:t>
            </a:r>
            <a:r>
              <a:rPr sz="1700" b="1">
                <a:solidFill>
                  <a:srgbClr val="E6EDF3"/>
                </a:solidFill>
                <a:latin typeface="Arial"/>
              </a:rPr>
              <a:t>Reference templates </a:t>
            </a:r>
            <a:r>
              <a:rPr sz="1700">
                <a:solidFill>
                  <a:srgbClr val="8B949E"/>
                </a:solidFill>
                <a:latin typeface="Arial"/>
              </a:rPr>
              <a:t> example apps every new developer starts from</a:t>
            </a:r>
          </a:p>
        </p:txBody>
      </p:sp>
      <p:sp>
        <p:nvSpPr>
          <p:cNvPr id="7" name="Rounded Rectangle 6"/>
          <p:cNvSpPr/>
          <p:nvPr/>
        </p:nvSpPr>
        <p:spPr>
          <a:xfrm>
            <a:off x="7040880" y="1828800"/>
            <a:ext cx="4480560" cy="3291840"/>
          </a:xfrm>
          <a:prstGeom prst="roundRect">
            <a:avLst>
              <a:gd name="adj" fmla="val 6000"/>
            </a:avLst>
          </a:prstGeom>
          <a:solidFill>
            <a:srgbClr val="1A1010"/>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0" y="2103120"/>
            <a:ext cx="3931920" cy="822960"/>
          </a:xfrm>
          <a:prstGeom prst="rect">
            <a:avLst/>
          </a:prstGeom>
          <a:noFill/>
        </p:spPr>
        <p:txBody>
          <a:bodyPr wrap="square" anchor="t">
            <a:spAutoFit/>
          </a:bodyPr>
          <a:lstStyle/>
          <a:p>
            <a:pPr algn="l">
              <a:lnSpc>
                <a:spcPct val="115000"/>
              </a:lnSpc>
            </a:pPr>
            <a:r>
              <a:rPr sz="2000" b="1" i="0">
                <a:solidFill>
                  <a:srgbClr val="F87171"/>
                </a:solidFill>
                <a:latin typeface="Arial"/>
              </a:rPr>
              <a:t>Nothing today records</a:t>
            </a:r>
          </a:p>
        </p:txBody>
      </p:sp>
      <p:sp>
        <p:nvSpPr>
          <p:cNvPr id="9" name="TextBox 8"/>
          <p:cNvSpPr txBox="1"/>
          <p:nvPr/>
        </p:nvSpPr>
        <p:spPr>
          <a:xfrm>
            <a:off x="7315200" y="2743200"/>
            <a:ext cx="3931920" cy="2103120"/>
          </a:xfrm>
          <a:prstGeom prst="rect">
            <a:avLst/>
          </a:prstGeom>
          <a:noFill/>
        </p:spPr>
        <p:txBody>
          <a:bodyPr wrap="square" anchor="t">
            <a:spAutoFit/>
          </a:bodyPr>
          <a:lstStyle/>
          <a:p>
            <a:pPr algn="l">
              <a:lnSpc>
                <a:spcPct val="130000"/>
              </a:lnSpc>
            </a:pPr>
            <a:r>
              <a:rPr sz="1550" b="0" i="0">
                <a:solidFill>
                  <a:srgbClr val="E6EDF3"/>
                </a:solidFill>
                <a:latin typeface="Arial"/>
              </a:rPr>
              <a:t>which combinations of these independently-released</a:t>
            </a:r>
          </a:p>
          <a:p>
            <a:pPr algn="l">
              <a:lnSpc>
                <a:spcPct val="130000"/>
              </a:lnSpc>
            </a:pPr>
            <a:r>
              <a:rPr sz="1550" b="0" i="0">
                <a:solidFill>
                  <a:srgbClr val="E6EDF3"/>
                </a:solidFill>
                <a:latin typeface="Arial"/>
              </a:rPr>
              <a:t>components actually work together.</a:t>
            </a:r>
          </a:p>
          <a:p>
            <a:pPr algn="l">
              <a:lnSpc>
                <a:spcPct val="130000"/>
              </a:lnSpc>
            </a:pPr>
            <a:r>
              <a:rPr sz="1550" b="0" i="0">
                <a:solidFill>
                  <a:srgbClr val="E6EDF3"/>
                </a:solidFill>
                <a:latin typeface="Arial"/>
              </a:rPr>
              <a:t/>
            </a:r>
          </a:p>
          <a:p>
            <a:pPr algn="l">
              <a:lnSpc>
                <a:spcPct val="130000"/>
              </a:lnSpc>
            </a:pPr>
            <a:r>
              <a:rPr sz="1550" b="0" i="0">
                <a:solidFill>
                  <a:srgbClr val="E6EDF3"/>
                </a:solidFill>
                <a:latin typeface="Arial"/>
              </a:rPr>
              <a:t>Teams find out when a build fails — usually well</a:t>
            </a:r>
          </a:p>
          <a:p>
            <a:pPr algn="l">
              <a:lnSpc>
                <a:spcPct val="130000"/>
              </a:lnSpc>
            </a:pPr>
            <a:r>
              <a:rPr sz="1550" b="0" i="0">
                <a:solidFill>
                  <a:srgbClr val="E6EDF3"/>
                </a:solidFill>
                <a:latin typeface="Arial"/>
              </a:rPr>
              <a:t>after the change has already shipped.</a:t>
            </a:r>
          </a:p>
        </p:txBody>
      </p:sp>
      <p:sp>
        <p:nvSpPr>
          <p:cNvPr id="10" name="TextBox 9"/>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1" name="TextBox 10"/>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WHY MIDNIGHT NEEDS THIS</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The pain is already real — and already happening.</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698480" cy="548640"/>
          </a:xfrm>
          <a:prstGeom prst="rect">
            <a:avLst/>
          </a:prstGeom>
          <a:noFill/>
        </p:spPr>
        <p:txBody>
          <a:bodyPr wrap="square" anchor="t">
            <a:spAutoFit/>
          </a:bodyPr>
          <a:lstStyle/>
          <a:p>
            <a:pPr algn="l">
              <a:lnSpc>
                <a:spcPct val="115000"/>
              </a:lnSpc>
            </a:pPr>
            <a:r>
              <a:rPr sz="1600" b="1" i="0">
                <a:solidFill>
                  <a:srgbClr val="FB923C"/>
                </a:solidFill>
                <a:latin typeface="Arial"/>
              </a:rPr>
              <a:t>TODAY: manual and tribal</a:t>
            </a:r>
          </a:p>
        </p:txBody>
      </p:sp>
      <p:sp>
        <p:nvSpPr>
          <p:cNvPr id="7" name="TextBox 6"/>
          <p:cNvSpPr txBox="1"/>
          <p:nvPr/>
        </p:nvSpPr>
        <p:spPr>
          <a:xfrm>
            <a:off x="640080" y="2331720"/>
            <a:ext cx="5120640" cy="3200400"/>
          </a:xfrm>
          <a:prstGeom prst="rect">
            <a:avLst/>
          </a:prstGeom>
          <a:noFill/>
        </p:spPr>
        <p:txBody>
          <a:bodyPr wrap="square">
            <a:spAutoFit/>
          </a:bodyPr>
          <a:lstStyle/>
          <a:p>
            <a:pPr>
              <a:lnSpc>
                <a:spcPct val="120000"/>
              </a:lnSpc>
              <a:spcAft>
                <a:spcPts val="1200"/>
              </a:spcAft>
            </a:pPr>
            <a:r>
              <a:rPr sz="1550" b="1">
                <a:solidFill>
                  <a:srgbClr val="A78BFA"/>
                </a:solidFill>
                <a:latin typeface="Arial"/>
              </a:rPr>
              <a:t>―  </a:t>
            </a:r>
            <a:r>
              <a:rPr sz="1550">
                <a:solidFill>
                  <a:srgbClr val="E6EDF3"/>
                </a:solidFill>
                <a:latin typeface="Arial"/>
              </a:rPr>
              <a:t>Changelogs read individually, by hand</a:t>
            </a:r>
          </a:p>
          <a:p>
            <a:pPr>
              <a:lnSpc>
                <a:spcPct val="120000"/>
              </a:lnSpc>
              <a:spcAft>
                <a:spcPts val="1200"/>
              </a:spcAft>
            </a:pPr>
            <a:r>
              <a:rPr sz="1550" b="1">
                <a:solidFill>
                  <a:srgbClr val="A78BFA"/>
                </a:solidFill>
                <a:latin typeface="Arial"/>
              </a:rPr>
              <a:t>―  </a:t>
            </a:r>
            <a:r>
              <a:rPr sz="1550">
                <a:solidFill>
                  <a:srgbClr val="E6EDF3"/>
                </a:solidFill>
                <a:latin typeface="Arial"/>
              </a:rPr>
              <a:t>Versions pinned by trial and error</a:t>
            </a:r>
          </a:p>
          <a:p>
            <a:pPr>
              <a:lnSpc>
                <a:spcPct val="120000"/>
              </a:lnSpc>
              <a:spcAft>
                <a:spcPts val="1200"/>
              </a:spcAft>
            </a:pPr>
            <a:r>
              <a:rPr sz="1550" b="1">
                <a:solidFill>
                  <a:srgbClr val="A78BFA"/>
                </a:solidFill>
                <a:latin typeface="Arial"/>
              </a:rPr>
              <a:t>―  </a:t>
            </a:r>
            <a:r>
              <a:rPr sz="1550">
                <a:solidFill>
                  <a:srgbClr val="E6EDF3"/>
                </a:solidFill>
                <a:latin typeface="Arial"/>
              </a:rPr>
              <a:t>Breaking changes discovered empirically</a:t>
            </a:r>
          </a:p>
          <a:p>
            <a:pPr>
              <a:lnSpc>
                <a:spcPct val="120000"/>
              </a:lnSpc>
              <a:spcAft>
                <a:spcPts val="1200"/>
              </a:spcAft>
            </a:pPr>
            <a:r>
              <a:rPr sz="1550" b="1">
                <a:solidFill>
                  <a:srgbClr val="A78BFA"/>
                </a:solidFill>
                <a:latin typeface="Arial"/>
              </a:rPr>
              <a:t>―  </a:t>
            </a:r>
            <a:r>
              <a:rPr sz="1550">
                <a:solidFill>
                  <a:srgbClr val="E6EDF3"/>
                </a:solidFill>
                <a:latin typeface="Arial"/>
              </a:rPr>
              <a:t>Tribal knowledge held by core maintainers, repeated in support channels</a:t>
            </a:r>
          </a:p>
        </p:txBody>
      </p:sp>
      <p:sp>
        <p:nvSpPr>
          <p:cNvPr id="8" name="TextBox 7"/>
          <p:cNvSpPr txBox="1"/>
          <p:nvPr/>
        </p:nvSpPr>
        <p:spPr>
          <a:xfrm>
            <a:off x="6126480" y="1874519"/>
            <a:ext cx="5394960" cy="548640"/>
          </a:xfrm>
          <a:prstGeom prst="rect">
            <a:avLst/>
          </a:prstGeom>
          <a:noFill/>
        </p:spPr>
        <p:txBody>
          <a:bodyPr wrap="square" anchor="t">
            <a:spAutoFit/>
          </a:bodyPr>
          <a:lstStyle/>
          <a:p>
            <a:pPr algn="l">
              <a:lnSpc>
                <a:spcPct val="115000"/>
              </a:lnSpc>
            </a:pPr>
            <a:r>
              <a:rPr sz="1600" b="1" i="0">
                <a:solidFill>
                  <a:srgbClr val="F87171"/>
                </a:solidFill>
                <a:latin typeface="Arial"/>
              </a:rPr>
              <a:t>THE COST</a:t>
            </a:r>
          </a:p>
        </p:txBody>
      </p:sp>
      <p:sp>
        <p:nvSpPr>
          <p:cNvPr id="9" name="TextBox 8"/>
          <p:cNvSpPr txBox="1"/>
          <p:nvPr/>
        </p:nvSpPr>
        <p:spPr>
          <a:xfrm>
            <a:off x="6126480" y="2331720"/>
            <a:ext cx="5394960" cy="3200400"/>
          </a:xfrm>
          <a:prstGeom prst="rect">
            <a:avLst/>
          </a:prstGeom>
          <a:noFill/>
        </p:spPr>
        <p:txBody>
          <a:bodyPr wrap="square">
            <a:spAutoFit/>
          </a:bodyPr>
          <a:lstStyle/>
          <a:p>
            <a:pPr>
              <a:lnSpc>
                <a:spcPct val="120000"/>
              </a:lnSpc>
              <a:spcAft>
                <a:spcPts val="1200"/>
              </a:spcAft>
            </a:pPr>
            <a:r>
              <a:rPr sz="1550" b="1">
                <a:solidFill>
                  <a:srgbClr val="F87171"/>
                </a:solidFill>
                <a:latin typeface="Arial"/>
              </a:rPr>
              <a:t>―  </a:t>
            </a:r>
            <a:r>
              <a:rPr sz="1550">
                <a:solidFill>
                  <a:srgbClr val="E6EDF3"/>
                </a:solidFill>
                <a:latin typeface="Arial"/>
              </a:rPr>
              <a:t>New developers hit friction in their first hour</a:t>
            </a:r>
          </a:p>
          <a:p>
            <a:pPr>
              <a:lnSpc>
                <a:spcPct val="120000"/>
              </a:lnSpc>
              <a:spcAft>
                <a:spcPts val="1200"/>
              </a:spcAft>
            </a:pPr>
            <a:r>
              <a:rPr sz="1550" b="1">
                <a:solidFill>
                  <a:srgbClr val="F87171"/>
                </a:solidFill>
                <a:latin typeface="Arial"/>
              </a:rPr>
              <a:t>―  </a:t>
            </a:r>
            <a:r>
              <a:rPr sz="1550">
                <a:solidFill>
                  <a:srgbClr val="E6EDF3"/>
                </a:solidFill>
                <a:latin typeface="Arial"/>
              </a:rPr>
              <a:t>Reference templates silently go stale</a:t>
            </a:r>
          </a:p>
          <a:p>
            <a:pPr>
              <a:lnSpc>
                <a:spcPct val="120000"/>
              </a:lnSpc>
              <a:spcAft>
                <a:spcPts val="1200"/>
              </a:spcAft>
            </a:pPr>
            <a:r>
              <a:rPr sz="1550" b="1">
                <a:solidFill>
                  <a:srgbClr val="F87171"/>
                </a:solidFill>
                <a:latin typeface="Arial"/>
              </a:rPr>
              <a:t>―  </a:t>
            </a:r>
            <a:r>
              <a:rPr sz="1550">
                <a:solidFill>
                  <a:srgbClr val="E6EDF3"/>
                </a:solidFill>
                <a:latin typeface="Arial"/>
              </a:rPr>
              <a:t>Maintainers ship breaking changes without knowing who it affects</a:t>
            </a:r>
          </a:p>
          <a:p>
            <a:pPr>
              <a:lnSpc>
                <a:spcPct val="120000"/>
              </a:lnSpc>
              <a:spcAft>
                <a:spcPts val="1200"/>
              </a:spcAft>
            </a:pPr>
            <a:r>
              <a:rPr sz="1550" b="1">
                <a:solidFill>
                  <a:srgbClr val="F87171"/>
                </a:solidFill>
                <a:latin typeface="Arial"/>
              </a:rPr>
              <a:t>―  </a:t>
            </a:r>
            <a:r>
              <a:rPr sz="1550">
                <a:solidFill>
                  <a:srgbClr val="E6EDF3"/>
                </a:solidFill>
                <a:latin typeface="Arial"/>
              </a:rPr>
              <a:t>Manual coordination is a cost that grows faster than the ecosystem</a:t>
            </a:r>
          </a:p>
        </p:txBody>
      </p:sp>
      <p:sp>
        <p:nvSpPr>
          <p:cNvPr id="10" name="Rounded Rectangle 9"/>
          <p:cNvSpPr/>
          <p:nvPr/>
        </p:nvSpPr>
        <p:spPr>
          <a:xfrm>
            <a:off x="640080" y="5532120"/>
            <a:ext cx="10881360" cy="777240"/>
          </a:xfrm>
          <a:prstGeom prst="roundRect">
            <a:avLst>
              <a:gd name="adj" fmla="val 6000"/>
            </a:avLst>
          </a:prstGeom>
          <a:solidFill>
            <a:srgbClr val="141A22"/>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14400" y="5687568"/>
            <a:ext cx="10332720" cy="502920"/>
          </a:xfrm>
          <a:prstGeom prst="rect">
            <a:avLst/>
          </a:prstGeom>
          <a:noFill/>
        </p:spPr>
        <p:txBody>
          <a:bodyPr wrap="square" anchor="t">
            <a:spAutoFit/>
          </a:bodyPr>
          <a:lstStyle/>
          <a:p>
            <a:pPr algn="l">
              <a:lnSpc>
                <a:spcPct val="115000"/>
              </a:lnSpc>
            </a:pPr>
            <a:r>
              <a:rPr sz="1450" b="0" i="1">
                <a:solidFill>
                  <a:srgbClr val="60A5FA"/>
                </a:solidFill>
                <a:latin typeface="Arial"/>
              </a:rPr>
              <a:t>This cost is paid disproportionately by the newest, least-connected teams — exactly the ones an ecosystem needs to retain.</a:t>
            </a:r>
          </a:p>
        </p:txBody>
      </p:sp>
      <p:sp>
        <p:nvSpPr>
          <p:cNvPr id="12" name="TextBox 11"/>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3" name="TextBox 12"/>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OUR SOLUTION</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Compass: a deterministic compatibility engine</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10881360" cy="3931920"/>
          </a:xfrm>
          <a:prstGeom prst="rect">
            <a:avLst/>
          </a:prstGeom>
          <a:noFill/>
        </p:spPr>
        <p:txBody>
          <a:bodyPr wrap="square">
            <a:spAutoFit/>
          </a:bodyPr>
          <a:lstStyle/>
          <a:p>
            <a:pPr>
              <a:lnSpc>
                <a:spcPct val="120000"/>
              </a:lnSpc>
              <a:spcAft>
                <a:spcPts val="1600"/>
              </a:spcAft>
            </a:pPr>
            <a:r>
              <a:rPr sz="1800" b="1">
                <a:solidFill>
                  <a:srgbClr val="A78BFA"/>
                </a:solidFill>
                <a:latin typeface="Arial"/>
              </a:rPr>
              <a:t>―  </a:t>
            </a:r>
            <a:r>
              <a:rPr sz="1800" b="1">
                <a:solidFill>
                  <a:srgbClr val="E6EDF3"/>
                </a:solidFill>
                <a:latin typeface="Arial"/>
              </a:rPr>
              <a:t>Compatibility Matrix </a:t>
            </a:r>
            <a:r>
              <a:rPr sz="1800">
                <a:solidFill>
                  <a:srgbClr val="8B949E"/>
                </a:solidFill>
                <a:latin typeface="Arial"/>
              </a:rPr>
              <a:t> which releases are known to work together, computed from real data</a:t>
            </a:r>
          </a:p>
          <a:p>
            <a:pPr>
              <a:lnSpc>
                <a:spcPct val="120000"/>
              </a:lnSpc>
              <a:spcAft>
                <a:spcPts val="1600"/>
              </a:spcAft>
            </a:pPr>
            <a:r>
              <a:rPr sz="1800" b="1">
                <a:solidFill>
                  <a:srgbClr val="A78BFA"/>
                </a:solidFill>
                <a:latin typeface="Arial"/>
              </a:rPr>
              <a:t>―  </a:t>
            </a:r>
            <a:r>
              <a:rPr sz="1800" b="1">
                <a:solidFill>
                  <a:srgbClr val="E6EDF3"/>
                </a:solidFill>
                <a:latin typeface="Arial"/>
              </a:rPr>
              <a:t>Upgrade Advisor </a:t>
            </a:r>
            <a:r>
              <a:rPr sz="1800">
                <a:solidFill>
                  <a:srgbClr val="8B949E"/>
                </a:solidFill>
                <a:latin typeface="Arial"/>
              </a:rPr>
              <a:t> is a specific upgrade safe, and who else in the ecosystem does it affect</a:t>
            </a:r>
          </a:p>
          <a:p>
            <a:pPr>
              <a:lnSpc>
                <a:spcPct val="120000"/>
              </a:lnSpc>
              <a:spcAft>
                <a:spcPts val="1600"/>
              </a:spcAft>
            </a:pPr>
            <a:r>
              <a:rPr sz="1800" b="1">
                <a:solidFill>
                  <a:srgbClr val="A78BFA"/>
                </a:solidFill>
                <a:latin typeface="Arial"/>
              </a:rPr>
              <a:t>―  </a:t>
            </a:r>
            <a:r>
              <a:rPr sz="1800" b="1">
                <a:solidFill>
                  <a:srgbClr val="E6EDF3"/>
                </a:solidFill>
                <a:latin typeface="Arial"/>
              </a:rPr>
              <a:t>Breaking Change Analyzer </a:t>
            </a:r>
            <a:r>
              <a:rPr sz="1800">
                <a:solidFill>
                  <a:srgbClr val="8B949E"/>
                </a:solidFill>
                <a:latin typeface="Arial"/>
              </a:rPr>
              <a:t> what changed between two points in time, and who depends on what broke</a:t>
            </a:r>
          </a:p>
          <a:p>
            <a:pPr>
              <a:lnSpc>
                <a:spcPct val="120000"/>
              </a:lnSpc>
              <a:spcAft>
                <a:spcPts val="1600"/>
              </a:spcAft>
            </a:pPr>
            <a:r>
              <a:rPr sz="1800" b="1">
                <a:solidFill>
                  <a:srgbClr val="A78BFA"/>
                </a:solidFill>
                <a:latin typeface="Arial"/>
              </a:rPr>
              <a:t>―  </a:t>
            </a:r>
            <a:r>
              <a:rPr sz="1800" b="1">
                <a:solidFill>
                  <a:srgbClr val="E6EDF3"/>
                </a:solidFill>
                <a:latin typeface="Arial"/>
              </a:rPr>
              <a:t>GitHub Action </a:t>
            </a:r>
            <a:r>
              <a:rPr sz="1800">
                <a:solidFill>
                  <a:srgbClr val="8B949E"/>
                </a:solidFill>
                <a:latin typeface="Arial"/>
              </a:rPr>
              <a:t> posts the same finding as a pull-request comment, before merge</a:t>
            </a:r>
          </a:p>
          <a:p>
            <a:pPr>
              <a:lnSpc>
                <a:spcPct val="120000"/>
              </a:lnSpc>
              <a:spcAft>
                <a:spcPts val="1600"/>
              </a:spcAft>
            </a:pPr>
            <a:r>
              <a:rPr sz="1800" b="1">
                <a:solidFill>
                  <a:srgbClr val="A78BFA"/>
                </a:solidFill>
                <a:latin typeface="Arial"/>
              </a:rPr>
              <a:t>―  </a:t>
            </a:r>
            <a:r>
              <a:rPr sz="1800" b="1">
                <a:solidFill>
                  <a:srgbClr val="E6EDF3"/>
                </a:solidFill>
                <a:latin typeface="Arial"/>
              </a:rPr>
              <a:t>Static Dashboard &amp; CLI </a:t>
            </a:r>
            <a:r>
              <a:rPr sz="1800">
                <a:solidFill>
                  <a:srgbClr val="8B949E"/>
                </a:solidFill>
                <a:latin typeface="Arial"/>
              </a:rPr>
              <a:t> the same engine, two more ways to ask it a question</a:t>
            </a:r>
          </a:p>
        </p:txBody>
      </p:sp>
      <p:sp>
        <p:nvSpPr>
          <p:cNvPr id="7" name="Rounded Rectangle 6"/>
          <p:cNvSpPr/>
          <p:nvPr/>
        </p:nvSpPr>
        <p:spPr>
          <a:xfrm>
            <a:off x="640080" y="5532120"/>
            <a:ext cx="10881360" cy="777240"/>
          </a:xfrm>
          <a:prstGeom prst="roundRect">
            <a:avLst>
              <a:gd name="adj" fmla="val 6000"/>
            </a:avLst>
          </a:prstGeom>
          <a:solidFill>
            <a:srgbClr val="14221B"/>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687568"/>
            <a:ext cx="10332720" cy="502920"/>
          </a:xfrm>
          <a:prstGeom prst="rect">
            <a:avLst/>
          </a:prstGeom>
          <a:noFill/>
        </p:spPr>
        <p:txBody>
          <a:bodyPr wrap="square" anchor="t">
            <a:spAutoFit/>
          </a:bodyPr>
          <a:lstStyle/>
          <a:p>
            <a:pPr algn="l">
              <a:lnSpc>
                <a:spcPct val="115000"/>
              </a:lnSpc>
            </a:pPr>
            <a:r>
              <a:rPr sz="1500" b="1" i="0">
                <a:solidFill>
                  <a:srgbClr val="34D399"/>
                </a:solidFill>
                <a:latin typeface="Arial"/>
              </a:rPr>
              <a:t>No AI. No heuristics. No guessing. Every verdict cites the specific evidence it was derived from.</a:t>
            </a:r>
          </a:p>
        </p:txBody>
      </p:sp>
      <p:sp>
        <p:nvSpPr>
          <p:cNvPr id="9" name="TextBox 8"/>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0" name="TextBox 9"/>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ARCHITECTURE</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One engine. Three consumers. Zero duplicated logic.</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rchitecture-slide.png"/>
          <p:cNvPicPr>
            <a:picLocks noChangeAspect="1"/>
          </p:cNvPicPr>
          <p:nvPr/>
        </p:nvPicPr>
        <p:blipFill>
          <a:blip r:embed="rId2"/>
          <a:stretch>
            <a:fillRect/>
          </a:stretch>
        </p:blipFill>
        <p:spPr>
          <a:xfrm>
            <a:off x="822960" y="1965960"/>
            <a:ext cx="10515600" cy="2917502"/>
          </a:xfrm>
          <a:prstGeom prst="rect">
            <a:avLst/>
          </a:prstGeom>
          <a:ln w="12700">
            <a:solidFill>
              <a:srgbClr val="30363D"/>
            </a:solidFill>
          </a:ln>
        </p:spPr>
      </p:pic>
      <p:sp>
        <p:nvSpPr>
          <p:cNvPr id="7" name="TextBox 6"/>
          <p:cNvSpPr txBox="1"/>
          <p:nvPr/>
        </p:nvSpPr>
        <p:spPr>
          <a:xfrm>
            <a:off x="822960" y="5074920"/>
            <a:ext cx="10515600" cy="1097280"/>
          </a:xfrm>
          <a:prstGeom prst="rect">
            <a:avLst/>
          </a:prstGeom>
          <a:noFill/>
        </p:spPr>
        <p:txBody>
          <a:bodyPr wrap="square" anchor="t">
            <a:spAutoFit/>
          </a:bodyPr>
          <a:lstStyle/>
          <a:p>
            <a:pPr algn="l">
              <a:lnSpc>
                <a:spcPct val="130000"/>
              </a:lnSpc>
            </a:pPr>
            <a:r>
              <a:rPr sz="1500" b="0" i="0">
                <a:solidFill>
                  <a:srgbClr val="8B949E"/>
                </a:solidFill>
                <a:latin typeface="Arial"/>
              </a:rPr>
              <a:t>The engine has never heard of Midnight — every Midnight-specific fact enters through one plugin.</a:t>
            </a:r>
          </a:p>
          <a:p>
            <a:pPr algn="l">
              <a:lnSpc>
                <a:spcPct val="130000"/>
              </a:lnSpc>
            </a:pPr>
            <a:r>
              <a:rPr sz="1500" b="0" i="0">
                <a:solidFill>
                  <a:srgbClr val="8B949E"/>
                </a:solidFill>
                <a:latin typeface="Arial"/>
              </a:rPr>
              <a:t>The CLI, GitHub Action, and dashboard all call the same use cases and render through the same layer,</a:t>
            </a:r>
          </a:p>
          <a:p>
            <a:pPr algn="l">
              <a:lnSpc>
                <a:spcPct val="130000"/>
              </a:lnSpc>
            </a:pPr>
            <a:r>
              <a:rPr sz="1500" b="0" i="0">
                <a:solidFill>
                  <a:srgbClr val="8B949E"/>
                </a:solidFill>
                <a:latin typeface="Arial"/>
              </a:rPr>
              <a:t>so they cannot disagree about a finding. This boundary is enforced in CI, not left to convention.</a:t>
            </a:r>
          </a:p>
        </p:txBody>
      </p:sp>
      <p:sp>
        <p:nvSpPr>
          <p:cNvPr id="8" name="TextBox 7"/>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9" name="TextBox 8"/>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LIVE COMPATIBILITY ENGINE</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Runs anywhere. Zero network. Real data.</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erminal-demo.png"/>
          <p:cNvPicPr>
            <a:picLocks noChangeAspect="1"/>
          </p:cNvPicPr>
          <p:nvPr/>
        </p:nvPicPr>
        <p:blipFill>
          <a:blip r:embed="rId2"/>
          <a:stretch>
            <a:fillRect/>
          </a:stretch>
        </p:blipFill>
        <p:spPr>
          <a:xfrm>
            <a:off x="3447288" y="1874519"/>
            <a:ext cx="5300175" cy="4434840"/>
          </a:xfrm>
          <a:prstGeom prst="rect">
            <a:avLst/>
          </a:prstGeom>
          <a:ln w="12700">
            <a:solidFill>
              <a:srgbClr val="30363D"/>
            </a:solidFill>
          </a:ln>
        </p:spPr>
      </p:pic>
      <p:sp>
        <p:nvSpPr>
          <p:cNvPr id="7" name="TextBox 6"/>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8" name="TextBox 7"/>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REAL FINDINGS</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2800" b="1" i="0">
                <a:solidFill>
                  <a:srgbClr val="E6EDF3"/>
                </a:solidFill>
                <a:latin typeface="Arial"/>
              </a:rPr>
              <a:t>example-counter is broken against midnight-js.</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dashboard-hero.png"/>
          <p:cNvPicPr>
            <a:picLocks noChangeAspect="1"/>
          </p:cNvPicPr>
          <p:nvPr/>
        </p:nvPicPr>
        <p:blipFill>
          <a:blip r:embed="rId2"/>
          <a:stretch>
            <a:fillRect/>
          </a:stretch>
        </p:blipFill>
        <p:spPr>
          <a:xfrm>
            <a:off x="640080" y="1874519"/>
            <a:ext cx="6720840" cy="4032504"/>
          </a:xfrm>
          <a:prstGeom prst="rect">
            <a:avLst/>
          </a:prstGeom>
          <a:ln w="12700">
            <a:solidFill>
              <a:srgbClr val="30363D"/>
            </a:solidFill>
          </a:ln>
        </p:spPr>
      </p:pic>
      <p:sp>
        <p:nvSpPr>
          <p:cNvPr id="7" name="TextBox 6"/>
          <p:cNvSpPr txBox="1"/>
          <p:nvPr/>
        </p:nvSpPr>
        <p:spPr>
          <a:xfrm>
            <a:off x="7589520" y="1965960"/>
            <a:ext cx="4023360" cy="914400"/>
          </a:xfrm>
          <a:prstGeom prst="rect">
            <a:avLst/>
          </a:prstGeom>
          <a:noFill/>
        </p:spPr>
        <p:txBody>
          <a:bodyPr wrap="square" anchor="t">
            <a:spAutoFit/>
          </a:bodyPr>
          <a:lstStyle/>
          <a:p>
            <a:pPr algn="l">
              <a:lnSpc>
                <a:spcPct val="125000"/>
              </a:lnSpc>
            </a:pPr>
            <a:r>
              <a:rPr sz="1500" b="0" i="0">
                <a:solidFill>
                  <a:srgbClr val="8B949E"/>
                </a:solidFill>
                <a:latin typeface="Arial"/>
              </a:rPr>
              <a:t>Midnight's own official reference</a:t>
            </a:r>
          </a:p>
          <a:p>
            <a:pPr algn="l">
              <a:lnSpc>
                <a:spcPct val="125000"/>
              </a:lnSpc>
            </a:pPr>
            <a:r>
              <a:rPr sz="1500" b="0" i="0">
                <a:solidFill>
                  <a:srgbClr val="8B949E"/>
                </a:solidFill>
                <a:latin typeface="Arial"/>
              </a:rPr>
              <a:t>template declares:</a:t>
            </a:r>
          </a:p>
        </p:txBody>
      </p:sp>
      <p:sp>
        <p:nvSpPr>
          <p:cNvPr id="8" name="Rounded Rectangle 7"/>
          <p:cNvSpPr/>
          <p:nvPr/>
        </p:nvSpPr>
        <p:spPr>
          <a:xfrm>
            <a:off x="7589520" y="2788920"/>
            <a:ext cx="3977639" cy="594360"/>
          </a:xfrm>
          <a:prstGeom prst="roundRect">
            <a:avLst>
              <a:gd name="adj" fmla="val 6000"/>
            </a:avLst>
          </a:prstGeom>
          <a:solidFill>
            <a:srgbClr val="1A1010"/>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26679" y="2898648"/>
            <a:ext cx="3749039" cy="365760"/>
          </a:xfrm>
          <a:prstGeom prst="rect">
            <a:avLst/>
          </a:prstGeom>
          <a:noFill/>
        </p:spPr>
        <p:txBody>
          <a:bodyPr wrap="square" anchor="t">
            <a:spAutoFit/>
          </a:bodyPr>
          <a:lstStyle/>
          <a:p>
            <a:pPr algn="l">
              <a:lnSpc>
                <a:spcPct val="115000"/>
              </a:lnSpc>
            </a:pPr>
            <a:r>
              <a:rPr sz="1300" b="1" i="0">
                <a:solidFill>
                  <a:srgbClr val="F87171"/>
                </a:solidFill>
                <a:latin typeface="Consolas"/>
              </a:rPr>
              <a:t>@midnight-ntwrk/midnight-js: ^4.0.4</a:t>
            </a:r>
          </a:p>
        </p:txBody>
      </p:sp>
      <p:sp>
        <p:nvSpPr>
          <p:cNvPr id="10" name="TextBox 9"/>
          <p:cNvSpPr txBox="1"/>
          <p:nvPr/>
        </p:nvSpPr>
        <p:spPr>
          <a:xfrm>
            <a:off x="7589520" y="3520440"/>
            <a:ext cx="4023360" cy="457200"/>
          </a:xfrm>
          <a:prstGeom prst="rect">
            <a:avLst/>
          </a:prstGeom>
          <a:noFill/>
        </p:spPr>
        <p:txBody>
          <a:bodyPr wrap="square" anchor="t">
            <a:spAutoFit/>
          </a:bodyPr>
          <a:lstStyle/>
          <a:p>
            <a:pPr algn="l">
              <a:lnSpc>
                <a:spcPct val="115000"/>
              </a:lnSpc>
            </a:pPr>
            <a:r>
              <a:rPr sz="1500" b="0" i="0">
                <a:solidFill>
                  <a:srgbClr val="8B949E"/>
                </a:solidFill>
                <a:latin typeface="Arial"/>
              </a:rPr>
              <a:t>Current tracked SDK release:</a:t>
            </a:r>
          </a:p>
        </p:txBody>
      </p:sp>
      <p:sp>
        <p:nvSpPr>
          <p:cNvPr id="11" name="Rounded Rectangle 10"/>
          <p:cNvSpPr/>
          <p:nvPr/>
        </p:nvSpPr>
        <p:spPr>
          <a:xfrm>
            <a:off x="7589520" y="3931920"/>
            <a:ext cx="3977639" cy="594360"/>
          </a:xfrm>
          <a:prstGeom prst="roundRect">
            <a:avLst>
              <a:gd name="adj" fmla="val 6000"/>
            </a:avLst>
          </a:prstGeom>
          <a:solidFill>
            <a:srgbClr val="1A1010"/>
          </a:solidFill>
          <a:ln w="12700">
            <a:solidFill>
              <a:srgbClr val="F8717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26679" y="4041648"/>
            <a:ext cx="3749039" cy="365760"/>
          </a:xfrm>
          <a:prstGeom prst="rect">
            <a:avLst/>
          </a:prstGeom>
          <a:noFill/>
        </p:spPr>
        <p:txBody>
          <a:bodyPr wrap="square" anchor="t">
            <a:spAutoFit/>
          </a:bodyPr>
          <a:lstStyle/>
          <a:p>
            <a:pPr algn="l">
              <a:lnSpc>
                <a:spcPct val="115000"/>
              </a:lnSpc>
            </a:pPr>
            <a:r>
              <a:rPr sz="1500" b="1" i="0">
                <a:solidFill>
                  <a:srgbClr val="F87171"/>
                </a:solidFill>
                <a:latin typeface="Consolas"/>
              </a:rPr>
              <a:t>5.0.0-beta.6</a:t>
            </a:r>
          </a:p>
        </p:txBody>
      </p:sp>
      <p:sp>
        <p:nvSpPr>
          <p:cNvPr id="13" name="TextBox 12"/>
          <p:cNvSpPr txBox="1"/>
          <p:nvPr/>
        </p:nvSpPr>
        <p:spPr>
          <a:xfrm>
            <a:off x="7589520" y="4709160"/>
            <a:ext cx="4023360" cy="1554480"/>
          </a:xfrm>
          <a:prstGeom prst="rect">
            <a:avLst/>
          </a:prstGeom>
          <a:noFill/>
        </p:spPr>
        <p:txBody>
          <a:bodyPr wrap="square" anchor="t">
            <a:spAutoFit/>
          </a:bodyPr>
          <a:lstStyle/>
          <a:p>
            <a:pPr algn="l">
              <a:lnSpc>
                <a:spcPct val="130000"/>
              </a:lnSpc>
            </a:pPr>
            <a:r>
              <a:rPr sz="1450" b="0" i="1">
                <a:solidFill>
                  <a:srgbClr val="34D399"/>
                </a:solidFill>
                <a:latin typeface="Arial"/>
              </a:rPr>
              <a:t>Caught from the components' own declared</a:t>
            </a:r>
          </a:p>
          <a:p>
            <a:pPr algn="l">
              <a:lnSpc>
                <a:spcPct val="130000"/>
              </a:lnSpc>
            </a:pPr>
            <a:r>
              <a:rPr sz="1450" b="0" i="1">
                <a:solidFill>
                  <a:srgbClr val="34D399"/>
                </a:solidFill>
                <a:latin typeface="Arial"/>
              </a:rPr>
              <a:t>metadata — zero hand-written rules for this</a:t>
            </a:r>
          </a:p>
          <a:p>
            <a:pPr algn="l">
              <a:lnSpc>
                <a:spcPct val="130000"/>
              </a:lnSpc>
            </a:pPr>
            <a:r>
              <a:rPr sz="1450" b="0" i="1">
                <a:solidFill>
                  <a:srgbClr val="34D399"/>
                </a:solidFill>
                <a:latin typeface="Arial"/>
              </a:rPr>
              <a:t>specific pair.</a:t>
            </a:r>
          </a:p>
        </p:txBody>
      </p:sp>
      <p:sp>
        <p:nvSpPr>
          <p:cNvPr id="14" name="TextBox 13"/>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5" name="TextBox 14"/>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DEVELOPER WORKFLOW</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Three surfaces. One engine underneath.</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20240"/>
            <a:ext cx="3429000" cy="3566160"/>
          </a:xfrm>
          <a:prstGeom prst="roundRect">
            <a:avLst>
              <a:gd name="adj" fmla="val 6000"/>
            </a:avLst>
          </a:prstGeom>
          <a:solidFill>
            <a:srgbClr val="161B22"/>
          </a:solidFill>
          <a:ln w="12700">
            <a:solidFill>
              <a:srgbClr val="FB923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2103120"/>
            <a:ext cx="2971800" cy="457200"/>
          </a:xfrm>
          <a:prstGeom prst="rect">
            <a:avLst/>
          </a:prstGeom>
          <a:noFill/>
        </p:spPr>
        <p:txBody>
          <a:bodyPr wrap="square" anchor="t">
            <a:spAutoFit/>
          </a:bodyPr>
          <a:lstStyle/>
          <a:p>
            <a:pPr algn="l">
              <a:lnSpc>
                <a:spcPct val="115000"/>
              </a:lnSpc>
            </a:pPr>
            <a:r>
              <a:rPr sz="2000" b="1" i="0">
                <a:solidFill>
                  <a:srgbClr val="FB923C"/>
                </a:solidFill>
                <a:latin typeface="Arial"/>
              </a:rPr>
              <a:t>CLI</a:t>
            </a:r>
          </a:p>
        </p:txBody>
      </p:sp>
      <p:sp>
        <p:nvSpPr>
          <p:cNvPr id="8" name="Rectangle 7"/>
          <p:cNvSpPr/>
          <p:nvPr/>
        </p:nvSpPr>
        <p:spPr>
          <a:xfrm>
            <a:off x="868680" y="2651760"/>
            <a:ext cx="2971800" cy="1234440"/>
          </a:xfrm>
          <a:prstGeom prst="rect">
            <a:avLst/>
          </a:prstGeom>
          <a:solidFill>
            <a:srgbClr val="0A0D11"/>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761488"/>
            <a:ext cx="2697480" cy="1051560"/>
          </a:xfrm>
          <a:prstGeom prst="rect">
            <a:avLst/>
          </a:prstGeom>
          <a:noFill/>
        </p:spPr>
        <p:txBody>
          <a:bodyPr wrap="square" anchor="t">
            <a:spAutoFit/>
          </a:bodyPr>
          <a:lstStyle/>
          <a:p>
            <a:pPr algn="l">
              <a:lnSpc>
                <a:spcPct val="125000"/>
              </a:lnSpc>
            </a:pPr>
            <a:r>
              <a:rPr sz="1150" b="0" i="0">
                <a:solidFill>
                  <a:srgbClr val="E6EDF3"/>
                </a:solidFill>
                <a:latin typeface="Consolas"/>
              </a:rPr>
              <a:t>forge-midnight matrix</a:t>
            </a:r>
          </a:p>
          <a:p>
            <a:pPr algn="l">
              <a:lnSpc>
                <a:spcPct val="125000"/>
              </a:lnSpc>
            </a:pPr>
            <a:r>
              <a:rPr sz="1150" b="0" i="0">
                <a:solidFill>
                  <a:srgbClr val="E6EDF3"/>
                </a:solidFill>
                <a:latin typeface="Consolas"/>
              </a:rPr>
              <a:t>forge-midnight compatibility</a:t>
            </a:r>
          </a:p>
          <a:p>
            <a:pPr algn="l">
              <a:lnSpc>
                <a:spcPct val="125000"/>
              </a:lnSpc>
            </a:pPr>
            <a:r>
              <a:rPr sz="1150" b="0" i="0">
                <a:solidFill>
                  <a:srgbClr val="E6EDF3"/>
                </a:solidFill>
                <a:latin typeface="Consolas"/>
              </a:rPr>
              <a:t>forge-midnight dashboard</a:t>
            </a:r>
          </a:p>
        </p:txBody>
      </p:sp>
      <p:sp>
        <p:nvSpPr>
          <p:cNvPr id="10" name="TextBox 9"/>
          <p:cNvSpPr txBox="1"/>
          <p:nvPr/>
        </p:nvSpPr>
        <p:spPr>
          <a:xfrm>
            <a:off x="868680" y="4069080"/>
            <a:ext cx="2971800" cy="1280160"/>
          </a:xfrm>
          <a:prstGeom prst="rect">
            <a:avLst/>
          </a:prstGeom>
          <a:noFill/>
        </p:spPr>
        <p:txBody>
          <a:bodyPr wrap="square" anchor="t">
            <a:spAutoFit/>
          </a:bodyPr>
          <a:lstStyle/>
          <a:p>
            <a:pPr algn="l">
              <a:lnSpc>
                <a:spcPct val="130000"/>
              </a:lnSpc>
            </a:pPr>
            <a:r>
              <a:rPr sz="1350" b="0" i="0">
                <a:solidFill>
                  <a:srgbClr val="8B949E"/>
                </a:solidFill>
                <a:latin typeface="Arial"/>
              </a:rPr>
              <a:t>Run locally, before ever opening a PR.</a:t>
            </a:r>
          </a:p>
        </p:txBody>
      </p:sp>
      <p:sp>
        <p:nvSpPr>
          <p:cNvPr id="11" name="Rounded Rectangle 10"/>
          <p:cNvSpPr/>
          <p:nvPr/>
        </p:nvSpPr>
        <p:spPr>
          <a:xfrm>
            <a:off x="4297680" y="1920240"/>
            <a:ext cx="3429000" cy="3566160"/>
          </a:xfrm>
          <a:prstGeom prst="roundRect">
            <a:avLst>
              <a:gd name="adj" fmla="val 6000"/>
            </a:avLst>
          </a:prstGeom>
          <a:solidFill>
            <a:srgbClr val="161B22"/>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2103120"/>
            <a:ext cx="2971800" cy="457200"/>
          </a:xfrm>
          <a:prstGeom prst="rect">
            <a:avLst/>
          </a:prstGeom>
          <a:noFill/>
        </p:spPr>
        <p:txBody>
          <a:bodyPr wrap="square" anchor="t">
            <a:spAutoFit/>
          </a:bodyPr>
          <a:lstStyle/>
          <a:p>
            <a:pPr algn="l">
              <a:lnSpc>
                <a:spcPct val="115000"/>
              </a:lnSpc>
            </a:pPr>
            <a:r>
              <a:rPr sz="2000" b="1" i="0">
                <a:solidFill>
                  <a:srgbClr val="60A5FA"/>
                </a:solidFill>
                <a:latin typeface="Arial"/>
              </a:rPr>
              <a:t>GitHub Action</a:t>
            </a:r>
          </a:p>
        </p:txBody>
      </p:sp>
      <p:sp>
        <p:nvSpPr>
          <p:cNvPr id="13" name="Rectangle 12"/>
          <p:cNvSpPr/>
          <p:nvPr/>
        </p:nvSpPr>
        <p:spPr>
          <a:xfrm>
            <a:off x="4526280" y="2651760"/>
            <a:ext cx="2971800" cy="1234440"/>
          </a:xfrm>
          <a:prstGeom prst="rect">
            <a:avLst/>
          </a:prstGeom>
          <a:solidFill>
            <a:srgbClr val="0A0D11"/>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63440" y="2761488"/>
            <a:ext cx="2697480" cy="1051560"/>
          </a:xfrm>
          <a:prstGeom prst="rect">
            <a:avLst/>
          </a:prstGeom>
          <a:noFill/>
        </p:spPr>
        <p:txBody>
          <a:bodyPr wrap="square" anchor="t">
            <a:spAutoFit/>
          </a:bodyPr>
          <a:lstStyle/>
          <a:p>
            <a:pPr algn="l">
              <a:lnSpc>
                <a:spcPct val="125000"/>
              </a:lnSpc>
            </a:pPr>
            <a:r>
              <a:rPr sz="1150" b="0" i="0">
                <a:solidFill>
                  <a:srgbClr val="E6EDF3"/>
                </a:solidFill>
                <a:latin typeface="Consolas"/>
              </a:rPr>
              <a:t>on: pull_request</a:t>
            </a:r>
          </a:p>
          <a:p>
            <a:pPr algn="l">
              <a:lnSpc>
                <a:spcPct val="125000"/>
              </a:lnSpc>
            </a:pPr>
            <a:r>
              <a:rPr sz="1150" b="0" i="0">
                <a:solidFill>
                  <a:srgbClr val="E6EDF3"/>
                </a:solidFill>
                <a:latin typeface="Consolas"/>
              </a:rPr>
              <a:t>→ posts a compatibility</a:t>
            </a:r>
          </a:p>
          <a:p>
            <a:pPr algn="l">
              <a:lnSpc>
                <a:spcPct val="125000"/>
              </a:lnSpc>
            </a:pPr>
            <a:r>
              <a:rPr sz="1150" b="0" i="0">
                <a:solidFill>
                  <a:srgbClr val="E6EDF3"/>
                </a:solidFill>
                <a:latin typeface="Consolas"/>
              </a:rPr>
              <a:t>   report as a PR comment</a:t>
            </a:r>
          </a:p>
        </p:txBody>
      </p:sp>
      <p:sp>
        <p:nvSpPr>
          <p:cNvPr id="15" name="TextBox 14"/>
          <p:cNvSpPr txBox="1"/>
          <p:nvPr/>
        </p:nvSpPr>
        <p:spPr>
          <a:xfrm>
            <a:off x="4526280" y="4069080"/>
            <a:ext cx="2971800" cy="1280160"/>
          </a:xfrm>
          <a:prstGeom prst="rect">
            <a:avLst/>
          </a:prstGeom>
          <a:noFill/>
        </p:spPr>
        <p:txBody>
          <a:bodyPr wrap="square" anchor="t">
            <a:spAutoFit/>
          </a:bodyPr>
          <a:lstStyle/>
          <a:p>
            <a:pPr algn="l">
              <a:lnSpc>
                <a:spcPct val="130000"/>
              </a:lnSpc>
            </a:pPr>
            <a:r>
              <a:rPr sz="1350" b="0" i="0">
                <a:solidFill>
                  <a:srgbClr val="8B949E"/>
                </a:solidFill>
                <a:latin typeface="Arial"/>
              </a:rPr>
              <a:t>Fails the check on a real incompatibility.</a:t>
            </a:r>
          </a:p>
        </p:txBody>
      </p:sp>
      <p:sp>
        <p:nvSpPr>
          <p:cNvPr id="16" name="Rounded Rectangle 15"/>
          <p:cNvSpPr/>
          <p:nvPr/>
        </p:nvSpPr>
        <p:spPr>
          <a:xfrm>
            <a:off x="7955280" y="1920240"/>
            <a:ext cx="3429000" cy="3566160"/>
          </a:xfrm>
          <a:prstGeom prst="roundRect">
            <a:avLst>
              <a:gd name="adj" fmla="val 6000"/>
            </a:avLst>
          </a:prstGeom>
          <a:solidFill>
            <a:srgbClr val="161B22"/>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2103120"/>
            <a:ext cx="2971800" cy="457200"/>
          </a:xfrm>
          <a:prstGeom prst="rect">
            <a:avLst/>
          </a:prstGeom>
          <a:noFill/>
        </p:spPr>
        <p:txBody>
          <a:bodyPr wrap="square" anchor="t">
            <a:spAutoFit/>
          </a:bodyPr>
          <a:lstStyle/>
          <a:p>
            <a:pPr algn="l">
              <a:lnSpc>
                <a:spcPct val="115000"/>
              </a:lnSpc>
            </a:pPr>
            <a:r>
              <a:rPr sz="2000" b="1" i="0">
                <a:solidFill>
                  <a:srgbClr val="34D399"/>
                </a:solidFill>
                <a:latin typeface="Arial"/>
              </a:rPr>
              <a:t>Dashboard</a:t>
            </a:r>
          </a:p>
        </p:txBody>
      </p:sp>
      <p:sp>
        <p:nvSpPr>
          <p:cNvPr id="18" name="Rectangle 17"/>
          <p:cNvSpPr/>
          <p:nvPr/>
        </p:nvSpPr>
        <p:spPr>
          <a:xfrm>
            <a:off x="8183880" y="2651760"/>
            <a:ext cx="2971800" cy="1234440"/>
          </a:xfrm>
          <a:prstGeom prst="rect">
            <a:avLst/>
          </a:prstGeom>
          <a:solidFill>
            <a:srgbClr val="0A0D11"/>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321040" y="2761488"/>
            <a:ext cx="2697480" cy="1051560"/>
          </a:xfrm>
          <a:prstGeom prst="rect">
            <a:avLst/>
          </a:prstGeom>
          <a:noFill/>
        </p:spPr>
        <p:txBody>
          <a:bodyPr wrap="square" anchor="t">
            <a:spAutoFit/>
          </a:bodyPr>
          <a:lstStyle/>
          <a:p>
            <a:pPr algn="l">
              <a:lnSpc>
                <a:spcPct val="125000"/>
              </a:lnSpc>
            </a:pPr>
            <a:r>
              <a:rPr sz="1150" b="0" i="0">
                <a:solidFill>
                  <a:srgbClr val="E6EDF3"/>
                </a:solidFill>
                <a:latin typeface="Consolas"/>
              </a:rPr>
              <a:t>forge-midnight dashboard</a:t>
            </a:r>
          </a:p>
          <a:p>
            <a:pPr algn="l">
              <a:lnSpc>
                <a:spcPct val="125000"/>
              </a:lnSpc>
            </a:pPr>
            <a:r>
              <a:rPr sz="1150" b="0" i="0">
                <a:solidFill>
                  <a:srgbClr val="E6EDF3"/>
                </a:solidFill>
                <a:latin typeface="Consolas"/>
              </a:rPr>
              <a:t>→ self-contained HTML</a:t>
            </a:r>
          </a:p>
          <a:p>
            <a:pPr algn="l">
              <a:lnSpc>
                <a:spcPct val="125000"/>
              </a:lnSpc>
            </a:pPr>
            <a:r>
              <a:rPr sz="1150" b="0" i="0">
                <a:solidFill>
                  <a:srgbClr val="E6EDF3"/>
                </a:solidFill>
                <a:latin typeface="Consolas"/>
              </a:rPr>
              <a:t>   file, zero JS, zero server</a:t>
            </a:r>
          </a:p>
        </p:txBody>
      </p:sp>
      <p:sp>
        <p:nvSpPr>
          <p:cNvPr id="20" name="TextBox 19"/>
          <p:cNvSpPr txBox="1"/>
          <p:nvPr/>
        </p:nvSpPr>
        <p:spPr>
          <a:xfrm>
            <a:off x="8183880" y="4069080"/>
            <a:ext cx="2971800" cy="1280160"/>
          </a:xfrm>
          <a:prstGeom prst="rect">
            <a:avLst/>
          </a:prstGeom>
          <a:noFill/>
        </p:spPr>
        <p:txBody>
          <a:bodyPr wrap="square" anchor="t">
            <a:spAutoFit/>
          </a:bodyPr>
          <a:lstStyle/>
          <a:p>
            <a:pPr algn="l">
              <a:lnSpc>
                <a:spcPct val="130000"/>
              </a:lnSpc>
            </a:pPr>
            <a:r>
              <a:rPr sz="1350" b="0" i="0">
                <a:solidFill>
                  <a:srgbClr val="8B949E"/>
                </a:solidFill>
                <a:latin typeface="Arial"/>
              </a:rPr>
              <a:t>Open it in any browser, anywhere.</a:t>
            </a:r>
          </a:p>
        </p:txBody>
      </p:sp>
      <p:sp>
        <p:nvSpPr>
          <p:cNvPr id="21" name="TextBox 20"/>
          <p:cNvSpPr txBox="1"/>
          <p:nvPr/>
        </p:nvSpPr>
        <p:spPr>
          <a:xfrm>
            <a:off x="640080" y="5715000"/>
            <a:ext cx="10881360" cy="548640"/>
          </a:xfrm>
          <a:prstGeom prst="rect">
            <a:avLst/>
          </a:prstGeom>
          <a:noFill/>
        </p:spPr>
        <p:txBody>
          <a:bodyPr wrap="square" anchor="t">
            <a:spAutoFit/>
          </a:bodyPr>
          <a:lstStyle/>
          <a:p>
            <a:pPr algn="l">
              <a:lnSpc>
                <a:spcPct val="115000"/>
              </a:lnSpc>
            </a:pPr>
            <a:r>
              <a:rPr sz="1400" b="0" i="1">
                <a:solidFill>
                  <a:srgbClr val="A78BFA"/>
                </a:solidFill>
                <a:latin typeface="Arial"/>
              </a:rPr>
              <a:t>All three call the same core/application use cases and render through the same interfaces/reporting layer.</a:t>
            </a:r>
          </a:p>
        </p:txBody>
      </p:sp>
      <p:sp>
        <p:nvSpPr>
          <p:cNvPr id="22" name="TextBox 21"/>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23" name="TextBox 22"/>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ENGINEERING QUALITY</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Not a demo. A tested engineering artifact.</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40080" y="1965960"/>
            <a:ext cx="2514600" cy="1737360"/>
          </a:xfrm>
          <a:prstGeom prst="roundRect">
            <a:avLst>
              <a:gd name="adj" fmla="val 6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2130552"/>
            <a:ext cx="2514600" cy="685800"/>
          </a:xfrm>
          <a:prstGeom prst="rect">
            <a:avLst/>
          </a:prstGeom>
          <a:noFill/>
        </p:spPr>
        <p:txBody>
          <a:bodyPr wrap="square" anchor="t">
            <a:spAutoFit/>
          </a:bodyPr>
          <a:lstStyle/>
          <a:p>
            <a:pPr algn="ctr">
              <a:lnSpc>
                <a:spcPct val="115000"/>
              </a:lnSpc>
            </a:pPr>
            <a:r>
              <a:rPr sz="3400" b="1" i="0">
                <a:solidFill>
                  <a:srgbClr val="A78BFA"/>
                </a:solidFill>
                <a:latin typeface="Arial"/>
              </a:rPr>
              <a:t>411+</a:t>
            </a:r>
          </a:p>
        </p:txBody>
      </p:sp>
      <p:sp>
        <p:nvSpPr>
          <p:cNvPr id="8" name="TextBox 7"/>
          <p:cNvSpPr txBox="1"/>
          <p:nvPr/>
        </p:nvSpPr>
        <p:spPr>
          <a:xfrm>
            <a:off x="777240" y="2834640"/>
            <a:ext cx="2240280" cy="640080"/>
          </a:xfrm>
          <a:prstGeom prst="rect">
            <a:avLst/>
          </a:prstGeom>
          <a:noFill/>
        </p:spPr>
        <p:txBody>
          <a:bodyPr wrap="square" anchor="t">
            <a:spAutoFit/>
          </a:bodyPr>
          <a:lstStyle/>
          <a:p>
            <a:pPr algn="ctr">
              <a:lnSpc>
                <a:spcPct val="110000"/>
              </a:lnSpc>
            </a:pPr>
            <a:r>
              <a:rPr sz="1300" b="0" i="0">
                <a:solidFill>
                  <a:srgbClr val="8B949E"/>
                </a:solidFill>
                <a:latin typeface="Arial"/>
              </a:rPr>
              <a:t>tests passing</a:t>
            </a:r>
          </a:p>
        </p:txBody>
      </p:sp>
      <p:sp>
        <p:nvSpPr>
          <p:cNvPr id="9" name="Rounded Rectangle 8"/>
          <p:cNvSpPr/>
          <p:nvPr/>
        </p:nvSpPr>
        <p:spPr>
          <a:xfrm>
            <a:off x="3337560" y="1965960"/>
            <a:ext cx="2514600" cy="1737360"/>
          </a:xfrm>
          <a:prstGeom prst="roundRect">
            <a:avLst>
              <a:gd name="adj" fmla="val 6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337560" y="2130552"/>
            <a:ext cx="2514600" cy="685800"/>
          </a:xfrm>
          <a:prstGeom prst="rect">
            <a:avLst/>
          </a:prstGeom>
          <a:noFill/>
        </p:spPr>
        <p:txBody>
          <a:bodyPr wrap="square" anchor="t">
            <a:spAutoFit/>
          </a:bodyPr>
          <a:lstStyle/>
          <a:p>
            <a:pPr algn="ctr">
              <a:lnSpc>
                <a:spcPct val="115000"/>
              </a:lnSpc>
            </a:pPr>
            <a:r>
              <a:rPr sz="3400" b="1" i="0">
                <a:solidFill>
                  <a:srgbClr val="60A5FA"/>
                </a:solidFill>
                <a:latin typeface="Arial"/>
              </a:rPr>
              <a:t>95%+</a:t>
            </a:r>
          </a:p>
        </p:txBody>
      </p:sp>
      <p:sp>
        <p:nvSpPr>
          <p:cNvPr id="11" name="TextBox 10"/>
          <p:cNvSpPr txBox="1"/>
          <p:nvPr/>
        </p:nvSpPr>
        <p:spPr>
          <a:xfrm>
            <a:off x="3474720" y="2834640"/>
            <a:ext cx="2240280" cy="640080"/>
          </a:xfrm>
          <a:prstGeom prst="rect">
            <a:avLst/>
          </a:prstGeom>
          <a:noFill/>
        </p:spPr>
        <p:txBody>
          <a:bodyPr wrap="square" anchor="t">
            <a:spAutoFit/>
          </a:bodyPr>
          <a:lstStyle/>
          <a:p>
            <a:pPr algn="ctr">
              <a:lnSpc>
                <a:spcPct val="110000"/>
              </a:lnSpc>
            </a:pPr>
            <a:r>
              <a:rPr sz="1300" b="0" i="0">
                <a:solidFill>
                  <a:srgbClr val="8B949E"/>
                </a:solidFill>
                <a:latin typeface="Arial"/>
              </a:rPr>
              <a:t>line coverage</a:t>
            </a:r>
          </a:p>
        </p:txBody>
      </p:sp>
      <p:sp>
        <p:nvSpPr>
          <p:cNvPr id="12" name="Rounded Rectangle 11"/>
          <p:cNvSpPr/>
          <p:nvPr/>
        </p:nvSpPr>
        <p:spPr>
          <a:xfrm>
            <a:off x="6035040" y="1965960"/>
            <a:ext cx="2514600" cy="1737360"/>
          </a:xfrm>
          <a:prstGeom prst="roundRect">
            <a:avLst>
              <a:gd name="adj" fmla="val 6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2130552"/>
            <a:ext cx="2514600" cy="685800"/>
          </a:xfrm>
          <a:prstGeom prst="rect">
            <a:avLst/>
          </a:prstGeom>
          <a:noFill/>
        </p:spPr>
        <p:txBody>
          <a:bodyPr wrap="square" anchor="t">
            <a:spAutoFit/>
          </a:bodyPr>
          <a:lstStyle/>
          <a:p>
            <a:pPr algn="ctr">
              <a:lnSpc>
                <a:spcPct val="115000"/>
              </a:lnSpc>
            </a:pPr>
            <a:r>
              <a:rPr sz="3400" b="1" i="0">
                <a:solidFill>
                  <a:srgbClr val="34D399"/>
                </a:solidFill>
                <a:latin typeface="Arial"/>
              </a:rPr>
              <a:t>12</a:t>
            </a:r>
          </a:p>
        </p:txBody>
      </p:sp>
      <p:sp>
        <p:nvSpPr>
          <p:cNvPr id="14" name="TextBox 13"/>
          <p:cNvSpPr txBox="1"/>
          <p:nvPr/>
        </p:nvSpPr>
        <p:spPr>
          <a:xfrm>
            <a:off x="6172200" y="2834640"/>
            <a:ext cx="2240280" cy="640080"/>
          </a:xfrm>
          <a:prstGeom prst="rect">
            <a:avLst/>
          </a:prstGeom>
          <a:noFill/>
        </p:spPr>
        <p:txBody>
          <a:bodyPr wrap="square" anchor="t">
            <a:spAutoFit/>
          </a:bodyPr>
          <a:lstStyle/>
          <a:p>
            <a:pPr algn="ctr">
              <a:lnSpc>
                <a:spcPct val="110000"/>
              </a:lnSpc>
            </a:pPr>
            <a:r>
              <a:rPr sz="1300" b="0" i="0">
                <a:solidFill>
                  <a:srgbClr val="8B949E"/>
                </a:solidFill>
                <a:latin typeface="Arial"/>
              </a:rPr>
              <a:t>ADRs recording</a:t>
            </a:r>
          </a:p>
          <a:p>
            <a:pPr algn="ctr">
              <a:lnSpc>
                <a:spcPct val="110000"/>
              </a:lnSpc>
            </a:pPr>
            <a:r>
              <a:rPr sz="1300" b="0" i="0">
                <a:solidFill>
                  <a:srgbClr val="8B949E"/>
                </a:solidFill>
                <a:latin typeface="Arial"/>
              </a:rPr>
              <a:t>real decisions</a:t>
            </a:r>
          </a:p>
        </p:txBody>
      </p:sp>
      <p:sp>
        <p:nvSpPr>
          <p:cNvPr id="15" name="Rounded Rectangle 14"/>
          <p:cNvSpPr/>
          <p:nvPr/>
        </p:nvSpPr>
        <p:spPr>
          <a:xfrm>
            <a:off x="8732520" y="1965960"/>
            <a:ext cx="2514600" cy="1737360"/>
          </a:xfrm>
          <a:prstGeom prst="roundRect">
            <a:avLst>
              <a:gd name="adj" fmla="val 6000"/>
            </a:avLst>
          </a:prstGeom>
          <a:solidFill>
            <a:srgbClr val="161B22"/>
          </a:solidFill>
          <a:ln w="12700">
            <a:solidFill>
              <a:srgbClr val="30363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32520" y="2130552"/>
            <a:ext cx="2514600" cy="685800"/>
          </a:xfrm>
          <a:prstGeom prst="rect">
            <a:avLst/>
          </a:prstGeom>
          <a:noFill/>
        </p:spPr>
        <p:txBody>
          <a:bodyPr wrap="square" anchor="t">
            <a:spAutoFit/>
          </a:bodyPr>
          <a:lstStyle/>
          <a:p>
            <a:pPr algn="ctr">
              <a:lnSpc>
                <a:spcPct val="115000"/>
              </a:lnSpc>
            </a:pPr>
            <a:r>
              <a:rPr sz="3400" b="1" i="0">
                <a:solidFill>
                  <a:srgbClr val="FB923C"/>
                </a:solidFill>
                <a:latin typeface="Arial"/>
              </a:rPr>
              <a:t>0</a:t>
            </a:r>
          </a:p>
        </p:txBody>
      </p:sp>
      <p:sp>
        <p:nvSpPr>
          <p:cNvPr id="17" name="TextBox 16"/>
          <p:cNvSpPr txBox="1"/>
          <p:nvPr/>
        </p:nvSpPr>
        <p:spPr>
          <a:xfrm>
            <a:off x="8869680" y="2834640"/>
            <a:ext cx="2240280" cy="640080"/>
          </a:xfrm>
          <a:prstGeom prst="rect">
            <a:avLst/>
          </a:prstGeom>
          <a:noFill/>
        </p:spPr>
        <p:txBody>
          <a:bodyPr wrap="square" anchor="t">
            <a:spAutoFit/>
          </a:bodyPr>
          <a:lstStyle/>
          <a:p>
            <a:pPr algn="ctr">
              <a:lnSpc>
                <a:spcPct val="110000"/>
              </a:lnSpc>
            </a:pPr>
            <a:r>
              <a:rPr sz="1300" b="0" i="0">
                <a:solidFill>
                  <a:srgbClr val="8B949E"/>
                </a:solidFill>
                <a:latin typeface="Arial"/>
              </a:rPr>
              <a:t>architecture</a:t>
            </a:r>
          </a:p>
          <a:p>
            <a:pPr algn="ctr">
              <a:lnSpc>
                <a:spcPct val="110000"/>
              </a:lnSpc>
            </a:pPr>
            <a:r>
              <a:rPr sz="1300" b="0" i="0">
                <a:solidFill>
                  <a:srgbClr val="8B949E"/>
                </a:solidFill>
                <a:latin typeface="Arial"/>
              </a:rPr>
              <a:t>violations</a:t>
            </a:r>
          </a:p>
        </p:txBody>
      </p:sp>
      <p:sp>
        <p:nvSpPr>
          <p:cNvPr id="18" name="TextBox 17"/>
          <p:cNvSpPr txBox="1"/>
          <p:nvPr/>
        </p:nvSpPr>
        <p:spPr>
          <a:xfrm>
            <a:off x="640080" y="4114800"/>
            <a:ext cx="10881360" cy="2011680"/>
          </a:xfrm>
          <a:prstGeom prst="rect">
            <a:avLst/>
          </a:prstGeom>
          <a:noFill/>
        </p:spPr>
        <p:txBody>
          <a:bodyPr wrap="square">
            <a:spAutoFit/>
          </a:bodyPr>
          <a:lstStyle/>
          <a:p>
            <a:pPr>
              <a:lnSpc>
                <a:spcPct val="120000"/>
              </a:lnSpc>
              <a:spcAft>
                <a:spcPts val="1000"/>
              </a:spcAft>
            </a:pPr>
            <a:r>
              <a:rPr sz="1400" b="1">
                <a:solidFill>
                  <a:srgbClr val="A78BFA"/>
                </a:solidFill>
                <a:latin typeface="Arial"/>
              </a:rPr>
              <a:t>―  </a:t>
            </a:r>
            <a:r>
              <a:rPr sz="1400" b="1">
                <a:solidFill>
                  <a:srgbClr val="E6EDF3"/>
                </a:solidFill>
                <a:latin typeface="Arial"/>
              </a:rPr>
              <a:t>Deterministic and evidence-mandatory </a:t>
            </a:r>
            <a:r>
              <a:rPr sz="1400">
                <a:solidFill>
                  <a:srgbClr val="8B949E"/>
                </a:solidFill>
                <a:latin typeface="Arial"/>
              </a:rPr>
              <a:t> same inputs always produce the same answer; absence of evidence resolves to ‘unverified,’ never ‘compatible’</a:t>
            </a:r>
          </a:p>
          <a:p>
            <a:pPr>
              <a:lnSpc>
                <a:spcPct val="120000"/>
              </a:lnSpc>
              <a:spcAft>
                <a:spcPts val="1000"/>
              </a:spcAft>
            </a:pPr>
            <a:r>
              <a:rPr sz="1400" b="1">
                <a:solidFill>
                  <a:srgbClr val="A78BFA"/>
                </a:solidFill>
                <a:latin typeface="Arial"/>
              </a:rPr>
              <a:t>―  </a:t>
            </a:r>
            <a:r>
              <a:rPr sz="1400" b="1">
                <a:solidFill>
                  <a:srgbClr val="E6EDF3"/>
                </a:solidFill>
                <a:latin typeface="Arial"/>
              </a:rPr>
              <a:t>Clean Architecture, CI-enforced </a:t>
            </a:r>
            <a:r>
              <a:rPr sz="1400">
                <a:solidFill>
                  <a:srgbClr val="8B949E"/>
                </a:solidFill>
                <a:latin typeface="Arial"/>
              </a:rPr>
              <a:t> a dependency-cruiser check fails the build if inward-only boundaries are ever violated</a:t>
            </a:r>
          </a:p>
          <a:p>
            <a:pPr>
              <a:lnSpc>
                <a:spcPct val="120000"/>
              </a:lnSpc>
              <a:spcAft>
                <a:spcPts val="1000"/>
              </a:spcAft>
            </a:pPr>
            <a:r>
              <a:rPr sz="1400" b="1">
                <a:solidFill>
                  <a:srgbClr val="A78BFA"/>
                </a:solidFill>
                <a:latin typeface="Arial"/>
              </a:rPr>
              <a:t>―  </a:t>
            </a:r>
            <a:r>
              <a:rPr sz="1400" b="1">
                <a:solidFill>
                  <a:srgbClr val="E6EDF3"/>
                </a:solidFill>
                <a:latin typeface="Arial"/>
              </a:rPr>
              <a:t>Real fixtures, not mocks </a:t>
            </a:r>
            <a:r>
              <a:rPr sz="1400">
                <a:solidFill>
                  <a:srgbClr val="8B949E"/>
                </a:solidFill>
                <a:latin typeface="Arial"/>
              </a:rPr>
              <a:t> tests replay data recorded once from the real GitHub API, including an end-to-end golden-snapshot test</a:t>
            </a:r>
          </a:p>
          <a:p>
            <a:pPr>
              <a:lnSpc>
                <a:spcPct val="120000"/>
              </a:lnSpc>
              <a:spcAft>
                <a:spcPts val="1000"/>
              </a:spcAft>
            </a:pPr>
            <a:r>
              <a:rPr sz="1400" b="1">
                <a:solidFill>
                  <a:srgbClr val="A78BFA"/>
                </a:solidFill>
                <a:latin typeface="Arial"/>
              </a:rPr>
              <a:t>―  </a:t>
            </a:r>
            <a:r>
              <a:rPr sz="1400" b="1">
                <a:solidFill>
                  <a:srgbClr val="E6EDF3"/>
                </a:solidFill>
                <a:latin typeface="Arial"/>
              </a:rPr>
              <a:t>Disclosed, not hidden, limitations </a:t>
            </a:r>
            <a:r>
              <a:rPr sz="1400">
                <a:solidFill>
                  <a:srgbClr val="8B949E"/>
                </a:solidFill>
                <a:latin typeface="Arial"/>
              </a:rPr>
              <a:t> ADR 0012 documents that the Action ingests fresh per run rather than querying a pre-warmed snapshot — written down, not shipped around</a:t>
            </a:r>
          </a:p>
        </p:txBody>
      </p:sp>
      <p:sp>
        <p:nvSpPr>
          <p:cNvPr id="19" name="TextBox 18"/>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20" name="TextBox 19"/>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BUSINESS VALUE &amp; OPEN SOURCE POTENTIAL</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Who this serves — built to be ecosystem-owned</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874519"/>
            <a:ext cx="5760720" cy="3657600"/>
          </a:xfrm>
          <a:prstGeom prst="rect">
            <a:avLst/>
          </a:prstGeom>
          <a:noFill/>
        </p:spPr>
        <p:txBody>
          <a:bodyPr wrap="square">
            <a:spAutoFit/>
          </a:bodyPr>
          <a:lstStyle/>
          <a:p>
            <a:pPr>
              <a:lnSpc>
                <a:spcPct val="120000"/>
              </a:lnSpc>
              <a:spcAft>
                <a:spcPts val="1400"/>
              </a:spcAft>
            </a:pPr>
            <a:r>
              <a:rPr sz="1600" b="1">
                <a:solidFill>
                  <a:srgbClr val="A78BFA"/>
                </a:solidFill>
                <a:latin typeface="Arial"/>
              </a:rPr>
              <a:t>―  </a:t>
            </a:r>
            <a:r>
              <a:rPr sz="1600" b="1">
                <a:solidFill>
                  <a:srgbClr val="E6EDF3"/>
                </a:solidFill>
                <a:latin typeface="Arial"/>
              </a:rPr>
              <a:t>Application &amp; contract developers </a:t>
            </a:r>
            <a:r>
              <a:rPr sz="1600">
                <a:solidFill>
                  <a:srgbClr val="8B949E"/>
                </a:solidFill>
                <a:latin typeface="Arial"/>
              </a:rPr>
              <a:t> know if an upgrade is safe before attempting it</a:t>
            </a:r>
          </a:p>
          <a:p>
            <a:pPr>
              <a:lnSpc>
                <a:spcPct val="120000"/>
              </a:lnSpc>
              <a:spcAft>
                <a:spcPts val="1400"/>
              </a:spcAft>
            </a:pPr>
            <a:r>
              <a:rPr sz="1600" b="1">
                <a:solidFill>
                  <a:srgbClr val="A78BFA"/>
                </a:solidFill>
                <a:latin typeface="Arial"/>
              </a:rPr>
              <a:t>―  </a:t>
            </a:r>
            <a:r>
              <a:rPr sz="1600" b="1">
                <a:solidFill>
                  <a:srgbClr val="E6EDF3"/>
                </a:solidFill>
                <a:latin typeface="Arial"/>
              </a:rPr>
              <a:t>Midnight core maintainers </a:t>
            </a:r>
            <a:r>
              <a:rPr sz="1600">
                <a:solidFill>
                  <a:srgbClr val="8B949E"/>
                </a:solidFill>
                <a:latin typeface="Arial"/>
              </a:rPr>
              <a:t> know what breaks downstream before shipping a change</a:t>
            </a:r>
          </a:p>
          <a:p>
            <a:pPr>
              <a:lnSpc>
                <a:spcPct val="120000"/>
              </a:lnSpc>
              <a:spcAft>
                <a:spcPts val="1400"/>
              </a:spcAft>
            </a:pPr>
            <a:r>
              <a:rPr sz="1600" b="1">
                <a:solidFill>
                  <a:srgbClr val="A78BFA"/>
                </a:solidFill>
                <a:latin typeface="Arial"/>
              </a:rPr>
              <a:t>―  </a:t>
            </a:r>
            <a:r>
              <a:rPr sz="1600" b="1">
                <a:solidFill>
                  <a:srgbClr val="E6EDF3"/>
                </a:solidFill>
                <a:latin typeface="Arial"/>
              </a:rPr>
              <a:t>Template &amp; example maintainers </a:t>
            </a:r>
            <a:r>
              <a:rPr sz="1600">
                <a:solidFill>
                  <a:srgbClr val="8B949E"/>
                </a:solidFill>
                <a:latin typeface="Arial"/>
              </a:rPr>
              <a:t> know when reference code has silently gone stale</a:t>
            </a:r>
          </a:p>
          <a:p>
            <a:pPr>
              <a:lnSpc>
                <a:spcPct val="120000"/>
              </a:lnSpc>
              <a:spcAft>
                <a:spcPts val="1400"/>
              </a:spcAft>
            </a:pPr>
            <a:r>
              <a:rPr sz="1600" b="1">
                <a:solidFill>
                  <a:srgbClr val="A78BFA"/>
                </a:solidFill>
                <a:latin typeface="Arial"/>
              </a:rPr>
              <a:t>―  </a:t>
            </a:r>
            <a:r>
              <a:rPr sz="1600" b="1">
                <a:solidFill>
                  <a:srgbClr val="E6EDF3"/>
                </a:solidFill>
                <a:latin typeface="Arial"/>
              </a:rPr>
              <a:t>Enterprise adopters </a:t>
            </a:r>
            <a:r>
              <a:rPr sz="1600">
                <a:solidFill>
                  <a:srgbClr val="8B949E"/>
                </a:solidFill>
                <a:latin typeface="Arial"/>
              </a:rPr>
              <a:t> a defensible, evidenced answer to ‘how do we manage upgrade risk’</a:t>
            </a:r>
          </a:p>
        </p:txBody>
      </p:sp>
      <p:sp>
        <p:nvSpPr>
          <p:cNvPr id="7" name="Rounded Rectangle 6"/>
          <p:cNvSpPr/>
          <p:nvPr/>
        </p:nvSpPr>
        <p:spPr>
          <a:xfrm>
            <a:off x="6675120" y="1874519"/>
            <a:ext cx="4846320" cy="3657600"/>
          </a:xfrm>
          <a:prstGeom prst="roundRect">
            <a:avLst>
              <a:gd name="adj" fmla="val 6000"/>
            </a:avLst>
          </a:prstGeom>
          <a:solidFill>
            <a:srgbClr val="14221B"/>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0" y="2103120"/>
            <a:ext cx="4297680" cy="457200"/>
          </a:xfrm>
          <a:prstGeom prst="rect">
            <a:avLst/>
          </a:prstGeom>
          <a:noFill/>
        </p:spPr>
        <p:txBody>
          <a:bodyPr wrap="square" anchor="t">
            <a:spAutoFit/>
          </a:bodyPr>
          <a:lstStyle/>
          <a:p>
            <a:pPr algn="l">
              <a:lnSpc>
                <a:spcPct val="115000"/>
              </a:lnSpc>
            </a:pPr>
            <a:r>
              <a:rPr sz="2000" b="1" i="0">
                <a:solidFill>
                  <a:srgbClr val="34D399"/>
                </a:solidFill>
                <a:latin typeface="Arial"/>
              </a:rPr>
              <a:t>Apache-2.0</a:t>
            </a:r>
          </a:p>
        </p:txBody>
      </p:sp>
      <p:sp>
        <p:nvSpPr>
          <p:cNvPr id="9" name="TextBox 8"/>
          <p:cNvSpPr txBox="1"/>
          <p:nvPr/>
        </p:nvSpPr>
        <p:spPr>
          <a:xfrm>
            <a:off x="6949440" y="2697480"/>
            <a:ext cx="4297680" cy="2651760"/>
          </a:xfrm>
          <a:prstGeom prst="rect">
            <a:avLst/>
          </a:prstGeom>
          <a:noFill/>
        </p:spPr>
        <p:txBody>
          <a:bodyPr wrap="square" anchor="t">
            <a:spAutoFit/>
          </a:bodyPr>
          <a:lstStyle/>
          <a:p>
            <a:pPr algn="l">
              <a:lnSpc>
                <a:spcPct val="135000"/>
              </a:lnSpc>
            </a:pPr>
            <a:r>
              <a:rPr sz="1450" b="0" i="0">
                <a:solidFill>
                  <a:srgbClr val="E6EDF3"/>
                </a:solidFill>
                <a:latin typeface="Arial"/>
              </a:rPr>
              <a:t>Licensed permissively on purpose: Compass is</a:t>
            </a:r>
          </a:p>
          <a:p>
            <a:pPr algn="l">
              <a:lnSpc>
                <a:spcPct val="135000"/>
              </a:lnSpc>
            </a:pPr>
            <a:r>
              <a:rPr sz="1450" b="0" i="0">
                <a:solidFill>
                  <a:srgbClr val="E6EDF3"/>
                </a:solidFill>
                <a:latin typeface="Arial"/>
              </a:rPr>
              <a:t>built to become ecosystem-owned infrastructure,</a:t>
            </a:r>
          </a:p>
          <a:p>
            <a:pPr algn="l">
              <a:lnSpc>
                <a:spcPct val="135000"/>
              </a:lnSpc>
            </a:pPr>
            <a:r>
              <a:rPr sz="1450" b="0" i="0">
                <a:solidFill>
                  <a:srgbClr val="E6EDF3"/>
                </a:solidFill>
                <a:latin typeface="Arial"/>
              </a:rPr>
              <a:t>not a single vendor's product.</a:t>
            </a:r>
          </a:p>
          <a:p>
            <a:pPr algn="l">
              <a:lnSpc>
                <a:spcPct val="135000"/>
              </a:lnSpc>
            </a:pPr>
            <a:r>
              <a:rPr sz="1450" b="0" i="0">
                <a:solidFill>
                  <a:srgbClr val="E6EDF3"/>
                </a:solidFill>
                <a:latin typeface="Arial"/>
              </a:rPr>
              <a:t/>
            </a:r>
          </a:p>
          <a:p>
            <a:pPr algn="l">
              <a:lnSpc>
                <a:spcPct val="135000"/>
              </a:lnSpc>
            </a:pPr>
            <a:r>
              <a:rPr sz="1450" b="0" i="0">
                <a:solidFill>
                  <a:srgbClr val="E6EDF3"/>
                </a:solidFill>
                <a:latin typeface="Arial"/>
              </a:rPr>
              <a:t>The plugin architecture that lets one Midnight</a:t>
            </a:r>
          </a:p>
          <a:p>
            <a:pPr algn="l">
              <a:lnSpc>
                <a:spcPct val="135000"/>
              </a:lnSpc>
            </a:pPr>
            <a:r>
              <a:rPr sz="1450" b="0" i="0">
                <a:solidFill>
                  <a:srgbClr val="E6EDF3"/>
                </a:solidFill>
                <a:latin typeface="Arial"/>
              </a:rPr>
              <a:t>team own the Midnight-specific plugin is the same</a:t>
            </a:r>
          </a:p>
          <a:p>
            <a:pPr algn="l">
              <a:lnSpc>
                <a:spcPct val="135000"/>
              </a:lnSpc>
            </a:pPr>
            <a:r>
              <a:rPr sz="1450" b="0" i="0">
                <a:solidFill>
                  <a:srgbClr val="E6EDF3"/>
                </a:solidFill>
                <a:latin typeface="Arial"/>
              </a:rPr>
              <a:t>mechanism that would let a second team extend</a:t>
            </a:r>
          </a:p>
          <a:p>
            <a:pPr algn="l">
              <a:lnSpc>
                <a:spcPct val="135000"/>
              </a:lnSpc>
            </a:pPr>
            <a:r>
              <a:rPr sz="1450" b="0" i="0">
                <a:solidFill>
                  <a:srgbClr val="E6EDF3"/>
                </a:solidFill>
                <a:latin typeface="Arial"/>
              </a:rPr>
              <a:t>coverage — without ever touching the engine.</a:t>
            </a:r>
          </a:p>
        </p:txBody>
      </p:sp>
      <p:sp>
        <p:nvSpPr>
          <p:cNvPr id="10" name="TextBox 9"/>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1" name="TextBox 10"/>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365760"/>
            <a:ext cx="7315200" cy="365760"/>
          </a:xfrm>
          <a:prstGeom prst="rect">
            <a:avLst/>
          </a:prstGeom>
          <a:noFill/>
        </p:spPr>
        <p:txBody>
          <a:bodyPr wrap="square" anchor="t">
            <a:spAutoFit/>
          </a:bodyPr>
          <a:lstStyle/>
          <a:p>
            <a:pPr algn="l">
              <a:lnSpc>
                <a:spcPct val="115000"/>
              </a:lnSpc>
            </a:pPr>
            <a:r>
              <a:rPr sz="1400" b="1" i="0">
                <a:solidFill>
                  <a:srgbClr val="A78BFA"/>
                </a:solidFill>
                <a:latin typeface="Arial"/>
              </a:rPr>
              <a:t>FUTURE ROADMAP</a:t>
            </a:r>
          </a:p>
        </p:txBody>
      </p:sp>
      <p:sp>
        <p:nvSpPr>
          <p:cNvPr id="4" name="TextBox 3"/>
          <p:cNvSpPr txBox="1"/>
          <p:nvPr/>
        </p:nvSpPr>
        <p:spPr>
          <a:xfrm>
            <a:off x="640080" y="685800"/>
            <a:ext cx="10881360" cy="914400"/>
          </a:xfrm>
          <a:prstGeom prst="rect">
            <a:avLst/>
          </a:prstGeom>
          <a:noFill/>
        </p:spPr>
        <p:txBody>
          <a:bodyPr wrap="square" anchor="t">
            <a:spAutoFit/>
          </a:bodyPr>
          <a:lstStyle/>
          <a:p>
            <a:pPr algn="l">
              <a:lnSpc>
                <a:spcPct val="115000"/>
              </a:lnSpc>
            </a:pPr>
            <a:r>
              <a:rPr sz="3200" b="1" i="0">
                <a:solidFill>
                  <a:srgbClr val="E6EDF3"/>
                </a:solidFill>
                <a:latin typeface="Arial"/>
              </a:rPr>
              <a:t>What's next — honestly scoped</a:t>
            </a:r>
          </a:p>
        </p:txBody>
      </p:sp>
      <p:sp>
        <p:nvSpPr>
          <p:cNvPr id="5" name="Rectangle 4"/>
          <p:cNvSpPr/>
          <p:nvPr/>
        </p:nvSpPr>
        <p:spPr>
          <a:xfrm>
            <a:off x="640080" y="1417320"/>
            <a:ext cx="1005840" cy="50800"/>
          </a:xfrm>
          <a:prstGeom prst="rect">
            <a:avLst/>
          </a:prstGeom>
          <a:solidFill>
            <a:srgbClr val="A78B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920240"/>
            <a:ext cx="10881360" cy="3840480"/>
          </a:xfrm>
          <a:prstGeom prst="rect">
            <a:avLst/>
          </a:prstGeom>
          <a:noFill/>
        </p:spPr>
        <p:txBody>
          <a:bodyPr wrap="square">
            <a:spAutoFit/>
          </a:bodyPr>
          <a:lstStyle/>
          <a:p>
            <a:pPr>
              <a:lnSpc>
                <a:spcPct val="120000"/>
              </a:lnSpc>
              <a:spcAft>
                <a:spcPts val="1600"/>
              </a:spcAft>
            </a:pPr>
            <a:r>
              <a:rPr sz="1700" b="1">
                <a:solidFill>
                  <a:srgbClr val="A78BFA"/>
                </a:solidFill>
                <a:latin typeface="Arial"/>
              </a:rPr>
              <a:t>―  </a:t>
            </a:r>
            <a:r>
              <a:rPr sz="1700" b="1">
                <a:solidFill>
                  <a:srgbClr val="E6EDF3"/>
                </a:solidFill>
                <a:latin typeface="Arial"/>
              </a:rPr>
              <a:t>Scheduled ingestion service </a:t>
            </a:r>
            <a:r>
              <a:rPr sz="1700">
                <a:solidFill>
                  <a:srgbClr val="8B949E"/>
                </a:solidFill>
                <a:latin typeface="Arial"/>
              </a:rPr>
              <a:t> a persistent, periodically-refreshed snapshot the Action queries instead of ingesting fresh every run</a:t>
            </a:r>
          </a:p>
          <a:p>
            <a:pPr>
              <a:lnSpc>
                <a:spcPct val="120000"/>
              </a:lnSpc>
              <a:spcAft>
                <a:spcPts val="1600"/>
              </a:spcAft>
            </a:pPr>
            <a:r>
              <a:rPr sz="1700" b="1">
                <a:solidFill>
                  <a:srgbClr val="A78BFA"/>
                </a:solidFill>
                <a:latin typeface="Arial"/>
              </a:rPr>
              <a:t>―  </a:t>
            </a:r>
            <a:r>
              <a:rPr sz="1700" b="1">
                <a:solidFill>
                  <a:srgbClr val="E6EDF3"/>
                </a:solidFill>
                <a:latin typeface="Arial"/>
              </a:rPr>
              <a:t>Hosted Query API &amp; live dashboard </a:t>
            </a:r>
            <a:r>
              <a:rPr sz="1700">
                <a:solidFill>
                  <a:srgbClr val="8B949E"/>
                </a:solidFill>
                <a:latin typeface="Arial"/>
              </a:rPr>
              <a:t> the same rendering layer, fed by live API responses instead of a locally-generated snapshot</a:t>
            </a:r>
          </a:p>
          <a:p>
            <a:pPr>
              <a:lnSpc>
                <a:spcPct val="120000"/>
              </a:lnSpc>
              <a:spcAft>
                <a:spcPts val="1600"/>
              </a:spcAft>
            </a:pPr>
            <a:r>
              <a:rPr sz="1700" b="1">
                <a:solidFill>
                  <a:srgbClr val="A78BFA"/>
                </a:solidFill>
                <a:latin typeface="Arial"/>
              </a:rPr>
              <a:t>―  </a:t>
            </a:r>
            <a:r>
              <a:rPr sz="1700" b="1">
                <a:solidFill>
                  <a:srgbClr val="E6EDF3"/>
                </a:solidFill>
                <a:latin typeface="Arial"/>
              </a:rPr>
              <a:t>Broader ecosystem source coverage </a:t>
            </a:r>
            <a:r>
              <a:rPr sz="1700">
                <a:solidFill>
                  <a:srgbClr val="8B949E"/>
                </a:solidFill>
                <a:latin typeface="Arial"/>
              </a:rPr>
              <a:t> new repositories are one entry in a declarative registry, not a redesign</a:t>
            </a:r>
          </a:p>
          <a:p>
            <a:pPr>
              <a:lnSpc>
                <a:spcPct val="120000"/>
              </a:lnSpc>
              <a:spcAft>
                <a:spcPts val="1600"/>
              </a:spcAft>
            </a:pPr>
            <a:r>
              <a:rPr sz="1700" b="1">
                <a:solidFill>
                  <a:srgbClr val="A78BFA"/>
                </a:solidFill>
                <a:latin typeface="Arial"/>
              </a:rPr>
              <a:t>―  </a:t>
            </a:r>
            <a:r>
              <a:rPr sz="1700" b="1">
                <a:solidFill>
                  <a:srgbClr val="E6EDF3"/>
                </a:solidFill>
                <a:latin typeface="Arial"/>
              </a:rPr>
              <a:t>Ecosystem Observability </a:t>
            </a:r>
            <a:r>
              <a:rPr sz="1700">
                <a:solidFill>
                  <a:srgbClr val="8B949E"/>
                </a:solidFill>
                <a:latin typeface="Arial"/>
              </a:rPr>
              <a:t> Release Health and Ecosystem Risk views for maintainers and adoption reviewers</a:t>
            </a:r>
          </a:p>
        </p:txBody>
      </p:sp>
      <p:sp>
        <p:nvSpPr>
          <p:cNvPr id="7" name="Rounded Rectangle 6"/>
          <p:cNvSpPr/>
          <p:nvPr/>
        </p:nvSpPr>
        <p:spPr>
          <a:xfrm>
            <a:off x="640080" y="5577840"/>
            <a:ext cx="10881360" cy="777240"/>
          </a:xfrm>
          <a:prstGeom prst="roundRect">
            <a:avLst>
              <a:gd name="adj" fmla="val 6000"/>
            </a:avLst>
          </a:prstGeom>
          <a:solidFill>
            <a:srgbClr val="141A22"/>
          </a:solidFill>
          <a:ln w="12700">
            <a:solidFill>
              <a:srgbClr val="60A5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733288"/>
            <a:ext cx="10332720" cy="502920"/>
          </a:xfrm>
          <a:prstGeom prst="rect">
            <a:avLst/>
          </a:prstGeom>
          <a:noFill/>
        </p:spPr>
        <p:txBody>
          <a:bodyPr wrap="square" anchor="t">
            <a:spAutoFit/>
          </a:bodyPr>
          <a:lstStyle/>
          <a:p>
            <a:pPr algn="l">
              <a:lnSpc>
                <a:spcPct val="115000"/>
              </a:lnSpc>
            </a:pPr>
            <a:r>
              <a:rPr sz="1400" b="0" i="1">
                <a:solidFill>
                  <a:srgbClr val="60A5FA"/>
                </a:solidFill>
                <a:latin typeface="Arial"/>
              </a:rPr>
              <a:t>Every item above is additive on top of the existing ports — none require re-architecting the engine that ships today.</a:t>
            </a:r>
          </a:p>
        </p:txBody>
      </p:sp>
      <p:sp>
        <p:nvSpPr>
          <p:cNvPr id="9" name="TextBox 8"/>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0" name="TextBox 9"/>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D11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554480"/>
            <a:ext cx="10515600" cy="457200"/>
          </a:xfrm>
          <a:prstGeom prst="rect">
            <a:avLst/>
          </a:prstGeom>
          <a:noFill/>
        </p:spPr>
        <p:txBody>
          <a:bodyPr wrap="square" anchor="t">
            <a:spAutoFit/>
          </a:bodyPr>
          <a:lstStyle/>
          <a:p>
            <a:pPr algn="l">
              <a:lnSpc>
                <a:spcPct val="115000"/>
              </a:lnSpc>
            </a:pPr>
            <a:r>
              <a:rPr sz="1600" b="1" i="0">
                <a:solidFill>
                  <a:srgbClr val="A78BFA"/>
                </a:solidFill>
                <a:latin typeface="Arial"/>
              </a:rPr>
              <a:t>TRY IT YOURSELF</a:t>
            </a:r>
          </a:p>
        </p:txBody>
      </p:sp>
      <p:sp>
        <p:nvSpPr>
          <p:cNvPr id="4" name="TextBox 3"/>
          <p:cNvSpPr txBox="1"/>
          <p:nvPr/>
        </p:nvSpPr>
        <p:spPr>
          <a:xfrm>
            <a:off x="777240" y="1965960"/>
            <a:ext cx="10607040" cy="1005840"/>
          </a:xfrm>
          <a:prstGeom prst="rect">
            <a:avLst/>
          </a:prstGeom>
          <a:noFill/>
        </p:spPr>
        <p:txBody>
          <a:bodyPr wrap="square" anchor="t">
            <a:spAutoFit/>
          </a:bodyPr>
          <a:lstStyle/>
          <a:p>
            <a:pPr algn="l">
              <a:lnSpc>
                <a:spcPct val="115000"/>
              </a:lnSpc>
            </a:pPr>
            <a:r>
              <a:rPr sz="4000" b="1" i="0">
                <a:solidFill>
                  <a:srgbClr val="E6EDF3"/>
                </a:solidFill>
                <a:latin typeface="Arial"/>
              </a:rPr>
              <a:t>30 seconds. Zero network.</a:t>
            </a:r>
          </a:p>
        </p:txBody>
      </p:sp>
      <p:sp>
        <p:nvSpPr>
          <p:cNvPr id="5" name="Rounded Rectangle 4"/>
          <p:cNvSpPr/>
          <p:nvPr/>
        </p:nvSpPr>
        <p:spPr>
          <a:xfrm>
            <a:off x="822960" y="3063240"/>
            <a:ext cx="6583680" cy="1371600"/>
          </a:xfrm>
          <a:prstGeom prst="roundRect">
            <a:avLst>
              <a:gd name="adj" fmla="val 6000"/>
            </a:avLst>
          </a:prstGeom>
          <a:solidFill>
            <a:srgbClr val="0A0D11"/>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3246120"/>
            <a:ext cx="6126480" cy="1005840"/>
          </a:xfrm>
          <a:prstGeom prst="rect">
            <a:avLst/>
          </a:prstGeom>
          <a:noFill/>
        </p:spPr>
        <p:txBody>
          <a:bodyPr wrap="square" anchor="t">
            <a:spAutoFit/>
          </a:bodyPr>
          <a:lstStyle/>
          <a:p>
            <a:pPr algn="l">
              <a:lnSpc>
                <a:spcPct val="140000"/>
              </a:lnSpc>
            </a:pPr>
            <a:r>
              <a:rPr sz="1800" b="0" i="0">
                <a:solidFill>
                  <a:srgbClr val="34D399"/>
                </a:solidFill>
                <a:latin typeface="Consolas"/>
              </a:rPr>
              <a:t>npm install &amp;&amp; npm run build</a:t>
            </a:r>
          </a:p>
          <a:p>
            <a:pPr algn="l">
              <a:lnSpc>
                <a:spcPct val="140000"/>
              </a:lnSpc>
            </a:pPr>
            <a:r>
              <a:rPr sz="1800" b="0" i="0">
                <a:solidFill>
                  <a:srgbClr val="34D399"/>
                </a:solidFill>
                <a:latin typeface="Consolas"/>
              </a:rPr>
              <a:t>npm run demo</a:t>
            </a:r>
          </a:p>
        </p:txBody>
      </p:sp>
      <p:sp>
        <p:nvSpPr>
          <p:cNvPr id="7" name="TextBox 6"/>
          <p:cNvSpPr txBox="1"/>
          <p:nvPr/>
        </p:nvSpPr>
        <p:spPr>
          <a:xfrm>
            <a:off x="7680960" y="3108960"/>
            <a:ext cx="3840480" cy="2377440"/>
          </a:xfrm>
          <a:prstGeom prst="rect">
            <a:avLst/>
          </a:prstGeom>
          <a:noFill/>
        </p:spPr>
        <p:txBody>
          <a:bodyPr wrap="square" anchor="t">
            <a:spAutoFit/>
          </a:bodyPr>
          <a:lstStyle/>
          <a:p>
            <a:pPr algn="l">
              <a:lnSpc>
                <a:spcPct val="135000"/>
              </a:lnSpc>
            </a:pPr>
            <a:r>
              <a:rPr sz="1450" b="0" i="0">
                <a:solidFill>
                  <a:srgbClr val="8B949E"/>
                </a:solidFill>
                <a:latin typeface="Arial"/>
              </a:rPr>
              <a:t>Real, recorded Midnight ecosystem</a:t>
            </a:r>
          </a:p>
          <a:p>
            <a:pPr algn="l">
              <a:lnSpc>
                <a:spcPct val="135000"/>
              </a:lnSpc>
            </a:pPr>
            <a:r>
              <a:rPr sz="1450" b="0" i="0">
                <a:solidFill>
                  <a:srgbClr val="8B949E"/>
                </a:solidFill>
                <a:latin typeface="Arial"/>
              </a:rPr>
              <a:t>data. The same engine live mode uses.</a:t>
            </a:r>
          </a:p>
          <a:p>
            <a:pPr algn="l">
              <a:lnSpc>
                <a:spcPct val="135000"/>
              </a:lnSpc>
            </a:pPr>
            <a:r>
              <a:rPr sz="1450" b="0" i="0">
                <a:solidFill>
                  <a:srgbClr val="8B949E"/>
                </a:solidFill>
                <a:latin typeface="Arial"/>
              </a:rPr>
              <a:t>No GitHub API, no rate limits, works</a:t>
            </a:r>
          </a:p>
          <a:p>
            <a:pPr algn="l">
              <a:lnSpc>
                <a:spcPct val="135000"/>
              </a:lnSpc>
            </a:pPr>
            <a:r>
              <a:rPr sz="1450" b="0" i="0">
                <a:solidFill>
                  <a:srgbClr val="8B949E"/>
                </a:solidFill>
                <a:latin typeface="Arial"/>
              </a:rPr>
              <a:t>in any judging room.</a:t>
            </a:r>
          </a:p>
        </p:txBody>
      </p:sp>
      <p:sp>
        <p:nvSpPr>
          <p:cNvPr id="8" name="Rounded Rectangle 7"/>
          <p:cNvSpPr/>
          <p:nvPr/>
        </p:nvSpPr>
        <p:spPr>
          <a:xfrm>
            <a:off x="822960" y="4800600"/>
            <a:ext cx="10607040" cy="1234440"/>
          </a:xfrm>
          <a:prstGeom prst="roundRect">
            <a:avLst>
              <a:gd name="adj" fmla="val 6000"/>
            </a:avLst>
          </a:prstGeom>
          <a:solidFill>
            <a:srgbClr val="1F142E"/>
          </a:solidFill>
          <a:ln w="127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983480"/>
            <a:ext cx="10058400" cy="914400"/>
          </a:xfrm>
          <a:prstGeom prst="rect">
            <a:avLst/>
          </a:prstGeom>
          <a:noFill/>
        </p:spPr>
        <p:txBody>
          <a:bodyPr wrap="square" anchor="t">
            <a:spAutoFit/>
          </a:bodyPr>
          <a:lstStyle/>
          <a:p>
            <a:pPr algn="l">
              <a:lnSpc>
                <a:spcPct val="135000"/>
              </a:lnSpc>
            </a:pPr>
            <a:r>
              <a:rPr sz="1600" b="1" i="0">
                <a:solidFill>
                  <a:srgbClr val="EDE9FE"/>
                </a:solidFill>
                <a:latin typeface="Arial"/>
              </a:rPr>
              <a:t>Deterministic. Evidence-cited. 411+ tests. One real, currently-open incompatibility</a:t>
            </a:r>
          </a:p>
          <a:p>
            <a:pPr algn="l">
              <a:lnSpc>
                <a:spcPct val="135000"/>
              </a:lnSpc>
            </a:pPr>
            <a:r>
              <a:rPr sz="1600" b="1" i="0">
                <a:solidFill>
                  <a:srgbClr val="EDE9FE"/>
                </a:solidFill>
                <a:latin typeface="Arial"/>
              </a:rPr>
              <a:t>found in Midnight's own reference template — automatically, before anyone else did.</a:t>
            </a:r>
          </a:p>
        </p:txBody>
      </p:sp>
      <p:sp>
        <p:nvSpPr>
          <p:cNvPr id="10" name="TextBox 9"/>
          <p:cNvSpPr txBox="1"/>
          <p:nvPr/>
        </p:nvSpPr>
        <p:spPr>
          <a:xfrm>
            <a:off x="640080" y="6473952"/>
            <a:ext cx="5486400" cy="320040"/>
          </a:xfrm>
          <a:prstGeom prst="rect">
            <a:avLst/>
          </a:prstGeom>
          <a:noFill/>
        </p:spPr>
        <p:txBody>
          <a:bodyPr wrap="square" anchor="t">
            <a:spAutoFit/>
          </a:bodyPr>
          <a:lstStyle/>
          <a:p>
            <a:pPr algn="l">
              <a:lnSpc>
                <a:spcPct val="115000"/>
              </a:lnSpc>
            </a:pPr>
            <a:r>
              <a:rPr sz="1000" b="0" i="0">
                <a:solidFill>
                  <a:srgbClr val="8B949E"/>
                </a:solidFill>
                <a:latin typeface="Arial"/>
              </a:rPr>
              <a:t>Midnight Compass</a:t>
            </a:r>
          </a:p>
        </p:txBody>
      </p:sp>
      <p:sp>
        <p:nvSpPr>
          <p:cNvPr id="11" name="TextBox 10"/>
          <p:cNvSpPr txBox="1"/>
          <p:nvPr/>
        </p:nvSpPr>
        <p:spPr>
          <a:xfrm>
            <a:off x="10881360" y="6473952"/>
            <a:ext cx="640080" cy="320040"/>
          </a:xfrm>
          <a:prstGeom prst="rect">
            <a:avLst/>
          </a:prstGeom>
          <a:noFill/>
        </p:spPr>
        <p:txBody>
          <a:bodyPr wrap="square" anchor="t">
            <a:spAutoFit/>
          </a:bodyPr>
          <a:lstStyle/>
          <a:p>
            <a:pPr algn="r">
              <a:lnSpc>
                <a:spcPct val="115000"/>
              </a:lnSpc>
            </a:pPr>
            <a:r>
              <a:rPr sz="1000" b="0" i="0">
                <a:solidFill>
                  <a:srgbClr val="8B949E"/>
                </a:solidFill>
                <a:latin typeface="Arial"/>
              </a:rPr>
              <a:t>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