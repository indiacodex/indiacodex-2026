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2" d="100"/>
          <a:sy n="92" d="100"/>
        </p:scale>
        <p:origin x="307"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nn Everglen" userId="61c4c625bbc574dc" providerId="LiveId" clId="{CABD23FE-0D28-4396-970B-B7B00D8CFE56}"/>
    <pc:docChg chg="undo custSel modSld">
      <pc:chgData name="Finn Everglen" userId="61c4c625bbc574dc" providerId="LiveId" clId="{CABD23FE-0D28-4396-970B-B7B00D8CFE56}" dt="2026-07-12T11:47:51.964" v="119" actId="20577"/>
      <pc:docMkLst>
        <pc:docMk/>
      </pc:docMkLst>
      <pc:sldChg chg="modSp mod">
        <pc:chgData name="Finn Everglen" userId="61c4c625bbc574dc" providerId="LiveId" clId="{CABD23FE-0D28-4396-970B-B7B00D8CFE56}" dt="2026-07-12T11:46:13.752" v="0" actId="1038"/>
        <pc:sldMkLst>
          <pc:docMk/>
          <pc:sldMk cId="0" sldId="256"/>
        </pc:sldMkLst>
        <pc:spChg chg="mod">
          <ac:chgData name="Finn Everglen" userId="61c4c625bbc574dc" providerId="LiveId" clId="{CABD23FE-0D28-4396-970B-B7B00D8CFE56}" dt="2026-07-12T11:46:13.752" v="0" actId="1038"/>
          <ac:spMkLst>
            <pc:docMk/>
            <pc:sldMk cId="0" sldId="256"/>
            <ac:spMk id="10" creationId="{00000000-0000-0000-0000-000000000000}"/>
          </ac:spMkLst>
        </pc:spChg>
      </pc:sldChg>
      <pc:sldChg chg="modSp mod">
        <pc:chgData name="Finn Everglen" userId="61c4c625bbc574dc" providerId="LiveId" clId="{CABD23FE-0D28-4396-970B-B7B00D8CFE56}" dt="2026-07-12T11:47:51.964" v="119" actId="20577"/>
        <pc:sldMkLst>
          <pc:docMk/>
          <pc:sldMk cId="0" sldId="261"/>
        </pc:sldMkLst>
        <pc:spChg chg="mod">
          <ac:chgData name="Finn Everglen" userId="61c4c625bbc574dc" providerId="LiveId" clId="{CABD23FE-0D28-4396-970B-B7B00D8CFE56}" dt="2026-07-12T11:47:51.964" v="119" actId="20577"/>
          <ac:spMkLst>
            <pc:docMk/>
            <pc:sldMk cId="0" sldId="261"/>
            <ac:spMk id="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2387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one-liner: OnChainIn is event-operations software with an optional Cardano trust layer. Stress the split up front - AI helps build the event, the app runs it, and Cardano proves attendance and payments. It's live on Vercel against Cardano Preprod, so judges can try it right now.</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Anchor the pain in something judges recognize: campus events glued together from Google Forms and Excel, fakeable attendance, PDF certificates with no proof, and prize money nobody can audit. Then show OnChainIn collapses all of that into one role-aware workspace with AI drafting and optional on-chain proof. Keep it fast - modes and chain detail come next.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design decision: not every event needs crypto, so there are two modes. Free mode is pure ops - great for a simple workshop, and certificates are honestly labeled as not blockchain-verified. Cardano mode adds a saved receive address, an optional ADA fee (which can be zero), ADA sponsorship and prizes, and wallet check-in that writes proof.</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division of labor clearly. Cardano - via Mesh and a CIP-30 wallet like Lace - writes to the chain: check-in is a self-send of about 1 ADA with metadata, so the participant keeps their ADA and only pays a tiny network fee, while fees, sponsorships, and prizes are real ADA transfers. Blockfrost is read-only: it confirms those transactions, verifies certificate hashes live, and shows balances. Land the honest line - we don't put the whole app on-chain.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architecture judges care about. Walk the stack: a React 19 + TypeScript + Vite + Tailwind front end, Groq for AI drafts, Supabase for multi-user shared data via the oci_store table, Cardano (Mesh + CIP-30/Lace on Preprod) for proof and ADA movement, Blockfrost to read the chain, all hosted on Vercel. Be honest that VITE_ keys live in the browser bundle - fine for a hackathon MVP, but production would proxy secrets server-side.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the two-minute happy path live if you can: create in a mode, apply, approve to a QR ticket, wallet check-in confirmed by Blockfrost, issue a certificate, and open the verify page - then optionally show a sponsor or prize ADA payout. Be upfront about the limits: Preprod test ADA, a simple demo login, and mobile needing a wallet in-app browser or the desk QR. Close on the ask - trusted campus events for Cardano India - with the live link and repo.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 y="-54864"/>
            <a:ext cx="12298680" cy="6967728"/>
          </a:xfrm>
          <a:prstGeom prst="rect">
            <a:avLst/>
          </a:prstGeom>
          <a:gradFill rotWithShape="1">
            <a:gsLst>
              <a:gs pos="0">
                <a:srgbClr val="8B5CF6"/>
              </a:gs>
              <a:gs pos="100000">
                <a:srgbClr val="4C1D95"/>
              </a:gs>
            </a:gsLst>
            <a:lin ang="13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052560" y="-1371600"/>
            <a:ext cx="4206240" cy="420624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645920" y="4572000"/>
            <a:ext cx="3474720" cy="3474720"/>
          </a:xfrm>
          <a:prstGeom prst="ellipse">
            <a:avLst/>
          </a:prstGeom>
          <a:solidFill>
            <a:srgbClr val="4C1D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22960" y="384048"/>
            <a:ext cx="310896" cy="310896"/>
          </a:xfrm>
          <a:prstGeom prst="roundRect">
            <a:avLst>
              <a:gd name="adj" fmla="val 28000"/>
            </a:avLst>
          </a:prstGeom>
          <a:solidFill>
            <a:srgbClr val="C4B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16152" y="365760"/>
            <a:ext cx="4572000" cy="365760"/>
          </a:xfrm>
          <a:prstGeom prst="rect">
            <a:avLst/>
          </a:prstGeom>
          <a:noFill/>
        </p:spPr>
        <p:txBody>
          <a:bodyPr wrap="square" lIns="0" tIns="0" rIns="0" bIns="0" anchor="ctr">
            <a:spAutoFit/>
          </a:bodyPr>
          <a:lstStyle/>
          <a:p>
            <a:r>
              <a:rPr sz="1500" b="1">
                <a:solidFill>
                  <a:srgbClr val="FFFFFF"/>
                </a:solidFill>
                <a:latin typeface="Space Grotesk"/>
              </a:rPr>
              <a:t>OnChainIn</a:t>
            </a:r>
          </a:p>
        </p:txBody>
      </p:sp>
      <p:sp>
        <p:nvSpPr>
          <p:cNvPr id="7" name="Rounded Rectangle 6"/>
          <p:cNvSpPr/>
          <p:nvPr/>
        </p:nvSpPr>
        <p:spPr>
          <a:xfrm>
            <a:off x="9281160" y="329184"/>
            <a:ext cx="2084831" cy="457200"/>
          </a:xfrm>
          <a:prstGeom prst="roundRect">
            <a:avLst>
              <a:gd name="adj" fmla="val 50000"/>
            </a:avLst>
          </a:prstGeom>
          <a:solidFill>
            <a:srgbClr val="4C1D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81160" y="329184"/>
            <a:ext cx="2084831" cy="457200"/>
          </a:xfrm>
          <a:prstGeom prst="rect">
            <a:avLst/>
          </a:prstGeom>
          <a:noFill/>
        </p:spPr>
        <p:txBody>
          <a:bodyPr wrap="square" lIns="0" tIns="0" rIns="0" bIns="0" anchor="ctr">
            <a:spAutoFit/>
          </a:bodyPr>
          <a:lstStyle/>
          <a:p>
            <a:pPr algn="ctr"/>
            <a:r>
              <a:rPr sz="1150" b="1">
                <a:solidFill>
                  <a:srgbClr val="FFFFFF"/>
                </a:solidFill>
                <a:latin typeface="Inter"/>
              </a:rPr>
              <a:t>●  Cardano · Preprod</a:t>
            </a:r>
          </a:p>
        </p:txBody>
      </p:sp>
      <p:sp>
        <p:nvSpPr>
          <p:cNvPr id="9" name="TextBox 8"/>
          <p:cNvSpPr txBox="1"/>
          <p:nvPr/>
        </p:nvSpPr>
        <p:spPr>
          <a:xfrm>
            <a:off x="841248" y="1965960"/>
            <a:ext cx="8229600" cy="365760"/>
          </a:xfrm>
          <a:prstGeom prst="rect">
            <a:avLst/>
          </a:prstGeom>
          <a:noFill/>
        </p:spPr>
        <p:txBody>
          <a:bodyPr wrap="square" lIns="0" tIns="0" rIns="0" bIns="0" anchor="t">
            <a:spAutoFit/>
          </a:bodyPr>
          <a:lstStyle/>
          <a:p>
            <a:pPr algn="l"/>
            <a:r>
              <a:rPr sz="1400" b="1">
                <a:solidFill>
                  <a:srgbClr val="DDD6FE"/>
                </a:solidFill>
                <a:latin typeface="Space Grotesk"/>
              </a:rPr>
              <a:t>INDIACODEX · CARDANO HACKATHON</a:t>
            </a:r>
          </a:p>
        </p:txBody>
      </p:sp>
      <p:sp>
        <p:nvSpPr>
          <p:cNvPr id="10" name="TextBox 9"/>
          <p:cNvSpPr txBox="1"/>
          <p:nvPr/>
        </p:nvSpPr>
        <p:spPr>
          <a:xfrm>
            <a:off x="785707" y="2286000"/>
            <a:ext cx="10789920" cy="1554480"/>
          </a:xfrm>
          <a:prstGeom prst="rect">
            <a:avLst/>
          </a:prstGeom>
          <a:noFill/>
        </p:spPr>
        <p:txBody>
          <a:bodyPr wrap="square" lIns="0" tIns="0" rIns="0" bIns="0" anchor="t">
            <a:spAutoFit/>
          </a:bodyPr>
          <a:lstStyle/>
          <a:p>
            <a:r>
              <a:rPr sz="7600" b="1">
                <a:solidFill>
                  <a:srgbClr val="FFFFFF"/>
                </a:solidFill>
                <a:latin typeface="Space Grotesk"/>
              </a:rPr>
              <a:t>OnChain</a:t>
            </a:r>
            <a:r>
              <a:rPr sz="7600" b="1">
                <a:solidFill>
                  <a:srgbClr val="C4B5FD"/>
                </a:solidFill>
                <a:latin typeface="Space Grotesk"/>
              </a:rPr>
              <a:t>In</a:t>
            </a:r>
          </a:p>
        </p:txBody>
      </p:sp>
      <p:sp>
        <p:nvSpPr>
          <p:cNvPr id="11" name="TextBox 10"/>
          <p:cNvSpPr txBox="1"/>
          <p:nvPr/>
        </p:nvSpPr>
        <p:spPr>
          <a:xfrm>
            <a:off x="822960" y="3977639"/>
            <a:ext cx="10058400" cy="640080"/>
          </a:xfrm>
          <a:prstGeom prst="rect">
            <a:avLst/>
          </a:prstGeom>
          <a:noFill/>
        </p:spPr>
        <p:txBody>
          <a:bodyPr wrap="square" lIns="0" tIns="0" rIns="0" bIns="0" anchor="t">
            <a:spAutoFit/>
          </a:bodyPr>
          <a:lstStyle/>
          <a:p>
            <a:pPr algn="l"/>
            <a:r>
              <a:rPr sz="2500" b="1">
                <a:solidFill>
                  <a:srgbClr val="FFFFFF"/>
                </a:solidFill>
                <a:latin typeface="Space Grotesk"/>
              </a:rPr>
              <a:t>Event operations + Cardano-verified attendance</a:t>
            </a:r>
          </a:p>
        </p:txBody>
      </p:sp>
      <p:sp>
        <p:nvSpPr>
          <p:cNvPr id="12" name="Rectangle 11"/>
          <p:cNvSpPr/>
          <p:nvPr/>
        </p:nvSpPr>
        <p:spPr>
          <a:xfrm>
            <a:off x="822960" y="4828032"/>
            <a:ext cx="64008" cy="914400"/>
          </a:xfrm>
          <a:prstGeom prst="rect">
            <a:avLst/>
          </a:prstGeom>
          <a:solidFill>
            <a:srgbClr val="C4B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4828032"/>
            <a:ext cx="9326880" cy="960120"/>
          </a:xfrm>
          <a:prstGeom prst="rect">
            <a:avLst/>
          </a:prstGeom>
          <a:noFill/>
        </p:spPr>
        <p:txBody>
          <a:bodyPr wrap="square" lIns="0" tIns="0" rIns="0" bIns="0" anchor="ctr">
            <a:spAutoFit/>
          </a:bodyPr>
          <a:lstStyle/>
          <a:p>
            <a:pPr algn="l">
              <a:lnSpc>
                <a:spcPct val="130000"/>
              </a:lnSpc>
            </a:pPr>
            <a:r>
              <a:rPr sz="1800" b="1">
                <a:solidFill>
                  <a:srgbClr val="FFFFFF"/>
                </a:solidFill>
                <a:latin typeface="Inter"/>
              </a:rPr>
              <a:t>AI builds the event. Cardano proves who showed up</a:t>
            </a:r>
            <a:r>
              <a:rPr sz="1800" b="0">
                <a:solidFill>
                  <a:srgbClr val="EDE9FE"/>
                </a:solidFill>
                <a:latin typeface="Inter"/>
              </a:rPr>
              <a:t> — and who got paid.</a:t>
            </a:r>
          </a:p>
        </p:txBody>
      </p:sp>
      <p:sp>
        <p:nvSpPr>
          <p:cNvPr id="14" name="TextBox 13"/>
          <p:cNvSpPr txBox="1"/>
          <p:nvPr/>
        </p:nvSpPr>
        <p:spPr>
          <a:xfrm>
            <a:off x="841248" y="6053328"/>
            <a:ext cx="10515600" cy="457200"/>
          </a:xfrm>
          <a:prstGeom prst="rect">
            <a:avLst/>
          </a:prstGeom>
          <a:noFill/>
        </p:spPr>
        <p:txBody>
          <a:bodyPr wrap="square" lIns="0" tIns="0" rIns="0" bIns="0" anchor="ctr">
            <a:spAutoFit/>
          </a:bodyPr>
          <a:lstStyle/>
          <a:p>
            <a:pPr algn="l"/>
            <a:r>
              <a:rPr sz="1350" b="1">
                <a:solidFill>
                  <a:srgbClr val="DDD6FE"/>
                </a:solidFill>
                <a:latin typeface="Space Grotesk"/>
              </a:rPr>
              <a:t>Live demo      ·      onchainin.vercel.app      ·      Cardano Preprod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 y="-54864"/>
            <a:ext cx="12298680" cy="6967728"/>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22960" y="384048"/>
            <a:ext cx="310896" cy="310896"/>
          </a:xfrm>
          <a:prstGeom prst="roundRect">
            <a:avLst>
              <a:gd name="adj" fmla="val 2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16152" y="365760"/>
            <a:ext cx="4572000" cy="365760"/>
          </a:xfrm>
          <a:prstGeom prst="rect">
            <a:avLst/>
          </a:prstGeom>
          <a:noFill/>
        </p:spPr>
        <p:txBody>
          <a:bodyPr wrap="square" lIns="0" tIns="0" rIns="0" bIns="0" anchor="ctr">
            <a:spAutoFit/>
          </a:bodyPr>
          <a:lstStyle/>
          <a:p>
            <a:r>
              <a:rPr sz="1500" b="1">
                <a:solidFill>
                  <a:srgbClr val="241C33"/>
                </a:solidFill>
                <a:latin typeface="Space Grotesk"/>
              </a:rPr>
              <a:t>On</a:t>
            </a:r>
            <a:r>
              <a:rPr sz="1500" b="1">
                <a:solidFill>
                  <a:srgbClr val="7C3AED"/>
                </a:solidFill>
                <a:latin typeface="Space Grotesk"/>
              </a:rPr>
              <a:t>Chain</a:t>
            </a:r>
            <a:r>
              <a:rPr sz="1500" b="1">
                <a:solidFill>
                  <a:srgbClr val="241C33"/>
                </a:solidFill>
                <a:latin typeface="Space Grotesk"/>
              </a:rPr>
              <a:t>In</a:t>
            </a:r>
          </a:p>
        </p:txBody>
      </p:sp>
      <p:sp>
        <p:nvSpPr>
          <p:cNvPr id="5" name="TextBox 4"/>
          <p:cNvSpPr txBox="1"/>
          <p:nvPr/>
        </p:nvSpPr>
        <p:spPr>
          <a:xfrm>
            <a:off x="6675120" y="420624"/>
            <a:ext cx="4599432" cy="320040"/>
          </a:xfrm>
          <a:prstGeom prst="rect">
            <a:avLst/>
          </a:prstGeom>
          <a:noFill/>
        </p:spPr>
        <p:txBody>
          <a:bodyPr wrap="square" lIns="0" tIns="0" rIns="0" bIns="0" anchor="ctr">
            <a:spAutoFit/>
          </a:bodyPr>
          <a:lstStyle/>
          <a:p>
            <a:pPr algn="r"/>
            <a:r>
              <a:rPr sz="1200" b="1">
                <a:solidFill>
                  <a:srgbClr val="8B8598"/>
                </a:solidFill>
                <a:latin typeface="Space Grotesk"/>
              </a:rPr>
              <a:t>02 · PROBLEM &amp; SOLUTION</a:t>
            </a:r>
          </a:p>
        </p:txBody>
      </p:sp>
      <p:sp>
        <p:nvSpPr>
          <p:cNvPr id="6" name="TextBox 5"/>
          <p:cNvSpPr txBox="1"/>
          <p:nvPr/>
        </p:nvSpPr>
        <p:spPr>
          <a:xfrm>
            <a:off x="822960" y="1170432"/>
            <a:ext cx="9144000" cy="320040"/>
          </a:xfrm>
          <a:prstGeom prst="rect">
            <a:avLst/>
          </a:prstGeom>
          <a:noFill/>
        </p:spPr>
        <p:txBody>
          <a:bodyPr wrap="square" lIns="0" tIns="0" rIns="0" bIns="0" anchor="t">
            <a:spAutoFit/>
          </a:bodyPr>
          <a:lstStyle/>
          <a:p>
            <a:pPr algn="l"/>
            <a:r>
              <a:rPr sz="1300" b="1">
                <a:solidFill>
                  <a:srgbClr val="7C3AED"/>
                </a:solidFill>
                <a:latin typeface="Space Grotesk"/>
              </a:rPr>
              <a:t>WHY THIS EXISTS</a:t>
            </a:r>
          </a:p>
        </p:txBody>
      </p:sp>
      <p:sp>
        <p:nvSpPr>
          <p:cNvPr id="7" name="TextBox 6"/>
          <p:cNvSpPr txBox="1"/>
          <p:nvPr/>
        </p:nvSpPr>
        <p:spPr>
          <a:xfrm>
            <a:off x="795528" y="1481328"/>
            <a:ext cx="10607040" cy="868680"/>
          </a:xfrm>
          <a:prstGeom prst="rect">
            <a:avLst/>
          </a:prstGeom>
          <a:noFill/>
        </p:spPr>
        <p:txBody>
          <a:bodyPr wrap="square" lIns="0" tIns="0" rIns="0" bIns="0" anchor="t">
            <a:spAutoFit/>
          </a:bodyPr>
          <a:lstStyle/>
          <a:p>
            <a:pPr algn="l"/>
            <a:r>
              <a:rPr sz="3300" b="1">
                <a:solidFill>
                  <a:srgbClr val="241C33"/>
                </a:solidFill>
                <a:latin typeface="Space Grotesk"/>
              </a:rPr>
              <a:t>Problem &amp; Solution</a:t>
            </a:r>
          </a:p>
        </p:txBody>
      </p:sp>
      <p:sp>
        <p:nvSpPr>
          <p:cNvPr id="8" name="TextBox 7"/>
          <p:cNvSpPr txBox="1"/>
          <p:nvPr/>
        </p:nvSpPr>
        <p:spPr>
          <a:xfrm>
            <a:off x="822960" y="2304288"/>
            <a:ext cx="10058400" cy="548640"/>
          </a:xfrm>
          <a:prstGeom prst="rect">
            <a:avLst/>
          </a:prstGeom>
          <a:noFill/>
        </p:spPr>
        <p:txBody>
          <a:bodyPr wrap="square" lIns="0" tIns="0" rIns="0" bIns="0" anchor="t">
            <a:spAutoFit/>
          </a:bodyPr>
          <a:lstStyle/>
          <a:p>
            <a:pPr algn="l">
              <a:lnSpc>
                <a:spcPct val="125000"/>
              </a:lnSpc>
            </a:pPr>
            <a:r>
              <a:rPr sz="1400" b="0">
                <a:solidFill>
                  <a:srgbClr val="5F5872"/>
                </a:solidFill>
                <a:latin typeface="Inter"/>
              </a:rPr>
              <a:t>Campus events are run on duct tape. OnChainIn turns the chaos into one workspace — with proof where it matters.</a:t>
            </a:r>
          </a:p>
        </p:txBody>
      </p:sp>
      <p:sp>
        <p:nvSpPr>
          <p:cNvPr id="9" name="Rounded Rectangle 8"/>
          <p:cNvSpPr/>
          <p:nvPr/>
        </p:nvSpPr>
        <p:spPr>
          <a:xfrm>
            <a:off x="822960" y="2852928"/>
            <a:ext cx="5120640" cy="3310128"/>
          </a:xfrm>
          <a:prstGeom prst="roundRect">
            <a:avLst>
              <a:gd name="adj" fmla="val 4500"/>
            </a:avLst>
          </a:prstGeom>
          <a:solidFill>
            <a:srgbClr val="FFFFFF"/>
          </a:solidFill>
          <a:ln w="15240">
            <a:solidFill>
              <a:srgbClr val="EBDF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5568" y="3108960"/>
            <a:ext cx="4480560" cy="685800"/>
          </a:xfrm>
          <a:prstGeom prst="rect">
            <a:avLst/>
          </a:prstGeom>
          <a:noFill/>
        </p:spPr>
        <p:txBody>
          <a:bodyPr wrap="square" lIns="0" tIns="0" rIns="0" bIns="0" anchor="t">
            <a:spAutoFit/>
          </a:bodyPr>
          <a:lstStyle/>
          <a:p>
            <a:pPr algn="l"/>
            <a:r>
              <a:rPr sz="1100" b="1">
                <a:solidFill>
                  <a:srgbClr val="B4791F"/>
                </a:solidFill>
                <a:latin typeface="Space Grotesk"/>
              </a:rPr>
              <a:t>TODAY</a:t>
            </a:r>
          </a:p>
          <a:p>
            <a:pPr algn="l">
              <a:spcBef>
                <a:spcPts val="200"/>
              </a:spcBef>
              <a:spcAft>
                <a:spcPts val="0"/>
              </a:spcAft>
            </a:pPr>
            <a:r>
              <a:rPr sz="2100" b="1">
                <a:solidFill>
                  <a:srgbClr val="241C33"/>
                </a:solidFill>
                <a:latin typeface="Space Grotesk"/>
              </a:rPr>
              <a:t>The mess</a:t>
            </a:r>
          </a:p>
        </p:txBody>
      </p:sp>
      <p:sp>
        <p:nvSpPr>
          <p:cNvPr id="11" name="TextBox 10"/>
          <p:cNvSpPr txBox="1"/>
          <p:nvPr/>
        </p:nvSpPr>
        <p:spPr>
          <a:xfrm>
            <a:off x="1115568" y="3904487"/>
            <a:ext cx="4572000" cy="2121408"/>
          </a:xfrm>
          <a:prstGeom prst="rect">
            <a:avLst/>
          </a:prstGeom>
          <a:noFill/>
        </p:spPr>
        <p:txBody>
          <a:bodyPr wrap="square" lIns="0" tIns="0" rIns="0" bIns="0" anchor="t">
            <a:spAutoFit/>
          </a:bodyPr>
          <a:lstStyle/>
          <a:p>
            <a:pPr>
              <a:lnSpc>
                <a:spcPct val="105000"/>
              </a:lnSpc>
              <a:spcAft>
                <a:spcPts val="700"/>
              </a:spcAft>
            </a:pPr>
            <a:r>
              <a:rPr sz="1350" b="1">
                <a:solidFill>
                  <a:srgbClr val="B4791F"/>
                </a:solidFill>
                <a:latin typeface="Inter"/>
              </a:rPr>
              <a:t>•  </a:t>
            </a:r>
            <a:r>
              <a:rPr sz="1350" b="0">
                <a:solidFill>
                  <a:srgbClr val="241C33"/>
                </a:solidFill>
                <a:latin typeface="Inter"/>
              </a:rPr>
              <a:t>Events run on </a:t>
            </a:r>
            <a:r>
              <a:rPr sz="1350" b="1">
                <a:solidFill>
                  <a:srgbClr val="241C33"/>
                </a:solidFill>
                <a:latin typeface="Inter"/>
              </a:rPr>
              <a:t>Google Forms + Excel</a:t>
            </a:r>
          </a:p>
          <a:p>
            <a:pPr>
              <a:lnSpc>
                <a:spcPct val="105000"/>
              </a:lnSpc>
              <a:spcAft>
                <a:spcPts val="700"/>
              </a:spcAft>
            </a:pPr>
            <a:r>
              <a:rPr sz="1350" b="1">
                <a:solidFill>
                  <a:srgbClr val="B4791F"/>
                </a:solidFill>
                <a:latin typeface="Inter"/>
              </a:rPr>
              <a:t>•  </a:t>
            </a:r>
            <a:r>
              <a:rPr sz="1350" b="0">
                <a:solidFill>
                  <a:srgbClr val="241C33"/>
                </a:solidFill>
                <a:latin typeface="Inter"/>
              </a:rPr>
              <a:t>Attendance is </a:t>
            </a:r>
            <a:r>
              <a:rPr sz="1350" b="1">
                <a:solidFill>
                  <a:srgbClr val="241C33"/>
                </a:solidFill>
                <a:latin typeface="Inter"/>
              </a:rPr>
              <a:t>easy to fake</a:t>
            </a:r>
          </a:p>
          <a:p>
            <a:pPr>
              <a:lnSpc>
                <a:spcPct val="105000"/>
              </a:lnSpc>
              <a:spcAft>
                <a:spcPts val="700"/>
              </a:spcAft>
            </a:pPr>
            <a:r>
              <a:rPr sz="1350" b="1">
                <a:solidFill>
                  <a:srgbClr val="B4791F"/>
                </a:solidFill>
                <a:latin typeface="Inter"/>
              </a:rPr>
              <a:t>•  </a:t>
            </a:r>
            <a:r>
              <a:rPr sz="1350" b="0">
                <a:solidFill>
                  <a:srgbClr val="241C33"/>
                </a:solidFill>
                <a:latin typeface="Inter"/>
              </a:rPr>
              <a:t>Certificates are just PDFs — </a:t>
            </a:r>
            <a:r>
              <a:rPr sz="1350" b="1">
                <a:solidFill>
                  <a:srgbClr val="241C33"/>
                </a:solidFill>
                <a:latin typeface="Inter"/>
              </a:rPr>
              <a:t>no proof</a:t>
            </a:r>
          </a:p>
          <a:p>
            <a:pPr>
              <a:lnSpc>
                <a:spcPct val="105000"/>
              </a:lnSpc>
              <a:spcAft>
                <a:spcPts val="700"/>
              </a:spcAft>
            </a:pPr>
            <a:r>
              <a:rPr sz="1350" b="1">
                <a:solidFill>
                  <a:srgbClr val="B4791F"/>
                </a:solidFill>
                <a:latin typeface="Inter"/>
              </a:rPr>
              <a:t>•  </a:t>
            </a:r>
            <a:r>
              <a:rPr sz="1350" b="0">
                <a:solidFill>
                  <a:srgbClr val="241C33"/>
                </a:solidFill>
                <a:latin typeface="Inter"/>
              </a:rPr>
              <a:t>Prizes &amp; sponsorship are </a:t>
            </a:r>
            <a:r>
              <a:rPr sz="1350" b="1">
                <a:solidFill>
                  <a:srgbClr val="241C33"/>
                </a:solidFill>
                <a:latin typeface="Inter"/>
              </a:rPr>
              <a:t>hard to audit</a:t>
            </a:r>
          </a:p>
        </p:txBody>
      </p:sp>
      <p:sp>
        <p:nvSpPr>
          <p:cNvPr id="12" name="Rounded Rectangle 11"/>
          <p:cNvSpPr/>
          <p:nvPr/>
        </p:nvSpPr>
        <p:spPr>
          <a:xfrm>
            <a:off x="6245352" y="2852928"/>
            <a:ext cx="5120640" cy="3310128"/>
          </a:xfrm>
          <a:prstGeom prst="roundRect">
            <a:avLst>
              <a:gd name="adj" fmla="val 4500"/>
            </a:avLst>
          </a:prstGeom>
          <a:solidFill>
            <a:srgbClr val="FBFAFF"/>
          </a:solidFill>
          <a:ln w="15240">
            <a:solidFill>
              <a:srgbClr val="EDE9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60" y="3108960"/>
            <a:ext cx="4480560" cy="685800"/>
          </a:xfrm>
          <a:prstGeom prst="rect">
            <a:avLst/>
          </a:prstGeom>
          <a:noFill/>
        </p:spPr>
        <p:txBody>
          <a:bodyPr wrap="square" lIns="0" tIns="0" rIns="0" bIns="0" anchor="t">
            <a:spAutoFit/>
          </a:bodyPr>
          <a:lstStyle/>
          <a:p>
            <a:pPr algn="l"/>
            <a:r>
              <a:rPr sz="1100" b="1">
                <a:solidFill>
                  <a:srgbClr val="7C3AED"/>
                </a:solidFill>
                <a:latin typeface="Space Grotesk"/>
              </a:rPr>
              <a:t>ONCHAININ</a:t>
            </a:r>
          </a:p>
          <a:p>
            <a:pPr algn="l">
              <a:spcBef>
                <a:spcPts val="200"/>
              </a:spcBef>
              <a:spcAft>
                <a:spcPts val="0"/>
              </a:spcAft>
            </a:pPr>
            <a:r>
              <a:rPr sz="2100" b="1">
                <a:solidFill>
                  <a:srgbClr val="241C33"/>
                </a:solidFill>
                <a:latin typeface="Space Grotesk"/>
              </a:rPr>
              <a:t>The fix</a:t>
            </a:r>
          </a:p>
        </p:txBody>
      </p:sp>
      <p:sp>
        <p:nvSpPr>
          <p:cNvPr id="14" name="TextBox 13"/>
          <p:cNvSpPr txBox="1"/>
          <p:nvPr/>
        </p:nvSpPr>
        <p:spPr>
          <a:xfrm>
            <a:off x="6537960" y="3904487"/>
            <a:ext cx="4572000" cy="2121408"/>
          </a:xfrm>
          <a:prstGeom prst="rect">
            <a:avLst/>
          </a:prstGeom>
          <a:noFill/>
        </p:spPr>
        <p:txBody>
          <a:bodyPr wrap="square" lIns="0" tIns="0" rIns="0" bIns="0" anchor="t">
            <a:spAutoFit/>
          </a:bodyPr>
          <a:lstStyle/>
          <a:p>
            <a:pPr>
              <a:lnSpc>
                <a:spcPct val="105000"/>
              </a:lnSpc>
              <a:spcAft>
                <a:spcPts val="500"/>
              </a:spcAft>
            </a:pPr>
            <a:r>
              <a:rPr sz="1300" b="1">
                <a:solidFill>
                  <a:srgbClr val="7C3AED"/>
                </a:solidFill>
                <a:latin typeface="Inter"/>
              </a:rPr>
              <a:t>•  </a:t>
            </a:r>
            <a:r>
              <a:rPr sz="1300" b="0">
                <a:solidFill>
                  <a:srgbClr val="241C33"/>
                </a:solidFill>
                <a:latin typeface="Inter"/>
              </a:rPr>
              <a:t>One workspace for </a:t>
            </a:r>
            <a:r>
              <a:rPr sz="1300" b="1">
                <a:solidFill>
                  <a:srgbClr val="241C33"/>
                </a:solidFill>
                <a:latin typeface="Inter"/>
              </a:rPr>
              <a:t>every role</a:t>
            </a:r>
          </a:p>
          <a:p>
            <a:pPr>
              <a:lnSpc>
                <a:spcPct val="105000"/>
              </a:lnSpc>
              <a:spcAft>
                <a:spcPts val="500"/>
              </a:spcAft>
            </a:pPr>
            <a:r>
              <a:rPr sz="1300" b="1">
                <a:solidFill>
                  <a:srgbClr val="7C3AED"/>
                </a:solidFill>
                <a:latin typeface="Inter"/>
              </a:rPr>
              <a:t>•  </a:t>
            </a:r>
            <a:r>
              <a:rPr sz="1300" b="1">
                <a:solidFill>
                  <a:srgbClr val="241C33"/>
                </a:solidFill>
                <a:latin typeface="Inter"/>
              </a:rPr>
              <a:t>Groq AI</a:t>
            </a:r>
            <a:r>
              <a:rPr sz="1300" b="0">
                <a:solidFill>
                  <a:srgbClr val="241C33"/>
                </a:solidFill>
                <a:latin typeface="Inter"/>
              </a:rPr>
              <a:t> drafts the event from a prompt</a:t>
            </a:r>
          </a:p>
          <a:p>
            <a:pPr>
              <a:lnSpc>
                <a:spcPct val="105000"/>
              </a:lnSpc>
              <a:spcAft>
                <a:spcPts val="500"/>
              </a:spcAft>
            </a:pPr>
            <a:r>
              <a:rPr sz="1300" b="1">
                <a:solidFill>
                  <a:srgbClr val="7C3AED"/>
                </a:solidFill>
                <a:latin typeface="Inter"/>
              </a:rPr>
              <a:t>•  </a:t>
            </a:r>
            <a:r>
              <a:rPr sz="1300" b="0">
                <a:solidFill>
                  <a:srgbClr val="241C33"/>
                </a:solidFill>
                <a:latin typeface="Inter"/>
              </a:rPr>
              <a:t>QR desk check-in + </a:t>
            </a:r>
            <a:r>
              <a:rPr sz="1300" b="1">
                <a:solidFill>
                  <a:srgbClr val="241C33"/>
                </a:solidFill>
                <a:latin typeface="Inter"/>
              </a:rPr>
              <a:t>optional wallet check-in</a:t>
            </a:r>
          </a:p>
          <a:p>
            <a:pPr>
              <a:lnSpc>
                <a:spcPct val="105000"/>
              </a:lnSpc>
              <a:spcAft>
                <a:spcPts val="500"/>
              </a:spcAft>
            </a:pPr>
            <a:r>
              <a:rPr sz="1300" b="1">
                <a:solidFill>
                  <a:srgbClr val="7C3AED"/>
                </a:solidFill>
                <a:latin typeface="Inter"/>
              </a:rPr>
              <a:t>•  </a:t>
            </a:r>
            <a:r>
              <a:rPr sz="1300" b="0">
                <a:solidFill>
                  <a:srgbClr val="241C33"/>
                </a:solidFill>
                <a:latin typeface="Inter"/>
              </a:rPr>
              <a:t>Certificates with a </a:t>
            </a:r>
            <a:r>
              <a:rPr sz="1300" b="1">
                <a:solidFill>
                  <a:srgbClr val="241C33"/>
                </a:solidFill>
                <a:latin typeface="Inter"/>
              </a:rPr>
              <a:t>public verify page</a:t>
            </a:r>
          </a:p>
          <a:p>
            <a:pPr>
              <a:lnSpc>
                <a:spcPct val="105000"/>
              </a:lnSpc>
              <a:spcAft>
                <a:spcPts val="500"/>
              </a:spcAft>
            </a:pPr>
            <a:r>
              <a:rPr sz="1300" b="1">
                <a:solidFill>
                  <a:srgbClr val="7C3AED"/>
                </a:solidFill>
                <a:latin typeface="Inter"/>
              </a:rPr>
              <a:t>•  </a:t>
            </a:r>
            <a:r>
              <a:rPr sz="1300" b="1">
                <a:solidFill>
                  <a:srgbClr val="241C33"/>
                </a:solidFill>
                <a:latin typeface="Inter"/>
              </a:rPr>
              <a:t>Free mode</a:t>
            </a:r>
            <a:r>
              <a:rPr sz="1300" b="0">
                <a:solidFill>
                  <a:srgbClr val="241C33"/>
                </a:solidFill>
                <a:latin typeface="Inter"/>
              </a:rPr>
              <a:t> or </a:t>
            </a:r>
            <a:r>
              <a:rPr sz="1300" b="1">
                <a:solidFill>
                  <a:srgbClr val="241C33"/>
                </a:solidFill>
                <a:latin typeface="Inter"/>
              </a:rPr>
              <a:t>Cardano (ADA) mode</a:t>
            </a:r>
          </a:p>
          <a:p>
            <a:pPr>
              <a:lnSpc>
                <a:spcPct val="105000"/>
              </a:lnSpc>
              <a:spcAft>
                <a:spcPts val="500"/>
              </a:spcAft>
            </a:pPr>
            <a:r>
              <a:rPr sz="1300" b="1">
                <a:solidFill>
                  <a:srgbClr val="7C3AED"/>
                </a:solidFill>
                <a:latin typeface="Inter"/>
              </a:rPr>
              <a:t>•  </a:t>
            </a:r>
            <a:r>
              <a:rPr sz="1300" b="0">
                <a:solidFill>
                  <a:srgbClr val="241C33"/>
                </a:solidFill>
                <a:latin typeface="Inter"/>
              </a:rPr>
              <a:t>Multi-user cloud on </a:t>
            </a:r>
            <a:r>
              <a:rPr sz="1300" b="1">
                <a:solidFill>
                  <a:srgbClr val="241C33"/>
                </a:solidFill>
                <a:latin typeface="Inter"/>
              </a:rPr>
              <a:t>Supabase + Vercel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 y="-54864"/>
            <a:ext cx="12298680" cy="6967728"/>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22960" y="384048"/>
            <a:ext cx="310896" cy="310896"/>
          </a:xfrm>
          <a:prstGeom prst="roundRect">
            <a:avLst>
              <a:gd name="adj" fmla="val 2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16152" y="365760"/>
            <a:ext cx="4572000" cy="365760"/>
          </a:xfrm>
          <a:prstGeom prst="rect">
            <a:avLst/>
          </a:prstGeom>
          <a:noFill/>
        </p:spPr>
        <p:txBody>
          <a:bodyPr wrap="square" lIns="0" tIns="0" rIns="0" bIns="0" anchor="ctr">
            <a:spAutoFit/>
          </a:bodyPr>
          <a:lstStyle/>
          <a:p>
            <a:r>
              <a:rPr sz="1500" b="1">
                <a:solidFill>
                  <a:srgbClr val="241C33"/>
                </a:solidFill>
                <a:latin typeface="Space Grotesk"/>
              </a:rPr>
              <a:t>On</a:t>
            </a:r>
            <a:r>
              <a:rPr sz="1500" b="1">
                <a:solidFill>
                  <a:srgbClr val="7C3AED"/>
                </a:solidFill>
                <a:latin typeface="Space Grotesk"/>
              </a:rPr>
              <a:t>Chain</a:t>
            </a:r>
            <a:r>
              <a:rPr sz="1500" b="1">
                <a:solidFill>
                  <a:srgbClr val="241C33"/>
                </a:solidFill>
                <a:latin typeface="Space Grotesk"/>
              </a:rPr>
              <a:t>In</a:t>
            </a:r>
          </a:p>
        </p:txBody>
      </p:sp>
      <p:sp>
        <p:nvSpPr>
          <p:cNvPr id="5" name="TextBox 4"/>
          <p:cNvSpPr txBox="1"/>
          <p:nvPr/>
        </p:nvSpPr>
        <p:spPr>
          <a:xfrm>
            <a:off x="6675120" y="420624"/>
            <a:ext cx="4599432" cy="320040"/>
          </a:xfrm>
          <a:prstGeom prst="rect">
            <a:avLst/>
          </a:prstGeom>
          <a:noFill/>
        </p:spPr>
        <p:txBody>
          <a:bodyPr wrap="square" lIns="0" tIns="0" rIns="0" bIns="0" anchor="ctr">
            <a:spAutoFit/>
          </a:bodyPr>
          <a:lstStyle/>
          <a:p>
            <a:pPr algn="r"/>
            <a:r>
              <a:rPr sz="1200" b="1">
                <a:solidFill>
                  <a:srgbClr val="8B8598"/>
                </a:solidFill>
                <a:latin typeface="Space Grotesk"/>
              </a:rPr>
              <a:t>03 · TWO MODES</a:t>
            </a:r>
          </a:p>
        </p:txBody>
      </p:sp>
      <p:sp>
        <p:nvSpPr>
          <p:cNvPr id="6" name="TextBox 5"/>
          <p:cNvSpPr txBox="1"/>
          <p:nvPr/>
        </p:nvSpPr>
        <p:spPr>
          <a:xfrm>
            <a:off x="822960" y="1170432"/>
            <a:ext cx="9144000" cy="320040"/>
          </a:xfrm>
          <a:prstGeom prst="rect">
            <a:avLst/>
          </a:prstGeom>
          <a:noFill/>
        </p:spPr>
        <p:txBody>
          <a:bodyPr wrap="square" lIns="0" tIns="0" rIns="0" bIns="0" anchor="t">
            <a:spAutoFit/>
          </a:bodyPr>
          <a:lstStyle/>
          <a:p>
            <a:pPr algn="l"/>
            <a:r>
              <a:rPr sz="1300" b="1">
                <a:solidFill>
                  <a:srgbClr val="7C3AED"/>
                </a:solidFill>
                <a:latin typeface="Space Grotesk"/>
              </a:rPr>
              <a:t>NOT EVERY EVENT NEEDS CRYPTO</a:t>
            </a:r>
          </a:p>
        </p:txBody>
      </p:sp>
      <p:sp>
        <p:nvSpPr>
          <p:cNvPr id="7" name="TextBox 6"/>
          <p:cNvSpPr txBox="1"/>
          <p:nvPr/>
        </p:nvSpPr>
        <p:spPr>
          <a:xfrm>
            <a:off x="795528" y="1481328"/>
            <a:ext cx="10607040" cy="868680"/>
          </a:xfrm>
          <a:prstGeom prst="rect">
            <a:avLst/>
          </a:prstGeom>
          <a:noFill/>
        </p:spPr>
        <p:txBody>
          <a:bodyPr wrap="square" lIns="0" tIns="0" rIns="0" bIns="0" anchor="t">
            <a:spAutoFit/>
          </a:bodyPr>
          <a:lstStyle/>
          <a:p>
            <a:pPr algn="l"/>
            <a:r>
              <a:rPr sz="3300" b="1">
                <a:solidFill>
                  <a:srgbClr val="241C33"/>
                </a:solidFill>
                <a:latin typeface="Space Grotesk"/>
              </a:rPr>
              <a:t>Two Event Modes</a:t>
            </a:r>
          </a:p>
        </p:txBody>
      </p:sp>
      <p:sp>
        <p:nvSpPr>
          <p:cNvPr id="8" name="TextBox 7"/>
          <p:cNvSpPr txBox="1"/>
          <p:nvPr/>
        </p:nvSpPr>
        <p:spPr>
          <a:xfrm>
            <a:off x="822960" y="2304288"/>
            <a:ext cx="10058400" cy="548640"/>
          </a:xfrm>
          <a:prstGeom prst="rect">
            <a:avLst/>
          </a:prstGeom>
          <a:noFill/>
        </p:spPr>
        <p:txBody>
          <a:bodyPr wrap="square" lIns="0" tIns="0" rIns="0" bIns="0" anchor="t">
            <a:spAutoFit/>
          </a:bodyPr>
          <a:lstStyle/>
          <a:p>
            <a:pPr algn="l">
              <a:lnSpc>
                <a:spcPct val="125000"/>
              </a:lnSpc>
            </a:pPr>
            <a:r>
              <a:rPr sz="1400" b="0">
                <a:solidFill>
                  <a:srgbClr val="5F5872"/>
                </a:solidFill>
                <a:latin typeface="Inter"/>
              </a:rPr>
              <a:t>Pick per event. Same clean ops in both — the chain layer is opt-in.</a:t>
            </a:r>
          </a:p>
        </p:txBody>
      </p:sp>
      <p:sp>
        <p:nvSpPr>
          <p:cNvPr id="9" name="Rounded Rectangle 8"/>
          <p:cNvSpPr/>
          <p:nvPr/>
        </p:nvSpPr>
        <p:spPr>
          <a:xfrm>
            <a:off x="822960" y="2852928"/>
            <a:ext cx="5120640" cy="3310128"/>
          </a:xfrm>
          <a:prstGeom prst="roundRect">
            <a:avLst>
              <a:gd name="adj" fmla="val 4500"/>
            </a:avLst>
          </a:prstGeom>
          <a:solidFill>
            <a:srgbClr val="FFFFFF"/>
          </a:solidFill>
          <a:ln w="15240">
            <a:solidFill>
              <a:srgbClr val="EBDF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5568" y="3108960"/>
            <a:ext cx="4480560" cy="685800"/>
          </a:xfrm>
          <a:prstGeom prst="rect">
            <a:avLst/>
          </a:prstGeom>
          <a:noFill/>
        </p:spPr>
        <p:txBody>
          <a:bodyPr wrap="square" lIns="0" tIns="0" rIns="0" bIns="0" anchor="t">
            <a:spAutoFit/>
          </a:bodyPr>
          <a:lstStyle/>
          <a:p>
            <a:pPr algn="l"/>
            <a:r>
              <a:rPr sz="1100" b="1">
                <a:solidFill>
                  <a:srgbClr val="5F5872"/>
                </a:solidFill>
                <a:latin typeface="Space Grotesk"/>
              </a:rPr>
              <a:t>MODE A</a:t>
            </a:r>
          </a:p>
          <a:p>
            <a:pPr algn="l">
              <a:spcBef>
                <a:spcPts val="200"/>
              </a:spcBef>
              <a:spcAft>
                <a:spcPts val="0"/>
              </a:spcAft>
            </a:pPr>
            <a:r>
              <a:rPr sz="2100" b="1">
                <a:solidFill>
                  <a:srgbClr val="241C33"/>
                </a:solidFill>
                <a:latin typeface="Space Grotesk"/>
              </a:rPr>
              <a:t>Free event</a:t>
            </a:r>
          </a:p>
        </p:txBody>
      </p:sp>
      <p:sp>
        <p:nvSpPr>
          <p:cNvPr id="11" name="TextBox 10"/>
          <p:cNvSpPr txBox="1"/>
          <p:nvPr/>
        </p:nvSpPr>
        <p:spPr>
          <a:xfrm>
            <a:off x="1115568" y="3904487"/>
            <a:ext cx="4572000" cy="2121408"/>
          </a:xfrm>
          <a:prstGeom prst="rect">
            <a:avLst/>
          </a:prstGeom>
          <a:noFill/>
        </p:spPr>
        <p:txBody>
          <a:bodyPr wrap="square" lIns="0" tIns="0" rIns="0" bIns="0" anchor="t">
            <a:spAutoFit/>
          </a:bodyPr>
          <a:lstStyle/>
          <a:p>
            <a:pPr>
              <a:lnSpc>
                <a:spcPct val="105000"/>
              </a:lnSpc>
              <a:spcAft>
                <a:spcPts val="700"/>
              </a:spcAft>
            </a:pPr>
            <a:r>
              <a:rPr sz="1300" b="1">
                <a:solidFill>
                  <a:srgbClr val="5F5872"/>
                </a:solidFill>
                <a:latin typeface="Inter"/>
              </a:rPr>
              <a:t>•  </a:t>
            </a:r>
            <a:r>
              <a:rPr sz="1300" b="0">
                <a:solidFill>
                  <a:srgbClr val="241C33"/>
                </a:solidFill>
                <a:latin typeface="Inter"/>
              </a:rPr>
              <a:t>Applications, approval, tickets, QR, volunteers</a:t>
            </a:r>
          </a:p>
          <a:p>
            <a:pPr>
              <a:lnSpc>
                <a:spcPct val="105000"/>
              </a:lnSpc>
              <a:spcAft>
                <a:spcPts val="700"/>
              </a:spcAft>
            </a:pPr>
            <a:r>
              <a:rPr sz="1300" b="1">
                <a:solidFill>
                  <a:srgbClr val="5F5872"/>
                </a:solidFill>
                <a:latin typeface="Inter"/>
              </a:rPr>
              <a:t>•  </a:t>
            </a:r>
            <a:r>
              <a:rPr sz="1300" b="0">
                <a:solidFill>
                  <a:srgbClr val="241C33"/>
                </a:solidFill>
                <a:latin typeface="Inter"/>
              </a:rPr>
              <a:t>No ADA fees, sponsorship, or prizes</a:t>
            </a:r>
          </a:p>
          <a:p>
            <a:pPr>
              <a:lnSpc>
                <a:spcPct val="105000"/>
              </a:lnSpc>
              <a:spcAft>
                <a:spcPts val="700"/>
              </a:spcAft>
            </a:pPr>
            <a:r>
              <a:rPr sz="1300" b="1">
                <a:solidFill>
                  <a:srgbClr val="5F5872"/>
                </a:solidFill>
                <a:latin typeface="Inter"/>
              </a:rPr>
              <a:t>•  </a:t>
            </a:r>
            <a:r>
              <a:rPr sz="1300" b="0">
                <a:solidFill>
                  <a:srgbClr val="241C33"/>
                </a:solidFill>
                <a:latin typeface="Inter"/>
              </a:rPr>
              <a:t>Certificates are </a:t>
            </a:r>
            <a:r>
              <a:rPr sz="1300" b="1">
                <a:solidFill>
                  <a:srgbClr val="241C33"/>
                </a:solidFill>
                <a:latin typeface="Inter"/>
              </a:rPr>
              <a:t>app-only</a:t>
            </a:r>
            <a:r>
              <a:rPr sz="1300" b="0">
                <a:solidFill>
                  <a:srgbClr val="241C33"/>
                </a:solidFill>
                <a:latin typeface="Inter"/>
              </a:rPr>
              <a:t> (not blockchain-verified)</a:t>
            </a:r>
          </a:p>
          <a:p>
            <a:pPr>
              <a:lnSpc>
                <a:spcPct val="105000"/>
              </a:lnSpc>
              <a:spcAft>
                <a:spcPts val="700"/>
              </a:spcAft>
            </a:pPr>
            <a:r>
              <a:rPr sz="1300" b="1">
                <a:solidFill>
                  <a:srgbClr val="5F5872"/>
                </a:solidFill>
                <a:latin typeface="Inter"/>
              </a:rPr>
              <a:t>•  </a:t>
            </a:r>
            <a:r>
              <a:rPr sz="1300" b="0">
                <a:solidFill>
                  <a:srgbClr val="241C33"/>
                </a:solidFill>
                <a:latin typeface="Inter"/>
              </a:rPr>
              <a:t>Best for simple workshops — </a:t>
            </a:r>
            <a:r>
              <a:rPr sz="1300" b="1">
                <a:solidFill>
                  <a:srgbClr val="241C33"/>
                </a:solidFill>
                <a:latin typeface="Inter"/>
              </a:rPr>
              <a:t>ops without chain</a:t>
            </a:r>
          </a:p>
        </p:txBody>
      </p:sp>
      <p:sp>
        <p:nvSpPr>
          <p:cNvPr id="12" name="Rounded Rectangle 11"/>
          <p:cNvSpPr/>
          <p:nvPr/>
        </p:nvSpPr>
        <p:spPr>
          <a:xfrm>
            <a:off x="6245352" y="2852928"/>
            <a:ext cx="5120640" cy="3310128"/>
          </a:xfrm>
          <a:prstGeom prst="roundRect">
            <a:avLst>
              <a:gd name="adj" fmla="val 4500"/>
            </a:avLst>
          </a:prstGeom>
          <a:solidFill>
            <a:srgbClr val="FBFAFF"/>
          </a:solidFill>
          <a:ln w="15240">
            <a:solidFill>
              <a:srgbClr val="EDE9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60" y="3108960"/>
            <a:ext cx="4480560" cy="685800"/>
          </a:xfrm>
          <a:prstGeom prst="rect">
            <a:avLst/>
          </a:prstGeom>
          <a:noFill/>
        </p:spPr>
        <p:txBody>
          <a:bodyPr wrap="square" lIns="0" tIns="0" rIns="0" bIns="0" anchor="t">
            <a:spAutoFit/>
          </a:bodyPr>
          <a:lstStyle/>
          <a:p>
            <a:pPr algn="l"/>
            <a:r>
              <a:rPr sz="1100" b="1">
                <a:solidFill>
                  <a:srgbClr val="7C3AED"/>
                </a:solidFill>
                <a:latin typeface="Space Grotesk"/>
              </a:rPr>
              <a:t>MODE B</a:t>
            </a:r>
          </a:p>
          <a:p>
            <a:pPr algn="l">
              <a:spcBef>
                <a:spcPts val="200"/>
              </a:spcBef>
              <a:spcAft>
                <a:spcPts val="0"/>
              </a:spcAft>
            </a:pPr>
            <a:r>
              <a:rPr sz="2100" b="1">
                <a:solidFill>
                  <a:srgbClr val="241C33"/>
                </a:solidFill>
                <a:latin typeface="Space Grotesk"/>
              </a:rPr>
              <a:t>Cardano (ADA) event</a:t>
            </a:r>
          </a:p>
        </p:txBody>
      </p:sp>
      <p:sp>
        <p:nvSpPr>
          <p:cNvPr id="14" name="TextBox 13"/>
          <p:cNvSpPr txBox="1"/>
          <p:nvPr/>
        </p:nvSpPr>
        <p:spPr>
          <a:xfrm>
            <a:off x="6537960" y="3904487"/>
            <a:ext cx="4572000" cy="2121408"/>
          </a:xfrm>
          <a:prstGeom prst="rect">
            <a:avLst/>
          </a:prstGeom>
          <a:noFill/>
        </p:spPr>
        <p:txBody>
          <a:bodyPr wrap="square" lIns="0" tIns="0" rIns="0" bIns="0" anchor="t">
            <a:spAutoFit/>
          </a:bodyPr>
          <a:lstStyle/>
          <a:p>
            <a:pPr>
              <a:lnSpc>
                <a:spcPct val="105000"/>
              </a:lnSpc>
              <a:spcAft>
                <a:spcPts val="600"/>
              </a:spcAft>
            </a:pPr>
            <a:r>
              <a:rPr sz="1300" b="1">
                <a:solidFill>
                  <a:srgbClr val="7C3AED"/>
                </a:solidFill>
                <a:latin typeface="Inter"/>
              </a:rPr>
              <a:t>•  </a:t>
            </a:r>
            <a:r>
              <a:rPr sz="1300" b="0">
                <a:solidFill>
                  <a:srgbClr val="241C33"/>
                </a:solidFill>
                <a:latin typeface="Inter"/>
              </a:rPr>
              <a:t>Organizer saves a </a:t>
            </a:r>
            <a:r>
              <a:rPr sz="1300" b="1">
                <a:solidFill>
                  <a:srgbClr val="241C33"/>
                </a:solidFill>
                <a:latin typeface="Inter"/>
              </a:rPr>
              <a:t>public receive address</a:t>
            </a:r>
            <a:r>
              <a:rPr sz="1300" b="0">
                <a:solidFill>
                  <a:srgbClr val="241C33"/>
                </a:solidFill>
                <a:latin typeface="Inter"/>
              </a:rPr>
              <a:t> (Preprod)</a:t>
            </a:r>
          </a:p>
          <a:p>
            <a:pPr>
              <a:lnSpc>
                <a:spcPct val="105000"/>
              </a:lnSpc>
              <a:spcAft>
                <a:spcPts val="600"/>
              </a:spcAft>
            </a:pPr>
            <a:r>
              <a:rPr sz="1300" b="1">
                <a:solidFill>
                  <a:srgbClr val="7C3AED"/>
                </a:solidFill>
                <a:latin typeface="Inter"/>
              </a:rPr>
              <a:t>•  </a:t>
            </a:r>
            <a:r>
              <a:rPr sz="1300" b="0">
                <a:solidFill>
                  <a:srgbClr val="241C33"/>
                </a:solidFill>
                <a:latin typeface="Inter"/>
              </a:rPr>
              <a:t>Participation fee optional — </a:t>
            </a:r>
            <a:r>
              <a:rPr sz="1300" b="1">
                <a:solidFill>
                  <a:srgbClr val="241C33"/>
                </a:solidFill>
                <a:latin typeface="Inter"/>
              </a:rPr>
              <a:t>can be 0</a:t>
            </a:r>
            <a:r>
              <a:rPr sz="1300" b="0">
                <a:solidFill>
                  <a:srgbClr val="241C33"/>
                </a:solidFill>
                <a:latin typeface="Inter"/>
              </a:rPr>
              <a:t>, still Cardano</a:t>
            </a:r>
          </a:p>
          <a:p>
            <a:pPr>
              <a:lnSpc>
                <a:spcPct val="105000"/>
              </a:lnSpc>
              <a:spcAft>
                <a:spcPts val="600"/>
              </a:spcAft>
            </a:pPr>
            <a:r>
              <a:rPr sz="1300" b="1">
                <a:solidFill>
                  <a:srgbClr val="7C3AED"/>
                </a:solidFill>
                <a:latin typeface="Inter"/>
              </a:rPr>
              <a:t>•  </a:t>
            </a:r>
            <a:r>
              <a:rPr sz="1300" b="0">
                <a:solidFill>
                  <a:srgbClr val="241C33"/>
                </a:solidFill>
                <a:latin typeface="Inter"/>
              </a:rPr>
              <a:t>Sponsors pay ADA after approval; </a:t>
            </a:r>
            <a:r>
              <a:rPr sz="1300" b="1">
                <a:solidFill>
                  <a:srgbClr val="241C33"/>
                </a:solidFill>
                <a:latin typeface="Inter"/>
              </a:rPr>
              <a:t>prizes in ADA</a:t>
            </a:r>
          </a:p>
          <a:p>
            <a:pPr>
              <a:lnSpc>
                <a:spcPct val="105000"/>
              </a:lnSpc>
              <a:spcAft>
                <a:spcPts val="600"/>
              </a:spcAft>
            </a:pPr>
            <a:r>
              <a:rPr sz="1300" b="1">
                <a:solidFill>
                  <a:srgbClr val="7C3AED"/>
                </a:solidFill>
                <a:latin typeface="Inter"/>
              </a:rPr>
              <a:t>•  </a:t>
            </a:r>
            <a:r>
              <a:rPr sz="1300" b="0">
                <a:solidFill>
                  <a:srgbClr val="241C33"/>
                </a:solidFill>
                <a:latin typeface="Inter"/>
              </a:rPr>
              <a:t>Wallet check-in writes a </a:t>
            </a:r>
            <a:r>
              <a:rPr sz="1300" b="1">
                <a:solidFill>
                  <a:srgbClr val="241C33"/>
                </a:solidFill>
                <a:latin typeface="Inter"/>
              </a:rPr>
              <a:t>tx hash for proof</a:t>
            </a:r>
          </a:p>
          <a:p>
            <a:pPr>
              <a:lnSpc>
                <a:spcPct val="105000"/>
              </a:lnSpc>
              <a:spcAft>
                <a:spcPts val="600"/>
              </a:spcAft>
            </a:pPr>
            <a:r>
              <a:rPr sz="1300" b="1">
                <a:solidFill>
                  <a:srgbClr val="7C3AED"/>
                </a:solidFill>
                <a:latin typeface="Inter"/>
              </a:rPr>
              <a:t>•  </a:t>
            </a:r>
            <a:r>
              <a:rPr sz="1300" b="0">
                <a:solidFill>
                  <a:srgbClr val="241C33"/>
                </a:solidFill>
                <a:latin typeface="Inter"/>
              </a:rPr>
              <a:t>Certificates show </a:t>
            </a:r>
            <a:r>
              <a:rPr sz="1300" b="1">
                <a:solidFill>
                  <a:srgbClr val="241C33"/>
                </a:solidFill>
                <a:latin typeface="Inter"/>
              </a:rPr>
              <a:t>tx + Blockfrost confirmation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 y="-54864"/>
            <a:ext cx="12298680" cy="6967728"/>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22960" y="384048"/>
            <a:ext cx="310896" cy="310896"/>
          </a:xfrm>
          <a:prstGeom prst="roundRect">
            <a:avLst>
              <a:gd name="adj" fmla="val 2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16152" y="365760"/>
            <a:ext cx="4572000" cy="365760"/>
          </a:xfrm>
          <a:prstGeom prst="rect">
            <a:avLst/>
          </a:prstGeom>
          <a:noFill/>
        </p:spPr>
        <p:txBody>
          <a:bodyPr wrap="square" lIns="0" tIns="0" rIns="0" bIns="0" anchor="ctr">
            <a:spAutoFit/>
          </a:bodyPr>
          <a:lstStyle/>
          <a:p>
            <a:r>
              <a:rPr sz="1500" b="1">
                <a:solidFill>
                  <a:srgbClr val="241C33"/>
                </a:solidFill>
                <a:latin typeface="Space Grotesk"/>
              </a:rPr>
              <a:t>On</a:t>
            </a:r>
            <a:r>
              <a:rPr sz="1500" b="1">
                <a:solidFill>
                  <a:srgbClr val="7C3AED"/>
                </a:solidFill>
                <a:latin typeface="Space Grotesk"/>
              </a:rPr>
              <a:t>Chain</a:t>
            </a:r>
            <a:r>
              <a:rPr sz="1500" b="1">
                <a:solidFill>
                  <a:srgbClr val="241C33"/>
                </a:solidFill>
                <a:latin typeface="Space Grotesk"/>
              </a:rPr>
              <a:t>In</a:t>
            </a:r>
          </a:p>
        </p:txBody>
      </p:sp>
      <p:sp>
        <p:nvSpPr>
          <p:cNvPr id="5" name="TextBox 4"/>
          <p:cNvSpPr txBox="1"/>
          <p:nvPr/>
        </p:nvSpPr>
        <p:spPr>
          <a:xfrm>
            <a:off x="6675120" y="420624"/>
            <a:ext cx="4599432" cy="320040"/>
          </a:xfrm>
          <a:prstGeom prst="rect">
            <a:avLst/>
          </a:prstGeom>
          <a:noFill/>
        </p:spPr>
        <p:txBody>
          <a:bodyPr wrap="square" lIns="0" tIns="0" rIns="0" bIns="0" anchor="ctr">
            <a:spAutoFit/>
          </a:bodyPr>
          <a:lstStyle/>
          <a:p>
            <a:pPr algn="r"/>
            <a:r>
              <a:rPr sz="1200" b="1">
                <a:solidFill>
                  <a:srgbClr val="8B8598"/>
                </a:solidFill>
                <a:latin typeface="Space Grotesk"/>
              </a:rPr>
              <a:t>04 · TRUST LAYER</a:t>
            </a:r>
          </a:p>
        </p:txBody>
      </p:sp>
      <p:sp>
        <p:nvSpPr>
          <p:cNvPr id="6" name="TextBox 5"/>
          <p:cNvSpPr txBox="1"/>
          <p:nvPr/>
        </p:nvSpPr>
        <p:spPr>
          <a:xfrm>
            <a:off x="822960" y="1170432"/>
            <a:ext cx="9144000" cy="320040"/>
          </a:xfrm>
          <a:prstGeom prst="rect">
            <a:avLst/>
          </a:prstGeom>
          <a:noFill/>
        </p:spPr>
        <p:txBody>
          <a:bodyPr wrap="square" lIns="0" tIns="0" rIns="0" bIns="0" anchor="t">
            <a:spAutoFit/>
          </a:bodyPr>
          <a:lstStyle/>
          <a:p>
            <a:pPr algn="l"/>
            <a:r>
              <a:rPr sz="1300" b="1">
                <a:solidFill>
                  <a:srgbClr val="7C3AED"/>
                </a:solidFill>
                <a:latin typeface="Space Grotesk"/>
              </a:rPr>
              <a:t>HOW CARDANO + BLOCKFROST HELP</a:t>
            </a:r>
          </a:p>
        </p:txBody>
      </p:sp>
      <p:sp>
        <p:nvSpPr>
          <p:cNvPr id="7" name="TextBox 6"/>
          <p:cNvSpPr txBox="1"/>
          <p:nvPr/>
        </p:nvSpPr>
        <p:spPr>
          <a:xfrm>
            <a:off x="795528" y="1481328"/>
            <a:ext cx="10607040" cy="868680"/>
          </a:xfrm>
          <a:prstGeom prst="rect">
            <a:avLst/>
          </a:prstGeom>
          <a:noFill/>
        </p:spPr>
        <p:txBody>
          <a:bodyPr wrap="square" lIns="0" tIns="0" rIns="0" bIns="0" anchor="t">
            <a:spAutoFit/>
          </a:bodyPr>
          <a:lstStyle/>
          <a:p>
            <a:pPr algn="l"/>
            <a:r>
              <a:rPr sz="3300" b="1">
                <a:solidFill>
                  <a:srgbClr val="241C33"/>
                </a:solidFill>
                <a:latin typeface="Space Grotesk"/>
              </a:rPr>
              <a:t>The Trust Layer</a:t>
            </a:r>
          </a:p>
        </p:txBody>
      </p:sp>
      <p:sp>
        <p:nvSpPr>
          <p:cNvPr id="8" name="TextBox 7"/>
          <p:cNvSpPr txBox="1"/>
          <p:nvPr/>
        </p:nvSpPr>
        <p:spPr>
          <a:xfrm>
            <a:off x="822960" y="2304288"/>
            <a:ext cx="10058400" cy="548640"/>
          </a:xfrm>
          <a:prstGeom prst="rect">
            <a:avLst/>
          </a:prstGeom>
          <a:noFill/>
        </p:spPr>
        <p:txBody>
          <a:bodyPr wrap="square" lIns="0" tIns="0" rIns="0" bIns="0" anchor="t">
            <a:spAutoFit/>
          </a:bodyPr>
          <a:lstStyle/>
          <a:p>
            <a:pPr algn="l">
              <a:lnSpc>
                <a:spcPct val="125000"/>
              </a:lnSpc>
            </a:pPr>
            <a:r>
              <a:rPr sz="1400" b="0">
                <a:solidFill>
                  <a:srgbClr val="5F5872"/>
                </a:solidFill>
                <a:latin typeface="Inter"/>
              </a:rPr>
              <a:t>Two jobs, cleanly split: Cardano writes proof and moves money; Blockfrost reads the chain back into the UI.</a:t>
            </a:r>
          </a:p>
        </p:txBody>
      </p:sp>
      <p:sp>
        <p:nvSpPr>
          <p:cNvPr id="9" name="Rounded Rectangle 8"/>
          <p:cNvSpPr/>
          <p:nvPr/>
        </p:nvSpPr>
        <p:spPr>
          <a:xfrm>
            <a:off x="822960" y="2761488"/>
            <a:ext cx="5120640" cy="2697480"/>
          </a:xfrm>
          <a:prstGeom prst="roundRect">
            <a:avLst>
              <a:gd name="adj" fmla="val 4500"/>
            </a:avLst>
          </a:prstGeom>
          <a:solidFill>
            <a:srgbClr val="FBFAFF"/>
          </a:solidFill>
          <a:ln w="15240">
            <a:solidFill>
              <a:srgbClr val="EDE9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5568" y="2999232"/>
            <a:ext cx="4480560" cy="685800"/>
          </a:xfrm>
          <a:prstGeom prst="rect">
            <a:avLst/>
          </a:prstGeom>
          <a:noFill/>
        </p:spPr>
        <p:txBody>
          <a:bodyPr wrap="square" lIns="0" tIns="0" rIns="0" bIns="0" anchor="t">
            <a:spAutoFit/>
          </a:bodyPr>
          <a:lstStyle/>
          <a:p>
            <a:pPr algn="l"/>
            <a:r>
              <a:rPr sz="1100" b="1">
                <a:solidFill>
                  <a:srgbClr val="7C3AED"/>
                </a:solidFill>
                <a:latin typeface="Space Grotesk"/>
              </a:rPr>
              <a:t>WRITE · MESH + LACE</a:t>
            </a:r>
          </a:p>
          <a:p>
            <a:pPr algn="l">
              <a:spcBef>
                <a:spcPts val="200"/>
              </a:spcBef>
              <a:spcAft>
                <a:spcPts val="0"/>
              </a:spcAft>
            </a:pPr>
            <a:r>
              <a:rPr sz="2100" b="1">
                <a:solidFill>
                  <a:srgbClr val="241C33"/>
                </a:solidFill>
                <a:latin typeface="Space Grotesk"/>
              </a:rPr>
              <a:t>Cardano</a:t>
            </a:r>
          </a:p>
        </p:txBody>
      </p:sp>
      <p:sp>
        <p:nvSpPr>
          <p:cNvPr id="11" name="TextBox 10"/>
          <p:cNvSpPr txBox="1"/>
          <p:nvPr/>
        </p:nvSpPr>
        <p:spPr>
          <a:xfrm>
            <a:off x="1115568" y="3785616"/>
            <a:ext cx="4617720" cy="1554480"/>
          </a:xfrm>
          <a:prstGeom prst="rect">
            <a:avLst/>
          </a:prstGeom>
          <a:noFill/>
        </p:spPr>
        <p:txBody>
          <a:bodyPr wrap="square" lIns="0" tIns="0" rIns="0" bIns="0" anchor="t">
            <a:spAutoFit/>
          </a:bodyPr>
          <a:lstStyle/>
          <a:p>
            <a:pPr>
              <a:lnSpc>
                <a:spcPct val="105000"/>
              </a:lnSpc>
              <a:spcAft>
                <a:spcPts val="600"/>
              </a:spcAft>
            </a:pPr>
            <a:r>
              <a:rPr sz="1250" b="1">
                <a:solidFill>
                  <a:srgbClr val="7C3AED"/>
                </a:solidFill>
                <a:latin typeface="Inter"/>
              </a:rPr>
              <a:t>•  </a:t>
            </a:r>
            <a:r>
              <a:rPr sz="1250" b="0">
                <a:solidFill>
                  <a:srgbClr val="241C33"/>
                </a:solidFill>
                <a:latin typeface="Inter"/>
              </a:rPr>
              <a:t>Check-in = </a:t>
            </a:r>
            <a:r>
              <a:rPr sz="1250" b="1">
                <a:solidFill>
                  <a:srgbClr val="241C33"/>
                </a:solidFill>
                <a:latin typeface="Inter"/>
              </a:rPr>
              <a:t>self-send ~1 ADA + metadata</a:t>
            </a:r>
          </a:p>
          <a:p>
            <a:pPr>
              <a:lnSpc>
                <a:spcPct val="105000"/>
              </a:lnSpc>
              <a:spcAft>
                <a:spcPts val="600"/>
              </a:spcAft>
            </a:pPr>
            <a:r>
              <a:rPr sz="1250" b="1">
                <a:solidFill>
                  <a:srgbClr val="7C3AED"/>
                </a:solidFill>
                <a:latin typeface="Inter"/>
              </a:rPr>
              <a:t>•  </a:t>
            </a:r>
            <a:r>
              <a:rPr sz="1250" b="0">
                <a:solidFill>
                  <a:srgbClr val="241C33"/>
                </a:solidFill>
                <a:latin typeface="Inter"/>
              </a:rPr>
              <a:t>Fees, sponsorship, prizes = </a:t>
            </a:r>
            <a:r>
              <a:rPr sz="1250" b="1">
                <a:solidFill>
                  <a:srgbClr val="241C33"/>
                </a:solidFill>
                <a:latin typeface="Inter"/>
              </a:rPr>
              <a:t>real ADA transfers</a:t>
            </a:r>
          </a:p>
          <a:p>
            <a:pPr>
              <a:lnSpc>
                <a:spcPct val="105000"/>
              </a:lnSpc>
              <a:spcAft>
                <a:spcPts val="600"/>
              </a:spcAft>
            </a:pPr>
            <a:r>
              <a:rPr sz="1250" b="1">
                <a:solidFill>
                  <a:srgbClr val="7C3AED"/>
                </a:solidFill>
                <a:latin typeface="Inter"/>
              </a:rPr>
              <a:t>•  </a:t>
            </a:r>
            <a:r>
              <a:rPr sz="1250" b="0">
                <a:solidFill>
                  <a:srgbClr val="241C33"/>
                </a:solidFill>
                <a:latin typeface="Inter"/>
              </a:rPr>
              <a:t>Certificates </a:t>
            </a:r>
            <a:r>
              <a:rPr sz="1250" b="1">
                <a:solidFill>
                  <a:srgbClr val="241C33"/>
                </a:solidFill>
                <a:latin typeface="Inter"/>
              </a:rPr>
              <a:t>bind a tx hash</a:t>
            </a:r>
            <a:r>
              <a:rPr sz="1250" b="0">
                <a:solidFill>
                  <a:srgbClr val="241C33"/>
                </a:solidFill>
                <a:latin typeface="Inter"/>
              </a:rPr>
              <a:t> + link to explorer</a:t>
            </a:r>
          </a:p>
        </p:txBody>
      </p:sp>
      <p:sp>
        <p:nvSpPr>
          <p:cNvPr id="12" name="Rounded Rectangle 11"/>
          <p:cNvSpPr/>
          <p:nvPr/>
        </p:nvSpPr>
        <p:spPr>
          <a:xfrm>
            <a:off x="6245352" y="2761488"/>
            <a:ext cx="5120640" cy="2697480"/>
          </a:xfrm>
          <a:prstGeom prst="roundRect">
            <a:avLst>
              <a:gd name="adj" fmla="val 4500"/>
            </a:avLst>
          </a:prstGeom>
          <a:solidFill>
            <a:srgbClr val="FFFFFF"/>
          </a:solidFill>
          <a:ln w="15240">
            <a:solidFill>
              <a:srgbClr val="EBDF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60" y="2999232"/>
            <a:ext cx="4480560" cy="685800"/>
          </a:xfrm>
          <a:prstGeom prst="rect">
            <a:avLst/>
          </a:prstGeom>
          <a:noFill/>
        </p:spPr>
        <p:txBody>
          <a:bodyPr wrap="square" lIns="0" tIns="0" rIns="0" bIns="0" anchor="t">
            <a:spAutoFit/>
          </a:bodyPr>
          <a:lstStyle/>
          <a:p>
            <a:pPr algn="l"/>
            <a:r>
              <a:rPr sz="1100" b="1">
                <a:solidFill>
                  <a:srgbClr val="5F5872"/>
                </a:solidFill>
                <a:latin typeface="Space Grotesk"/>
              </a:rPr>
              <a:t>READ-ONLY CHAIN API</a:t>
            </a:r>
          </a:p>
          <a:p>
            <a:pPr algn="l">
              <a:spcBef>
                <a:spcPts val="200"/>
              </a:spcBef>
              <a:spcAft>
                <a:spcPts val="0"/>
              </a:spcAft>
            </a:pPr>
            <a:r>
              <a:rPr sz="2100" b="1">
                <a:solidFill>
                  <a:srgbClr val="241C33"/>
                </a:solidFill>
                <a:latin typeface="Space Grotesk"/>
              </a:rPr>
              <a:t>Blockfrost</a:t>
            </a:r>
          </a:p>
        </p:txBody>
      </p:sp>
      <p:sp>
        <p:nvSpPr>
          <p:cNvPr id="14" name="TextBox 13"/>
          <p:cNvSpPr txBox="1"/>
          <p:nvPr/>
        </p:nvSpPr>
        <p:spPr>
          <a:xfrm>
            <a:off x="6537960" y="3785616"/>
            <a:ext cx="4617720" cy="1554480"/>
          </a:xfrm>
          <a:prstGeom prst="rect">
            <a:avLst/>
          </a:prstGeom>
          <a:noFill/>
        </p:spPr>
        <p:txBody>
          <a:bodyPr wrap="square" lIns="0" tIns="0" rIns="0" bIns="0" anchor="t">
            <a:spAutoFit/>
          </a:bodyPr>
          <a:lstStyle/>
          <a:p>
            <a:pPr>
              <a:lnSpc>
                <a:spcPct val="105000"/>
              </a:lnSpc>
              <a:spcAft>
                <a:spcPts val="600"/>
              </a:spcAft>
            </a:pPr>
            <a:r>
              <a:rPr sz="1250" b="1">
                <a:solidFill>
                  <a:srgbClr val="5F5872"/>
                </a:solidFill>
                <a:latin typeface="Inter"/>
              </a:rPr>
              <a:t>•  </a:t>
            </a:r>
            <a:r>
              <a:rPr sz="1250" b="0">
                <a:solidFill>
                  <a:srgbClr val="241C33"/>
                </a:solidFill>
                <a:latin typeface="Inter"/>
              </a:rPr>
              <a:t>Confirms txs — </a:t>
            </a:r>
            <a:r>
              <a:rPr sz="1250" b="1">
                <a:solidFill>
                  <a:srgbClr val="241C33"/>
                </a:solidFill>
                <a:latin typeface="Inter"/>
              </a:rPr>
              <a:t>“confirmed on Preprod”</a:t>
            </a:r>
          </a:p>
          <a:p>
            <a:pPr>
              <a:lnSpc>
                <a:spcPct val="105000"/>
              </a:lnSpc>
              <a:spcAft>
                <a:spcPts val="600"/>
              </a:spcAft>
            </a:pPr>
            <a:r>
              <a:rPr sz="1250" b="1">
                <a:solidFill>
                  <a:srgbClr val="5F5872"/>
                </a:solidFill>
                <a:latin typeface="Inter"/>
              </a:rPr>
              <a:t>•  </a:t>
            </a:r>
            <a:r>
              <a:rPr sz="1250" b="0">
                <a:solidFill>
                  <a:srgbClr val="241C33"/>
                </a:solidFill>
                <a:latin typeface="Inter"/>
              </a:rPr>
              <a:t>Verifies certificate tx </a:t>
            </a:r>
            <a:r>
              <a:rPr sz="1250" b="1">
                <a:solidFill>
                  <a:srgbClr val="241C33"/>
                </a:solidFill>
                <a:latin typeface="Inter"/>
              </a:rPr>
              <a:t>live on the verify page</a:t>
            </a:r>
          </a:p>
          <a:p>
            <a:pPr>
              <a:lnSpc>
                <a:spcPct val="105000"/>
              </a:lnSpc>
              <a:spcAft>
                <a:spcPts val="600"/>
              </a:spcAft>
            </a:pPr>
            <a:r>
              <a:rPr sz="1250" b="1">
                <a:solidFill>
                  <a:srgbClr val="5F5872"/>
                </a:solidFill>
                <a:latin typeface="Inter"/>
              </a:rPr>
              <a:t>•  </a:t>
            </a:r>
            <a:r>
              <a:rPr sz="1250" b="0">
                <a:solidFill>
                  <a:srgbClr val="241C33"/>
                </a:solidFill>
                <a:latin typeface="Inter"/>
              </a:rPr>
              <a:t>Shows wallet balance for </a:t>
            </a:r>
            <a:r>
              <a:rPr sz="1250" b="1">
                <a:solidFill>
                  <a:srgbClr val="241C33"/>
                </a:solidFill>
                <a:latin typeface="Inter"/>
              </a:rPr>
              <a:t>check-in readiness</a:t>
            </a:r>
          </a:p>
        </p:txBody>
      </p:sp>
      <p:sp>
        <p:nvSpPr>
          <p:cNvPr id="15" name="Rounded Rectangle 14"/>
          <p:cNvSpPr/>
          <p:nvPr/>
        </p:nvSpPr>
        <p:spPr>
          <a:xfrm>
            <a:off x="822960" y="5650992"/>
            <a:ext cx="10543032" cy="749808"/>
          </a:xfrm>
          <a:prstGeom prst="roundRect">
            <a:avLst>
              <a:gd name="adj" fmla="val 14000"/>
            </a:avLst>
          </a:prstGeom>
          <a:solidFill>
            <a:srgbClr val="4C1D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3000" y="5650992"/>
            <a:ext cx="9966960" cy="749808"/>
          </a:xfrm>
          <a:prstGeom prst="rect">
            <a:avLst/>
          </a:prstGeom>
          <a:noFill/>
        </p:spPr>
        <p:txBody>
          <a:bodyPr wrap="square" lIns="0" tIns="0" rIns="0" bIns="0" anchor="ctr">
            <a:spAutoFit/>
          </a:bodyPr>
          <a:lstStyle/>
          <a:p>
            <a:pPr algn="l">
              <a:lnSpc>
                <a:spcPct val="110000"/>
              </a:lnSpc>
            </a:pPr>
            <a:r>
              <a:rPr sz="1500" b="0">
                <a:solidFill>
                  <a:srgbClr val="EDE9FE"/>
                </a:solidFill>
                <a:latin typeface="Inter"/>
              </a:rPr>
              <a:t>We </a:t>
            </a:r>
            <a:r>
              <a:rPr sz="1500" b="1">
                <a:solidFill>
                  <a:srgbClr val="FFFFFF"/>
                </a:solidFill>
                <a:latin typeface="Inter"/>
              </a:rPr>
              <a:t>don't</a:t>
            </a:r>
            <a:r>
              <a:rPr sz="1500" b="0">
                <a:solidFill>
                  <a:srgbClr val="EDE9FE"/>
                </a:solidFill>
                <a:latin typeface="Inter"/>
              </a:rPr>
              <a:t> put the whole app on-chain. Ops stay in the app; trust — </a:t>
            </a:r>
            <a:r>
              <a:rPr sz="1500" b="1">
                <a:solidFill>
                  <a:srgbClr val="FFFFFF"/>
                </a:solidFill>
                <a:latin typeface="Inter"/>
              </a:rPr>
              <a:t>attendance and money</a:t>
            </a:r>
            <a:r>
              <a:rPr sz="1500" b="0">
                <a:solidFill>
                  <a:srgbClr val="EDE9FE"/>
                </a:solidFill>
                <a:latin typeface="Inter"/>
              </a:rPr>
              <a:t> — goes on Cardano.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 y="-54864"/>
            <a:ext cx="12298680" cy="6967728"/>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22960" y="384048"/>
            <a:ext cx="310896" cy="310896"/>
          </a:xfrm>
          <a:prstGeom prst="roundRect">
            <a:avLst>
              <a:gd name="adj" fmla="val 2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16152" y="365760"/>
            <a:ext cx="4572000" cy="365760"/>
          </a:xfrm>
          <a:prstGeom prst="rect">
            <a:avLst/>
          </a:prstGeom>
          <a:noFill/>
        </p:spPr>
        <p:txBody>
          <a:bodyPr wrap="square" lIns="0" tIns="0" rIns="0" bIns="0" anchor="ctr">
            <a:spAutoFit/>
          </a:bodyPr>
          <a:lstStyle/>
          <a:p>
            <a:r>
              <a:rPr sz="1500" b="1">
                <a:solidFill>
                  <a:srgbClr val="241C33"/>
                </a:solidFill>
                <a:latin typeface="Space Grotesk"/>
              </a:rPr>
              <a:t>On</a:t>
            </a:r>
            <a:r>
              <a:rPr sz="1500" b="1">
                <a:solidFill>
                  <a:srgbClr val="7C3AED"/>
                </a:solidFill>
                <a:latin typeface="Space Grotesk"/>
              </a:rPr>
              <a:t>Chain</a:t>
            </a:r>
            <a:r>
              <a:rPr sz="1500" b="1">
                <a:solidFill>
                  <a:srgbClr val="241C33"/>
                </a:solidFill>
                <a:latin typeface="Space Grotesk"/>
              </a:rPr>
              <a:t>In</a:t>
            </a:r>
          </a:p>
        </p:txBody>
      </p:sp>
      <p:sp>
        <p:nvSpPr>
          <p:cNvPr id="5" name="TextBox 4"/>
          <p:cNvSpPr txBox="1"/>
          <p:nvPr/>
        </p:nvSpPr>
        <p:spPr>
          <a:xfrm>
            <a:off x="6675120" y="420624"/>
            <a:ext cx="4599432" cy="320040"/>
          </a:xfrm>
          <a:prstGeom prst="rect">
            <a:avLst/>
          </a:prstGeom>
          <a:noFill/>
        </p:spPr>
        <p:txBody>
          <a:bodyPr wrap="square" lIns="0" tIns="0" rIns="0" bIns="0" anchor="ctr">
            <a:spAutoFit/>
          </a:bodyPr>
          <a:lstStyle/>
          <a:p>
            <a:pPr algn="r"/>
            <a:r>
              <a:rPr sz="1200" b="1">
                <a:solidFill>
                  <a:srgbClr val="8B8598"/>
                </a:solidFill>
                <a:latin typeface="Space Grotesk"/>
              </a:rPr>
              <a:t>05 · ARCHITECTURE &amp; STACK</a:t>
            </a:r>
          </a:p>
        </p:txBody>
      </p:sp>
      <p:sp>
        <p:nvSpPr>
          <p:cNvPr id="6" name="TextBox 5"/>
          <p:cNvSpPr txBox="1"/>
          <p:nvPr/>
        </p:nvSpPr>
        <p:spPr>
          <a:xfrm>
            <a:off x="822960" y="1097280"/>
            <a:ext cx="9144000" cy="320040"/>
          </a:xfrm>
          <a:prstGeom prst="rect">
            <a:avLst/>
          </a:prstGeom>
          <a:noFill/>
        </p:spPr>
        <p:txBody>
          <a:bodyPr wrap="square" lIns="0" tIns="0" rIns="0" bIns="0" anchor="t">
            <a:spAutoFit/>
          </a:bodyPr>
          <a:lstStyle/>
          <a:p>
            <a:pPr algn="l"/>
            <a:r>
              <a:rPr sz="1300" b="1">
                <a:solidFill>
                  <a:srgbClr val="7C3AED"/>
                </a:solidFill>
                <a:latin typeface="Space Grotesk"/>
              </a:rPr>
              <a:t>WHAT POWERS WHAT</a:t>
            </a:r>
          </a:p>
        </p:txBody>
      </p:sp>
      <p:sp>
        <p:nvSpPr>
          <p:cNvPr id="7" name="TextBox 6"/>
          <p:cNvSpPr txBox="1"/>
          <p:nvPr/>
        </p:nvSpPr>
        <p:spPr>
          <a:xfrm>
            <a:off x="795528" y="1389888"/>
            <a:ext cx="10607040" cy="731520"/>
          </a:xfrm>
          <a:prstGeom prst="rect">
            <a:avLst/>
          </a:prstGeom>
          <a:noFill/>
        </p:spPr>
        <p:txBody>
          <a:bodyPr wrap="square" lIns="0" tIns="0" rIns="0" bIns="0" anchor="t">
            <a:spAutoFit/>
          </a:bodyPr>
          <a:lstStyle/>
          <a:p>
            <a:pPr algn="l"/>
            <a:r>
              <a:rPr sz="3100" b="1">
                <a:solidFill>
                  <a:srgbClr val="241C33"/>
                </a:solidFill>
                <a:latin typeface="Space Grotesk"/>
              </a:rPr>
              <a:t>Architecture &amp; Tech Stack</a:t>
            </a:r>
          </a:p>
        </p:txBody>
      </p:sp>
      <p:sp>
        <p:nvSpPr>
          <p:cNvPr id="8" name="TextBox 7"/>
          <p:cNvSpPr txBox="1"/>
          <p:nvPr/>
        </p:nvSpPr>
        <p:spPr>
          <a:xfrm>
            <a:off x="822960" y="2157984"/>
            <a:ext cx="10058400" cy="411480"/>
          </a:xfrm>
          <a:prstGeom prst="rect">
            <a:avLst/>
          </a:prstGeom>
          <a:noFill/>
        </p:spPr>
        <p:txBody>
          <a:bodyPr wrap="square" lIns="0" tIns="0" rIns="0" bIns="0" anchor="t">
            <a:spAutoFit/>
          </a:bodyPr>
          <a:lstStyle/>
          <a:p>
            <a:pPr algn="l"/>
            <a:r>
              <a:rPr sz="1350" b="0">
                <a:solidFill>
                  <a:srgbClr val="5F5872"/>
                </a:solidFill>
                <a:latin typeface="Inter"/>
              </a:rPr>
              <a:t>Each layer has one job — and the honest boundary between app and chain is built in.</a:t>
            </a:r>
          </a:p>
        </p:txBody>
      </p:sp>
      <p:sp>
        <p:nvSpPr>
          <p:cNvPr id="9" name="Rounded Rectangle 8"/>
          <p:cNvSpPr/>
          <p:nvPr/>
        </p:nvSpPr>
        <p:spPr>
          <a:xfrm>
            <a:off x="822960" y="2670048"/>
            <a:ext cx="10543032" cy="489204"/>
          </a:xfrm>
          <a:prstGeom prst="roundRect">
            <a:avLst>
              <a:gd name="adj" fmla="val 12000"/>
            </a:avLst>
          </a:prstGeom>
          <a:solidFill>
            <a:srgbClr val="FFFFFF"/>
          </a:solidFill>
          <a:ln w="12700">
            <a:solidFill>
              <a:srgbClr val="E5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2670048"/>
            <a:ext cx="82296" cy="4892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2670048"/>
            <a:ext cx="6309360" cy="489204"/>
          </a:xfrm>
          <a:prstGeom prst="rect">
            <a:avLst/>
          </a:prstGeom>
          <a:noFill/>
        </p:spPr>
        <p:txBody>
          <a:bodyPr wrap="square" lIns="0" tIns="0" rIns="0" bIns="0" anchor="ctr">
            <a:spAutoFit/>
          </a:bodyPr>
          <a:lstStyle/>
          <a:p>
            <a:r>
              <a:rPr sz="1450" b="1">
                <a:solidFill>
                  <a:srgbClr val="241C33"/>
                </a:solidFill>
                <a:latin typeface="Space Grotesk"/>
              </a:rPr>
              <a:t>Web app   </a:t>
            </a:r>
            <a:r>
              <a:rPr sz="1250">
                <a:solidFill>
                  <a:srgbClr val="5F5872"/>
                </a:solidFill>
                <a:latin typeface="Inter"/>
              </a:rPr>
              <a:t>Runs the event — ops, dashboards, verify</a:t>
            </a:r>
          </a:p>
        </p:txBody>
      </p:sp>
      <p:sp>
        <p:nvSpPr>
          <p:cNvPr id="12" name="TextBox 11"/>
          <p:cNvSpPr txBox="1"/>
          <p:nvPr/>
        </p:nvSpPr>
        <p:spPr>
          <a:xfrm>
            <a:off x="7040880" y="2670048"/>
            <a:ext cx="4160520" cy="489204"/>
          </a:xfrm>
          <a:prstGeom prst="rect">
            <a:avLst/>
          </a:prstGeom>
          <a:noFill/>
        </p:spPr>
        <p:txBody>
          <a:bodyPr wrap="square" lIns="0" tIns="0" rIns="0" bIns="0" anchor="ctr">
            <a:spAutoFit/>
          </a:bodyPr>
          <a:lstStyle/>
          <a:p>
            <a:pPr algn="r"/>
            <a:r>
              <a:rPr sz="1150" b="1">
                <a:solidFill>
                  <a:srgbClr val="5B21B6"/>
                </a:solidFill>
                <a:latin typeface="Space Grotesk"/>
              </a:rPr>
              <a:t>React 19 · TypeScript · Vite · Tailwind</a:t>
            </a:r>
          </a:p>
        </p:txBody>
      </p:sp>
      <p:sp>
        <p:nvSpPr>
          <p:cNvPr id="13" name="Rounded Rectangle 12"/>
          <p:cNvSpPr/>
          <p:nvPr/>
        </p:nvSpPr>
        <p:spPr>
          <a:xfrm>
            <a:off x="822960" y="3227832"/>
            <a:ext cx="10543032" cy="489204"/>
          </a:xfrm>
          <a:prstGeom prst="roundRect">
            <a:avLst>
              <a:gd name="adj" fmla="val 12000"/>
            </a:avLst>
          </a:prstGeom>
          <a:solidFill>
            <a:srgbClr val="FFFFFF"/>
          </a:solidFill>
          <a:ln w="12700">
            <a:solidFill>
              <a:srgbClr val="E5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 y="3227832"/>
            <a:ext cx="82296" cy="4892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3227832"/>
            <a:ext cx="6309360" cy="489204"/>
          </a:xfrm>
          <a:prstGeom prst="rect">
            <a:avLst/>
          </a:prstGeom>
          <a:noFill/>
        </p:spPr>
        <p:txBody>
          <a:bodyPr wrap="square" lIns="0" tIns="0" rIns="0" bIns="0" anchor="ctr">
            <a:spAutoFit/>
          </a:bodyPr>
          <a:lstStyle/>
          <a:p>
            <a:r>
              <a:rPr sz="1450" b="1">
                <a:solidFill>
                  <a:srgbClr val="241C33"/>
                </a:solidFill>
                <a:latin typeface="Space Grotesk"/>
              </a:rPr>
              <a:t>AI   </a:t>
            </a:r>
            <a:r>
              <a:rPr sz="1250">
                <a:solidFill>
                  <a:srgbClr val="5F5872"/>
                </a:solidFill>
                <a:latin typeface="Inter"/>
              </a:rPr>
              <a:t>Drafts events fast from a prompt</a:t>
            </a:r>
          </a:p>
        </p:txBody>
      </p:sp>
      <p:sp>
        <p:nvSpPr>
          <p:cNvPr id="16" name="TextBox 15"/>
          <p:cNvSpPr txBox="1"/>
          <p:nvPr/>
        </p:nvSpPr>
        <p:spPr>
          <a:xfrm>
            <a:off x="7040880" y="3227832"/>
            <a:ext cx="4160520" cy="489204"/>
          </a:xfrm>
          <a:prstGeom prst="rect">
            <a:avLst/>
          </a:prstGeom>
          <a:noFill/>
        </p:spPr>
        <p:txBody>
          <a:bodyPr wrap="square" lIns="0" tIns="0" rIns="0" bIns="0" anchor="ctr">
            <a:spAutoFit/>
          </a:bodyPr>
          <a:lstStyle/>
          <a:p>
            <a:pPr algn="r"/>
            <a:r>
              <a:rPr sz="1150" b="1">
                <a:solidFill>
                  <a:srgbClr val="5B21B6"/>
                </a:solidFill>
                <a:latin typeface="Space Grotesk"/>
              </a:rPr>
              <a:t>Groq</a:t>
            </a:r>
          </a:p>
        </p:txBody>
      </p:sp>
      <p:sp>
        <p:nvSpPr>
          <p:cNvPr id="17" name="Rounded Rectangle 16"/>
          <p:cNvSpPr/>
          <p:nvPr/>
        </p:nvSpPr>
        <p:spPr>
          <a:xfrm>
            <a:off x="822960" y="3785615"/>
            <a:ext cx="10543032" cy="489204"/>
          </a:xfrm>
          <a:prstGeom prst="roundRect">
            <a:avLst>
              <a:gd name="adj" fmla="val 12000"/>
            </a:avLst>
          </a:prstGeom>
          <a:solidFill>
            <a:srgbClr val="FFFFFF"/>
          </a:solidFill>
          <a:ln w="12700">
            <a:solidFill>
              <a:srgbClr val="E5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2960" y="3785615"/>
            <a:ext cx="82296" cy="4892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97280" y="3785615"/>
            <a:ext cx="6309360" cy="489204"/>
          </a:xfrm>
          <a:prstGeom prst="rect">
            <a:avLst/>
          </a:prstGeom>
          <a:noFill/>
        </p:spPr>
        <p:txBody>
          <a:bodyPr wrap="square" lIns="0" tIns="0" rIns="0" bIns="0" anchor="ctr">
            <a:spAutoFit/>
          </a:bodyPr>
          <a:lstStyle/>
          <a:p>
            <a:r>
              <a:rPr sz="1450" b="1">
                <a:solidFill>
                  <a:srgbClr val="241C33"/>
                </a:solidFill>
                <a:latin typeface="Space Grotesk"/>
              </a:rPr>
              <a:t>Cloud   </a:t>
            </a:r>
            <a:r>
              <a:rPr sz="1250">
                <a:solidFill>
                  <a:srgbClr val="5F5872"/>
                </a:solidFill>
                <a:latin typeface="Inter"/>
              </a:rPr>
              <a:t>Multi-user shared data (oci_store)</a:t>
            </a:r>
          </a:p>
        </p:txBody>
      </p:sp>
      <p:sp>
        <p:nvSpPr>
          <p:cNvPr id="20" name="TextBox 19"/>
          <p:cNvSpPr txBox="1"/>
          <p:nvPr/>
        </p:nvSpPr>
        <p:spPr>
          <a:xfrm>
            <a:off x="7040880" y="3785615"/>
            <a:ext cx="4160520" cy="489204"/>
          </a:xfrm>
          <a:prstGeom prst="rect">
            <a:avLst/>
          </a:prstGeom>
          <a:noFill/>
        </p:spPr>
        <p:txBody>
          <a:bodyPr wrap="square" lIns="0" tIns="0" rIns="0" bIns="0" anchor="ctr">
            <a:spAutoFit/>
          </a:bodyPr>
          <a:lstStyle/>
          <a:p>
            <a:pPr algn="r"/>
            <a:r>
              <a:rPr sz="1150" b="1">
                <a:solidFill>
                  <a:srgbClr val="5B21B6"/>
                </a:solidFill>
                <a:latin typeface="Space Grotesk"/>
              </a:rPr>
              <a:t>Supabase · Postgres</a:t>
            </a:r>
          </a:p>
        </p:txBody>
      </p:sp>
      <p:sp>
        <p:nvSpPr>
          <p:cNvPr id="21" name="Rounded Rectangle 20"/>
          <p:cNvSpPr/>
          <p:nvPr/>
        </p:nvSpPr>
        <p:spPr>
          <a:xfrm>
            <a:off x="822960" y="4343400"/>
            <a:ext cx="10543032" cy="489204"/>
          </a:xfrm>
          <a:prstGeom prst="roundRect">
            <a:avLst>
              <a:gd name="adj" fmla="val 12000"/>
            </a:avLst>
          </a:prstGeom>
          <a:solidFill>
            <a:srgbClr val="FFFFFF"/>
          </a:solidFill>
          <a:ln w="12700">
            <a:solidFill>
              <a:srgbClr val="E5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2960" y="4343400"/>
            <a:ext cx="82296" cy="4892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97280" y="4343400"/>
            <a:ext cx="6309360" cy="489204"/>
          </a:xfrm>
          <a:prstGeom prst="rect">
            <a:avLst/>
          </a:prstGeom>
          <a:noFill/>
        </p:spPr>
        <p:txBody>
          <a:bodyPr wrap="square" lIns="0" tIns="0" rIns="0" bIns="0" anchor="ctr">
            <a:spAutoFit/>
          </a:bodyPr>
          <a:lstStyle/>
          <a:p>
            <a:r>
              <a:rPr sz="1450" b="1">
                <a:solidFill>
                  <a:srgbClr val="241C33"/>
                </a:solidFill>
                <a:latin typeface="Space Grotesk"/>
              </a:rPr>
              <a:t>Cardano   </a:t>
            </a:r>
            <a:r>
              <a:rPr sz="1250">
                <a:solidFill>
                  <a:srgbClr val="5F5872"/>
                </a:solidFill>
                <a:latin typeface="Inter"/>
              </a:rPr>
              <a:t>Proof of attendance + moves ADA</a:t>
            </a:r>
          </a:p>
        </p:txBody>
      </p:sp>
      <p:sp>
        <p:nvSpPr>
          <p:cNvPr id="24" name="TextBox 23"/>
          <p:cNvSpPr txBox="1"/>
          <p:nvPr/>
        </p:nvSpPr>
        <p:spPr>
          <a:xfrm>
            <a:off x="7040880" y="4343400"/>
            <a:ext cx="4160520" cy="489204"/>
          </a:xfrm>
          <a:prstGeom prst="rect">
            <a:avLst/>
          </a:prstGeom>
          <a:noFill/>
        </p:spPr>
        <p:txBody>
          <a:bodyPr wrap="square" lIns="0" tIns="0" rIns="0" bIns="0" anchor="ctr">
            <a:spAutoFit/>
          </a:bodyPr>
          <a:lstStyle/>
          <a:p>
            <a:pPr algn="r"/>
            <a:r>
              <a:rPr sz="1150" b="1">
                <a:solidFill>
                  <a:srgbClr val="5B21B6"/>
                </a:solidFill>
                <a:latin typeface="Space Grotesk"/>
              </a:rPr>
              <a:t>Mesh.js · CIP-30 / Lace · Preprod</a:t>
            </a:r>
          </a:p>
        </p:txBody>
      </p:sp>
      <p:sp>
        <p:nvSpPr>
          <p:cNvPr id="25" name="Rounded Rectangle 24"/>
          <p:cNvSpPr/>
          <p:nvPr/>
        </p:nvSpPr>
        <p:spPr>
          <a:xfrm>
            <a:off x="822960" y="4901184"/>
            <a:ext cx="10543032" cy="489204"/>
          </a:xfrm>
          <a:prstGeom prst="roundRect">
            <a:avLst>
              <a:gd name="adj" fmla="val 12000"/>
            </a:avLst>
          </a:prstGeom>
          <a:solidFill>
            <a:srgbClr val="FFFFFF"/>
          </a:solidFill>
          <a:ln w="12700">
            <a:solidFill>
              <a:srgbClr val="E5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2960" y="4901184"/>
            <a:ext cx="82296" cy="4892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97280" y="4901184"/>
            <a:ext cx="6309360" cy="489204"/>
          </a:xfrm>
          <a:prstGeom prst="rect">
            <a:avLst/>
          </a:prstGeom>
          <a:noFill/>
        </p:spPr>
        <p:txBody>
          <a:bodyPr wrap="square" lIns="0" tIns="0" rIns="0" bIns="0" anchor="ctr">
            <a:spAutoFit/>
          </a:bodyPr>
          <a:lstStyle/>
          <a:p>
            <a:r>
              <a:rPr sz="1450" b="1">
                <a:solidFill>
                  <a:srgbClr val="241C33"/>
                </a:solidFill>
                <a:latin typeface="Space Grotesk"/>
              </a:rPr>
              <a:t>Chain API   </a:t>
            </a:r>
            <a:r>
              <a:rPr sz="1250">
                <a:solidFill>
                  <a:srgbClr val="5F5872"/>
                </a:solidFill>
                <a:latin typeface="Inter"/>
              </a:rPr>
              <a:t>Confirms txs &amp; shows chain truth in the UI</a:t>
            </a:r>
          </a:p>
        </p:txBody>
      </p:sp>
      <p:sp>
        <p:nvSpPr>
          <p:cNvPr id="28" name="TextBox 27"/>
          <p:cNvSpPr txBox="1"/>
          <p:nvPr/>
        </p:nvSpPr>
        <p:spPr>
          <a:xfrm>
            <a:off x="7040880" y="4901184"/>
            <a:ext cx="4160520" cy="489204"/>
          </a:xfrm>
          <a:prstGeom prst="rect">
            <a:avLst/>
          </a:prstGeom>
          <a:noFill/>
        </p:spPr>
        <p:txBody>
          <a:bodyPr wrap="square" lIns="0" tIns="0" rIns="0" bIns="0" anchor="ctr">
            <a:spAutoFit/>
          </a:bodyPr>
          <a:lstStyle/>
          <a:p>
            <a:pPr algn="r"/>
            <a:r>
              <a:rPr sz="1150" b="1">
                <a:solidFill>
                  <a:srgbClr val="5B21B6"/>
                </a:solidFill>
                <a:latin typeface="Space Grotesk"/>
              </a:rPr>
              <a:t>Blockfrost · Preprod</a:t>
            </a:r>
          </a:p>
        </p:txBody>
      </p:sp>
      <p:sp>
        <p:nvSpPr>
          <p:cNvPr id="29" name="Rounded Rectangle 28"/>
          <p:cNvSpPr/>
          <p:nvPr/>
        </p:nvSpPr>
        <p:spPr>
          <a:xfrm>
            <a:off x="822960" y="5458968"/>
            <a:ext cx="10543032" cy="489204"/>
          </a:xfrm>
          <a:prstGeom prst="roundRect">
            <a:avLst>
              <a:gd name="adj" fmla="val 12000"/>
            </a:avLst>
          </a:prstGeom>
          <a:solidFill>
            <a:srgbClr val="FFFFFF"/>
          </a:solidFill>
          <a:ln w="12700">
            <a:solidFill>
              <a:srgbClr val="E5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22960" y="5458968"/>
            <a:ext cx="82296" cy="4892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97280" y="5458968"/>
            <a:ext cx="6309360" cy="489204"/>
          </a:xfrm>
          <a:prstGeom prst="rect">
            <a:avLst/>
          </a:prstGeom>
          <a:noFill/>
        </p:spPr>
        <p:txBody>
          <a:bodyPr wrap="square" lIns="0" tIns="0" rIns="0" bIns="0" anchor="ctr">
            <a:spAutoFit/>
          </a:bodyPr>
          <a:lstStyle/>
          <a:p>
            <a:r>
              <a:rPr sz="1450" b="1">
                <a:solidFill>
                  <a:srgbClr val="241C33"/>
                </a:solidFill>
                <a:latin typeface="Space Grotesk"/>
              </a:rPr>
              <a:t>Hosting   </a:t>
            </a:r>
            <a:r>
              <a:rPr sz="1250">
                <a:solidFill>
                  <a:srgbClr val="5F5872"/>
                </a:solidFill>
                <a:latin typeface="Inter"/>
              </a:rPr>
              <a:t>Serves the app</a:t>
            </a:r>
          </a:p>
        </p:txBody>
      </p:sp>
      <p:sp>
        <p:nvSpPr>
          <p:cNvPr id="32" name="TextBox 31"/>
          <p:cNvSpPr txBox="1"/>
          <p:nvPr/>
        </p:nvSpPr>
        <p:spPr>
          <a:xfrm>
            <a:off x="7040880" y="5458968"/>
            <a:ext cx="4160520" cy="489204"/>
          </a:xfrm>
          <a:prstGeom prst="rect">
            <a:avLst/>
          </a:prstGeom>
          <a:noFill/>
        </p:spPr>
        <p:txBody>
          <a:bodyPr wrap="square" lIns="0" tIns="0" rIns="0" bIns="0" anchor="ctr">
            <a:spAutoFit/>
          </a:bodyPr>
          <a:lstStyle/>
          <a:p>
            <a:pPr algn="r"/>
            <a:r>
              <a:rPr sz="1150" b="1">
                <a:solidFill>
                  <a:srgbClr val="5B21B6"/>
                </a:solidFill>
                <a:latin typeface="Space Grotesk"/>
              </a:rPr>
              <a:t>Vercel</a:t>
            </a:r>
          </a:p>
        </p:txBody>
      </p:sp>
      <p:sp>
        <p:nvSpPr>
          <p:cNvPr id="33" name="Rounded Rectangle 32"/>
          <p:cNvSpPr/>
          <p:nvPr/>
        </p:nvSpPr>
        <p:spPr>
          <a:xfrm>
            <a:off x="822960" y="6035040"/>
            <a:ext cx="10543032" cy="548640"/>
          </a:xfrm>
          <a:prstGeom prst="roundRect">
            <a:avLst>
              <a:gd name="adj" fmla="val 16000"/>
            </a:avLst>
          </a:prstGeom>
          <a:solidFill>
            <a:srgbClr val="F3EBDC"/>
          </a:solidFill>
          <a:ln w="12700">
            <a:solidFill>
              <a:srgbClr val="EBDF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43000" y="6035040"/>
            <a:ext cx="9966960" cy="548640"/>
          </a:xfrm>
          <a:prstGeom prst="rect">
            <a:avLst/>
          </a:prstGeom>
          <a:noFill/>
        </p:spPr>
        <p:txBody>
          <a:bodyPr wrap="square" lIns="0" tIns="0" rIns="0" bIns="0" anchor="ctr">
            <a:spAutoFit/>
          </a:bodyPr>
          <a:lstStyle/>
          <a:p>
            <a:pPr algn="l"/>
            <a:r>
              <a:rPr sz="1300" b="0">
                <a:solidFill>
                  <a:srgbClr val="241C33"/>
                </a:solidFill>
                <a:latin typeface="Inter"/>
              </a:rPr>
              <a:t>Honest boundary: </a:t>
            </a:r>
            <a:r>
              <a:rPr sz="1300" b="1">
                <a:solidFill>
                  <a:srgbClr val="5B21B6"/>
                </a:solidFill>
                <a:latin typeface="Inter"/>
              </a:rPr>
              <a:t>ops live in the app + DB; the chain is only for trust</a:t>
            </a:r>
            <a:r>
              <a:rPr sz="1300" b="0">
                <a:solidFill>
                  <a:srgbClr val="241C33"/>
                </a:solidFill>
                <a:latin typeface="Inter"/>
              </a:rPr>
              <a:t> — attendance and money, not every button click.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 y="-54864"/>
            <a:ext cx="12298680" cy="6967728"/>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22960" y="384048"/>
            <a:ext cx="310896" cy="310896"/>
          </a:xfrm>
          <a:prstGeom prst="roundRect">
            <a:avLst>
              <a:gd name="adj" fmla="val 2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16152" y="365760"/>
            <a:ext cx="4572000" cy="365760"/>
          </a:xfrm>
          <a:prstGeom prst="rect">
            <a:avLst/>
          </a:prstGeom>
          <a:noFill/>
        </p:spPr>
        <p:txBody>
          <a:bodyPr wrap="square" lIns="0" tIns="0" rIns="0" bIns="0" anchor="ctr">
            <a:spAutoFit/>
          </a:bodyPr>
          <a:lstStyle/>
          <a:p>
            <a:r>
              <a:rPr sz="1500" b="1">
                <a:solidFill>
                  <a:srgbClr val="241C33"/>
                </a:solidFill>
                <a:latin typeface="Space Grotesk"/>
              </a:rPr>
              <a:t>On</a:t>
            </a:r>
            <a:r>
              <a:rPr sz="1500" b="1">
                <a:solidFill>
                  <a:srgbClr val="7C3AED"/>
                </a:solidFill>
                <a:latin typeface="Space Grotesk"/>
              </a:rPr>
              <a:t>Chain</a:t>
            </a:r>
            <a:r>
              <a:rPr sz="1500" b="1">
                <a:solidFill>
                  <a:srgbClr val="241C33"/>
                </a:solidFill>
                <a:latin typeface="Space Grotesk"/>
              </a:rPr>
              <a:t>In</a:t>
            </a:r>
          </a:p>
        </p:txBody>
      </p:sp>
      <p:sp>
        <p:nvSpPr>
          <p:cNvPr id="5" name="TextBox 4"/>
          <p:cNvSpPr txBox="1"/>
          <p:nvPr/>
        </p:nvSpPr>
        <p:spPr>
          <a:xfrm>
            <a:off x="6675120" y="420624"/>
            <a:ext cx="4599432" cy="320040"/>
          </a:xfrm>
          <a:prstGeom prst="rect">
            <a:avLst/>
          </a:prstGeom>
          <a:noFill/>
        </p:spPr>
        <p:txBody>
          <a:bodyPr wrap="square" lIns="0" tIns="0" rIns="0" bIns="0" anchor="ctr">
            <a:spAutoFit/>
          </a:bodyPr>
          <a:lstStyle/>
          <a:p>
            <a:pPr algn="r"/>
            <a:r>
              <a:rPr sz="1200" b="1">
                <a:solidFill>
                  <a:srgbClr val="8B8598"/>
                </a:solidFill>
                <a:latin typeface="Space Grotesk"/>
              </a:rPr>
              <a:t>06 · DEMO &amp; ASK</a:t>
            </a:r>
          </a:p>
        </p:txBody>
      </p:sp>
      <p:sp>
        <p:nvSpPr>
          <p:cNvPr id="6" name="TextBox 5"/>
          <p:cNvSpPr txBox="1"/>
          <p:nvPr/>
        </p:nvSpPr>
        <p:spPr>
          <a:xfrm>
            <a:off x="822960" y="1170432"/>
            <a:ext cx="9144000" cy="320040"/>
          </a:xfrm>
          <a:prstGeom prst="rect">
            <a:avLst/>
          </a:prstGeom>
          <a:noFill/>
        </p:spPr>
        <p:txBody>
          <a:bodyPr wrap="square" lIns="0" tIns="0" rIns="0" bIns="0" anchor="t">
            <a:spAutoFit/>
          </a:bodyPr>
          <a:lstStyle/>
          <a:p>
            <a:pPr algn="l"/>
            <a:r>
              <a:rPr sz="1300" b="1">
                <a:solidFill>
                  <a:srgbClr val="7C3AED"/>
                </a:solidFill>
                <a:latin typeface="Space Grotesk"/>
              </a:rPr>
              <a:t>2-MINUTE DEMO</a:t>
            </a:r>
          </a:p>
        </p:txBody>
      </p:sp>
      <p:sp>
        <p:nvSpPr>
          <p:cNvPr id="7" name="TextBox 6"/>
          <p:cNvSpPr txBox="1"/>
          <p:nvPr/>
        </p:nvSpPr>
        <p:spPr>
          <a:xfrm>
            <a:off x="795528" y="1481328"/>
            <a:ext cx="10607040" cy="868680"/>
          </a:xfrm>
          <a:prstGeom prst="rect">
            <a:avLst/>
          </a:prstGeom>
          <a:noFill/>
        </p:spPr>
        <p:txBody>
          <a:bodyPr wrap="square" lIns="0" tIns="0" rIns="0" bIns="0" anchor="t">
            <a:spAutoFit/>
          </a:bodyPr>
          <a:lstStyle/>
          <a:p>
            <a:pPr algn="l"/>
            <a:r>
              <a:rPr sz="3300" b="1">
                <a:solidFill>
                  <a:srgbClr val="241C33"/>
                </a:solidFill>
                <a:latin typeface="Space Grotesk"/>
              </a:rPr>
              <a:t>Demo Flow &amp; Ask</a:t>
            </a:r>
          </a:p>
        </p:txBody>
      </p:sp>
      <p:sp>
        <p:nvSpPr>
          <p:cNvPr id="8" name="TextBox 7"/>
          <p:cNvSpPr txBox="1"/>
          <p:nvPr/>
        </p:nvSpPr>
        <p:spPr>
          <a:xfrm>
            <a:off x="822960" y="2304288"/>
            <a:ext cx="10058400" cy="548640"/>
          </a:xfrm>
          <a:prstGeom prst="rect">
            <a:avLst/>
          </a:prstGeom>
          <a:noFill/>
        </p:spPr>
        <p:txBody>
          <a:bodyPr wrap="square" lIns="0" tIns="0" rIns="0" bIns="0" anchor="t">
            <a:spAutoFit/>
          </a:bodyPr>
          <a:lstStyle/>
          <a:p>
            <a:pPr algn="l">
              <a:lnSpc>
                <a:spcPct val="125000"/>
              </a:lnSpc>
            </a:pPr>
            <a:r>
              <a:rPr sz="1400" b="0">
                <a:solidFill>
                  <a:srgbClr val="5F5872"/>
                </a:solidFill>
                <a:latin typeface="Inter"/>
              </a:rPr>
              <a:t>The happy path, start to proof — then what we're asking for.</a:t>
            </a:r>
          </a:p>
        </p:txBody>
      </p:sp>
      <p:sp>
        <p:nvSpPr>
          <p:cNvPr id="9" name="TextBox 8"/>
          <p:cNvSpPr txBox="1"/>
          <p:nvPr/>
        </p:nvSpPr>
        <p:spPr>
          <a:xfrm>
            <a:off x="822960" y="2880360"/>
            <a:ext cx="5806440" cy="2834640"/>
          </a:xfrm>
          <a:prstGeom prst="rect">
            <a:avLst/>
          </a:prstGeom>
          <a:noFill/>
        </p:spPr>
        <p:txBody>
          <a:bodyPr wrap="square" lIns="0" tIns="0" rIns="0" bIns="0" anchor="t">
            <a:spAutoFit/>
          </a:bodyPr>
          <a:lstStyle/>
          <a:p>
            <a:pPr>
              <a:lnSpc>
                <a:spcPct val="105000"/>
              </a:lnSpc>
              <a:spcAft>
                <a:spcPts val="900"/>
              </a:spcAft>
            </a:pPr>
            <a:r>
              <a:rPr sz="1350" b="1">
                <a:solidFill>
                  <a:srgbClr val="7C3AED"/>
                </a:solidFill>
                <a:latin typeface="Space Grotesk"/>
              </a:rPr>
              <a:t>1   </a:t>
            </a:r>
            <a:r>
              <a:rPr sz="1350" b="0">
                <a:solidFill>
                  <a:srgbClr val="241C33"/>
                </a:solidFill>
                <a:latin typeface="Inter"/>
              </a:rPr>
              <a:t>Pick </a:t>
            </a:r>
            <a:r>
              <a:rPr sz="1350" b="1">
                <a:solidFill>
                  <a:srgbClr val="241C33"/>
                </a:solidFill>
                <a:latin typeface="Inter"/>
              </a:rPr>
              <a:t>Free</a:t>
            </a:r>
            <a:r>
              <a:rPr sz="1350" b="0">
                <a:solidFill>
                  <a:srgbClr val="241C33"/>
                </a:solidFill>
                <a:latin typeface="Inter"/>
              </a:rPr>
              <a:t> or </a:t>
            </a:r>
            <a:r>
              <a:rPr sz="1350" b="1">
                <a:solidFill>
                  <a:srgbClr val="241C33"/>
                </a:solidFill>
                <a:latin typeface="Inter"/>
              </a:rPr>
              <a:t>Cardano</a:t>
            </a:r>
            <a:r>
              <a:rPr sz="1350" b="0">
                <a:solidFill>
                  <a:srgbClr val="241C33"/>
                </a:solidFill>
                <a:latin typeface="Inter"/>
              </a:rPr>
              <a:t> mode → create event (AI or manual)</a:t>
            </a:r>
          </a:p>
          <a:p>
            <a:pPr>
              <a:lnSpc>
                <a:spcPct val="105000"/>
              </a:lnSpc>
              <a:spcAft>
                <a:spcPts val="900"/>
              </a:spcAft>
            </a:pPr>
            <a:r>
              <a:rPr sz="1350" b="1">
                <a:solidFill>
                  <a:srgbClr val="7C3AED"/>
                </a:solidFill>
                <a:latin typeface="Space Grotesk"/>
              </a:rPr>
              <a:t>2   </a:t>
            </a:r>
            <a:r>
              <a:rPr sz="1350" b="0">
                <a:solidFill>
                  <a:srgbClr val="241C33"/>
                </a:solidFill>
                <a:latin typeface="Inter"/>
              </a:rPr>
              <a:t>Participant applies — name, email, phone, college, why</a:t>
            </a:r>
          </a:p>
          <a:p>
            <a:pPr>
              <a:lnSpc>
                <a:spcPct val="105000"/>
              </a:lnSpc>
              <a:spcAft>
                <a:spcPts val="900"/>
              </a:spcAft>
            </a:pPr>
            <a:r>
              <a:rPr sz="1350" b="1">
                <a:solidFill>
                  <a:srgbClr val="7C3AED"/>
                </a:solidFill>
                <a:latin typeface="Space Grotesk"/>
              </a:rPr>
              <a:t>3   </a:t>
            </a:r>
            <a:r>
              <a:rPr sz="1350" b="0">
                <a:solidFill>
                  <a:srgbClr val="241C33"/>
                </a:solidFill>
                <a:latin typeface="Inter"/>
              </a:rPr>
              <a:t>Organizer approves → </a:t>
            </a:r>
            <a:r>
              <a:rPr sz="1350" b="1">
                <a:solidFill>
                  <a:srgbClr val="241C33"/>
                </a:solidFill>
                <a:latin typeface="Inter"/>
              </a:rPr>
              <a:t>ticket QR</a:t>
            </a:r>
          </a:p>
          <a:p>
            <a:pPr>
              <a:lnSpc>
                <a:spcPct val="105000"/>
              </a:lnSpc>
              <a:spcAft>
                <a:spcPts val="900"/>
              </a:spcAft>
            </a:pPr>
            <a:r>
              <a:rPr sz="1350" b="1">
                <a:solidFill>
                  <a:srgbClr val="7C3AED"/>
                </a:solidFill>
                <a:latin typeface="Space Grotesk"/>
              </a:rPr>
              <a:t>4   </a:t>
            </a:r>
            <a:r>
              <a:rPr sz="1350" b="0">
                <a:solidFill>
                  <a:srgbClr val="241C33"/>
                </a:solidFill>
                <a:latin typeface="Inter"/>
              </a:rPr>
              <a:t>Wallet check-in → </a:t>
            </a:r>
            <a:r>
              <a:rPr sz="1350" b="1">
                <a:solidFill>
                  <a:srgbClr val="241C33"/>
                </a:solidFill>
                <a:latin typeface="Inter"/>
              </a:rPr>
              <a:t>Blockfrost confirms tx</a:t>
            </a:r>
          </a:p>
          <a:p>
            <a:pPr>
              <a:lnSpc>
                <a:spcPct val="105000"/>
              </a:lnSpc>
              <a:spcAft>
                <a:spcPts val="900"/>
              </a:spcAft>
            </a:pPr>
            <a:r>
              <a:rPr sz="1350" b="1">
                <a:solidFill>
                  <a:srgbClr val="7C3AED"/>
                </a:solidFill>
                <a:latin typeface="Space Grotesk"/>
              </a:rPr>
              <a:t>5   </a:t>
            </a:r>
            <a:r>
              <a:rPr sz="1350" b="0">
                <a:solidFill>
                  <a:srgbClr val="241C33"/>
                </a:solidFill>
                <a:latin typeface="Inter"/>
              </a:rPr>
              <a:t>Issue certificate → </a:t>
            </a:r>
            <a:r>
              <a:rPr sz="1350" b="1">
                <a:solidFill>
                  <a:srgbClr val="241C33"/>
                </a:solidFill>
                <a:latin typeface="Inter"/>
              </a:rPr>
              <a:t>public verify page</a:t>
            </a:r>
          </a:p>
          <a:p>
            <a:pPr>
              <a:lnSpc>
                <a:spcPct val="105000"/>
              </a:lnSpc>
              <a:spcAft>
                <a:spcPts val="900"/>
              </a:spcAft>
            </a:pPr>
            <a:r>
              <a:rPr sz="1350" b="1">
                <a:solidFill>
                  <a:srgbClr val="7C3AED"/>
                </a:solidFill>
                <a:latin typeface="Space Grotesk"/>
              </a:rPr>
              <a:t>6   </a:t>
            </a:r>
            <a:r>
              <a:rPr sz="1350" b="0">
                <a:solidFill>
                  <a:srgbClr val="241C33"/>
                </a:solidFill>
                <a:latin typeface="Inter"/>
              </a:rPr>
              <a:t>Optional: sponsor pays ADA · </a:t>
            </a:r>
            <a:r>
              <a:rPr sz="1350" b="1">
                <a:solidFill>
                  <a:srgbClr val="241C33"/>
                </a:solidFill>
                <a:latin typeface="Inter"/>
              </a:rPr>
              <a:t>winners paid in ADA</a:t>
            </a:r>
          </a:p>
        </p:txBody>
      </p:sp>
      <p:sp>
        <p:nvSpPr>
          <p:cNvPr id="10" name="Rounded Rectangle 9"/>
          <p:cNvSpPr/>
          <p:nvPr/>
        </p:nvSpPr>
        <p:spPr>
          <a:xfrm>
            <a:off x="6903720" y="2788920"/>
            <a:ext cx="4462272" cy="2788920"/>
          </a:xfrm>
          <a:prstGeom prst="roundRect">
            <a:avLst>
              <a:gd name="adj" fmla="val 6000"/>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23760" y="3035808"/>
            <a:ext cx="3840480" cy="2377440"/>
          </a:xfrm>
          <a:prstGeom prst="rect">
            <a:avLst/>
          </a:prstGeom>
          <a:noFill/>
        </p:spPr>
        <p:txBody>
          <a:bodyPr wrap="square" lIns="0" tIns="0" rIns="0" bIns="0" anchor="t">
            <a:spAutoFit/>
          </a:bodyPr>
          <a:lstStyle/>
          <a:p>
            <a:pPr algn="l">
              <a:lnSpc>
                <a:spcPct val="102000"/>
              </a:lnSpc>
            </a:pPr>
            <a:r>
              <a:rPr sz="2400" b="1">
                <a:solidFill>
                  <a:srgbClr val="FFFFFF"/>
                </a:solidFill>
                <a:latin typeface="Space Grotesk"/>
              </a:rPr>
              <a:t>Ops for events.</a:t>
            </a:r>
          </a:p>
          <a:p>
            <a:pPr algn="l">
              <a:lnSpc>
                <a:spcPct val="102000"/>
              </a:lnSpc>
              <a:spcBef>
                <a:spcPts val="0"/>
              </a:spcBef>
              <a:spcAft>
                <a:spcPts val="1000"/>
              </a:spcAft>
            </a:pPr>
            <a:r>
              <a:rPr sz="2400" b="1">
                <a:solidFill>
                  <a:srgbClr val="C4B5FD"/>
                </a:solidFill>
                <a:latin typeface="Space Grotesk"/>
              </a:rPr>
              <a:t>Proof on Cardano.</a:t>
            </a:r>
          </a:p>
          <a:p>
            <a:pPr algn="l">
              <a:lnSpc>
                <a:spcPct val="120000"/>
              </a:lnSpc>
              <a:spcBef>
                <a:spcPts val="200"/>
              </a:spcBef>
              <a:spcAft>
                <a:spcPts val="1000"/>
              </a:spcAft>
            </a:pPr>
            <a:r>
              <a:rPr sz="1400" b="1">
                <a:solidFill>
                  <a:srgbClr val="FFFFFF"/>
                </a:solidFill>
                <a:latin typeface="Inter"/>
              </a:rPr>
              <a:t>Our ask:</a:t>
            </a:r>
            <a:r>
              <a:rPr sz="1400" b="0">
                <a:solidFill>
                  <a:srgbClr val="EDE9FE"/>
                </a:solidFill>
                <a:latin typeface="Inter"/>
              </a:rPr>
              <a:t> trusted campus events for </a:t>
            </a:r>
            <a:r>
              <a:rPr sz="1400" b="1">
                <a:solidFill>
                  <a:srgbClr val="FFFFFF"/>
                </a:solidFill>
                <a:latin typeface="Inter"/>
              </a:rPr>
              <a:t>Cardano India</a:t>
            </a:r>
            <a:r>
              <a:rPr sz="1400" b="0">
                <a:solidFill>
                  <a:srgbClr val="EDE9FE"/>
                </a:solidFill>
                <a:latin typeface="Inter"/>
              </a:rPr>
              <a:t>.</a:t>
            </a:r>
          </a:p>
          <a:p>
            <a:pPr algn="l">
              <a:spcBef>
                <a:spcPts val="200"/>
              </a:spcBef>
              <a:spcAft>
                <a:spcPts val="400"/>
              </a:spcAft>
            </a:pPr>
            <a:r>
              <a:rPr sz="1300" b="1">
                <a:solidFill>
                  <a:srgbClr val="FFFFFF"/>
                </a:solidFill>
                <a:latin typeface="Inter"/>
              </a:rPr>
              <a:t>▸  onchainin.vercel.app</a:t>
            </a:r>
          </a:p>
          <a:p>
            <a:pPr algn="l">
              <a:spcBef>
                <a:spcPts val="0"/>
              </a:spcBef>
              <a:spcAft>
                <a:spcPts val="0"/>
              </a:spcAft>
            </a:pPr>
            <a:r>
              <a:rPr sz="1250" b="1">
                <a:solidFill>
                  <a:srgbClr val="FFFFFF"/>
                </a:solidFill>
                <a:latin typeface="Inter"/>
              </a:rPr>
              <a:t>▸  github.com/ANSHUL-REAL/OnChainIn</a:t>
            </a:r>
          </a:p>
        </p:txBody>
      </p:sp>
      <p:sp>
        <p:nvSpPr>
          <p:cNvPr id="12" name="Rounded Rectangle 11"/>
          <p:cNvSpPr/>
          <p:nvPr/>
        </p:nvSpPr>
        <p:spPr>
          <a:xfrm>
            <a:off x="822960" y="5870448"/>
            <a:ext cx="10543032" cy="566928"/>
          </a:xfrm>
          <a:prstGeom prst="roundRect">
            <a:avLst>
              <a:gd name="adj" fmla="val 16000"/>
            </a:avLst>
          </a:prstGeom>
          <a:solidFill>
            <a:srgbClr val="FBF3E4"/>
          </a:solidFill>
          <a:ln w="12700">
            <a:solidFill>
              <a:srgbClr val="EBD9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6057732"/>
            <a:ext cx="9966960" cy="192360"/>
          </a:xfrm>
          <a:prstGeom prst="rect">
            <a:avLst/>
          </a:prstGeom>
          <a:noFill/>
        </p:spPr>
        <p:txBody>
          <a:bodyPr wrap="square" lIns="0" tIns="0" rIns="0" bIns="0" anchor="ctr">
            <a:spAutoFit/>
          </a:bodyPr>
          <a:lstStyle/>
          <a:p>
            <a:pPr algn="l"/>
            <a:r>
              <a:rPr sz="1250" b="0" dirty="0">
                <a:solidFill>
                  <a:srgbClr val="5C440F"/>
                </a:solidFill>
                <a:latin typeface="Inter"/>
              </a:rPr>
              <a:t>⚠  </a:t>
            </a:r>
            <a:r>
              <a:rPr sz="1250" b="1" dirty="0">
                <a:solidFill>
                  <a:srgbClr val="5C440F"/>
                </a:solidFill>
                <a:latin typeface="Inter"/>
              </a:rPr>
              <a:t>Honest </a:t>
            </a:r>
            <a:r>
              <a:rPr lang="en-IN" sz="1250" b="1" dirty="0">
                <a:solidFill>
                  <a:srgbClr val="5C440F"/>
                </a:solidFill>
                <a:latin typeface="Inter"/>
              </a:rPr>
              <a:t>limits:</a:t>
            </a:r>
            <a:r>
              <a:rPr lang="en-IN" sz="1250" b="0" dirty="0">
                <a:solidFill>
                  <a:srgbClr val="5C440F"/>
                </a:solidFill>
                <a:latin typeface="Inter"/>
              </a:rPr>
              <a:t> </a:t>
            </a:r>
            <a:r>
              <a:rPr sz="1250" b="0" dirty="0">
                <a:solidFill>
                  <a:srgbClr val="5C440F"/>
                </a:solidFill>
                <a:latin typeface="Inter"/>
              </a:rPr>
              <a:t>mobile needs a wallet in-app browser or the desk QR.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1134</Words>
  <Application>Microsoft Office PowerPoint</Application>
  <PresentationFormat>Widescreen</PresentationFormat>
  <Paragraphs>101</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Inter</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Finn Everglen</cp:lastModifiedBy>
  <cp:revision>1</cp:revision>
  <dcterms:created xsi:type="dcterms:W3CDTF">2013-01-27T09:14:16Z</dcterms:created>
  <dcterms:modified xsi:type="dcterms:W3CDTF">2026-07-12T11:47:57Z</dcterms:modified>
  <cp:category/>
</cp:coreProperties>
</file>