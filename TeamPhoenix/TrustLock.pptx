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Heebo Thin"/>
      <p:regular r:id="rId201314"/>
    </p:embeddedFont>
    <p:embeddedFont>
      <p:font typeface="Heebo ExtraLight"/>
      <p:regular r:id="rId201315"/>
    </p:embeddedFont>
    <p:embeddedFont>
      <p:font typeface="Heebo Light"/>
      <p:regular r:id="rId201316"/>
    </p:embeddedFont>
    <p:embeddedFont>
      <p:font typeface="Heebo"/>
      <p:regular r:id="rId201317"/>
    </p:embeddedFont>
    <p:embeddedFont>
      <p:font typeface="Heebo Medium"/>
      <p:regular r:id="rId201318"/>
    </p:embeddedFont>
    <p:embeddedFont>
      <p:font typeface="Heebo SemiBold"/>
      <p:regular r:id="rId201319"/>
    </p:embeddedFont>
    <p:embeddedFont>
      <p:font typeface="Heebo Bold"/>
      <p:regular r:id="rId201320"/>
    </p:embeddedFont>
    <p:embeddedFont>
      <p:font typeface="Heebo ExtraBold"/>
      <p:regular r:id="rId201321"/>
    </p:embeddedFont>
    <p:embeddedFont>
      <p:font typeface="Heebo Black"/>
      <p:regular r:id="rId201322"/>
    </p:embeddedFont>
    <p:embeddedFont>
      <p:font typeface="Montserrat Thin"/>
      <p:regular r:id="rId201323"/>
    </p:embeddedFont>
    <p:embeddedFont>
      <p:font typeface="Montserrat"/>
      <p:regular r:id="rId201324"/>
    </p:embeddedFont>
    <p:embeddedFont>
      <p:font typeface="Montserrat SemiBold"/>
      <p:regular r:id="rId201325"/>
    </p:embeddedFont>
    <p:embeddedFont>
      <p:font typeface="Montserrat Bold"/>
      <p:regular r:id="rId201326"/>
    </p:embeddedFont>
    <p:embeddedFont>
      <p:font typeface="Montserrat Black"/>
      <p:regular r:id="rId201327"/>
    </p:embeddedFont>
    <p:embeddedFont>
      <p:font typeface="Montserrat Light"/>
      <p:regular r:id="rId201328"/>
    </p:embeddedFont>
    <p:embeddedFont>
      <p:font typeface="Montserrat ExtraLight"/>
      <p:regular r:id="rId201329"/>
    </p:embeddedFont>
    <p:embeddedFont>
      <p:font typeface="Montserrat Medium"/>
      <p:regular r:id="rId201330"/>
    </p:embeddedFont>
    <p:embeddedFont>
      <p:font typeface="Montserrat ExtraBold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767706"/>
            <a:ext cx="1124769" cy="215354"/>
          </a:xfrm>
          <a:prstGeom prst="roundRect">
            <a:avLst>
              <a:gd name="adj" fmla="val 22119"/>
            </a:avLst>
          </a:prstGeom>
          <a:solidFill>
            <a:srgbClr val="1E0C41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810196"/>
            <a:ext cx="141185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INDIA CODEX 2026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1691729" y="1767706"/>
            <a:ext cx="1004962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81C9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776785" y="1810196"/>
            <a:ext cx="129205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CARDANO DAPP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96119" y="203976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TrustLock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496119" y="2695352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Reclaimable, milestone-gated escrow on Cardano — a smart-contract protocol that removes the unilateral reclaim right at the exact moment a payer has the least incentive to be honest.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77528"/>
            <a:ext cx="824657" cy="215354"/>
          </a:xfrm>
          <a:prstGeom prst="roundRect">
            <a:avLst>
              <a:gd name="adj" fmla="val 22119"/>
            </a:avLst>
          </a:prstGeom>
          <a:solidFill>
            <a:srgbClr val="1E0C41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620018"/>
            <a:ext cx="111174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CHAPTER 01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391617" y="577528"/>
            <a:ext cx="921841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81C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76673" y="620018"/>
            <a:ext cx="120893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96119" y="849585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Exploit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96119" y="141654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well-documented failure pattern in freelance and gig payments for digital deliverables — UI/UX design, code, creative assets: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6119" y="180282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2024732"/>
            <a:ext cx="4004965" cy="1905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10" name="Text 8"/>
          <p:cNvSpPr/>
          <p:nvPr/>
        </p:nvSpPr>
        <p:spPr>
          <a:xfrm>
            <a:off x="496119" y="2133674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Agreement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2440186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Client agrees to pay a freelancer for a deliverable, using an escrow-style arrangement to build trust.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42842" y="180282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2842" y="2038945"/>
            <a:ext cx="4005039" cy="1905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14" name="Text 12"/>
          <p:cNvSpPr/>
          <p:nvPr/>
        </p:nvSpPr>
        <p:spPr>
          <a:xfrm>
            <a:off x="4642842" y="2133674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42842" y="2440186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Freelancer completes the work and delivers it in full.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119" y="314183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6119" y="3349600"/>
            <a:ext cx="4004965" cy="1905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18" name="Text 16"/>
          <p:cNvSpPr/>
          <p:nvPr/>
        </p:nvSpPr>
        <p:spPr>
          <a:xfrm>
            <a:off x="496119" y="3472681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Theft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6119" y="3779193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Client reviews, copies, or reuses the deliverable independently.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42842" y="314183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42842" y="3349600"/>
            <a:ext cx="4005039" cy="19050"/>
          </a:xfrm>
          <a:prstGeom prst="rect">
            <a:avLst/>
          </a:prstGeom>
          <a:solidFill>
            <a:srgbClr val="581CA0"/>
          </a:solidFill>
          <a:ln/>
        </p:spPr>
      </p:sp>
      <p:sp>
        <p:nvSpPr>
          <p:cNvPr id="22" name="Text 20"/>
          <p:cNvSpPr/>
          <p:nvPr/>
        </p:nvSpPr>
        <p:spPr>
          <a:xfrm>
            <a:off x="4642842" y="3472681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Ghost &amp; Reclaim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642842" y="3779193"/>
            <a:ext cx="400503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Client refuses to release payment — or unilaterally reclaims locked funds — leaving the freelancer with neither payment nor recourse.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412031" cy="107603"/>
          </a:xfrm>
          <a:prstGeom prst="roundRect">
            <a:avLst>
              <a:gd name="adj" fmla="val 22134"/>
            </a:avLst>
          </a:prstGeom>
          <a:solidFill>
            <a:srgbClr val="1E0C41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784250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CHAPTER 01</a:t>
            </a:r>
            <a:endParaRPr lang="en-US" sz="400" dirty="0"/>
          </a:p>
        </p:txBody>
      </p:sp>
      <p:sp>
        <p:nvSpPr>
          <p:cNvPr id="4" name="Shape 2"/>
          <p:cNvSpPr/>
          <p:nvPr/>
        </p:nvSpPr>
        <p:spPr>
          <a:xfrm>
            <a:off x="943570" y="389855"/>
            <a:ext cx="460623" cy="107603"/>
          </a:xfrm>
          <a:prstGeom prst="roundRect">
            <a:avLst>
              <a:gd name="adj" fmla="val 22134"/>
            </a:avLst>
          </a:prstGeom>
          <a:noFill/>
          <a:ln w="4763">
            <a:solidFill>
              <a:srgbClr val="481C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6061" y="411063"/>
            <a:ext cx="832842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PROBLEM</a:t>
            </a:r>
            <a:endParaRPr lang="en-US" sz="400" dirty="0"/>
          </a:p>
        </p:txBody>
      </p:sp>
      <p:sp>
        <p:nvSpPr>
          <p:cNvPr id="6" name="Text 4"/>
          <p:cNvSpPr/>
          <p:nvPr/>
        </p:nvSpPr>
        <p:spPr>
          <a:xfrm>
            <a:off x="496119" y="511597"/>
            <a:ext cx="8151763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Existing Solutions Fall Short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2675409"/>
            <a:ext cx="3989412" cy="20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Every current approach to freelance escrow has a critical weakness that fails to protect both parties simultaneously.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Naive on-chain escrow can make the exploit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worse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the reclaim is instant, irreversible, and requires no justification.</a:t>
            </a:r>
            <a:endParaRPr lang="en-US" sz="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232" y="781720"/>
            <a:ext cx="3989412" cy="39894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811982"/>
            <a:ext cx="824657" cy="215354"/>
          </a:xfrm>
          <a:prstGeom prst="roundRect">
            <a:avLst>
              <a:gd name="adj" fmla="val 22119"/>
            </a:avLst>
          </a:prstGeom>
          <a:solidFill>
            <a:srgbClr val="1E0C41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1854473"/>
            <a:ext cx="111174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CHAPTER 02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820617" y="1811982"/>
            <a:ext cx="942752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81C9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905673" y="1854473"/>
            <a:ext cx="122984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925119" y="2084040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Three-Path Release Policy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925119" y="2651001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TrustLock encodes three spending paths directly into an Aiken validator guarding a script UTXO. Critically, the payer alone can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never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reclaim funds once a milestone is marked delivered.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61293"/>
            <a:ext cx="824657" cy="215354"/>
          </a:xfrm>
          <a:prstGeom prst="roundRect">
            <a:avLst>
              <a:gd name="adj" fmla="val 22119"/>
            </a:avLst>
          </a:prstGeom>
          <a:solidFill>
            <a:srgbClr val="1E0C41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103784"/>
            <a:ext cx="111174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CHAPTER 02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391617" y="1061293"/>
            <a:ext cx="942752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81C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76673" y="1103784"/>
            <a:ext cx="122984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96119" y="1333351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Three Spending Paths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96119" y="1900312"/>
            <a:ext cx="2622724" cy="2181895"/>
          </a:xfrm>
          <a:prstGeom prst="roundRect">
            <a:avLst>
              <a:gd name="adj" fmla="val 2729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640" y="2046833"/>
            <a:ext cx="232968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Path A — Timed Auto-Release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2640" y="2574801"/>
            <a:ext cx="2329681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Receiver marks milestone complete. A 48–72 hour countdown begins. If the sender raises no dispute, the receiver claims funds after the deadline. Silence defaults to payment.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0601" y="1900312"/>
            <a:ext cx="2622724" cy="2181895"/>
          </a:xfrm>
          <a:prstGeom prst="roundRect">
            <a:avLst>
              <a:gd name="adj" fmla="val 2729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7122" y="2046833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Path B — Mutual Refund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07122" y="2353345"/>
            <a:ext cx="23296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Sender and receiver jointly agree to cancel and refund. Requires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both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signatures — the sender cannot do this alone.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5083" y="1900312"/>
            <a:ext cx="2622724" cy="2181895"/>
          </a:xfrm>
          <a:prstGeom prst="roundRect">
            <a:avLst>
              <a:gd name="adj" fmla="val 2729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1605" y="2046833"/>
            <a:ext cx="232968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Path C — Arbitrated Dispute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71605" y="2574801"/>
            <a:ext cx="2329681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If the sender disputes within the window, a neutral arbiter reviews evidence and signs off. The only path by which a sender can recover funds after delivery.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4692"/>
            <a:ext cx="618753" cy="161479"/>
          </a:xfrm>
          <a:prstGeom prst="roundRect">
            <a:avLst>
              <a:gd name="adj" fmla="val 22124"/>
            </a:avLst>
          </a:prstGeom>
          <a:solidFill>
            <a:srgbClr val="1E0C41"/>
          </a:solidFill>
          <a:ln/>
        </p:spPr>
      </p:sp>
      <p:sp>
        <p:nvSpPr>
          <p:cNvPr id="3" name="Text 1"/>
          <p:cNvSpPr/>
          <p:nvPr/>
        </p:nvSpPr>
        <p:spPr>
          <a:xfrm>
            <a:off x="559891" y="426541"/>
            <a:ext cx="948407" cy="9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CHAPTER 03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1168003" y="394692"/>
            <a:ext cx="735137" cy="161479"/>
          </a:xfrm>
          <a:prstGeom prst="roundRect">
            <a:avLst>
              <a:gd name="adj" fmla="val 22124"/>
            </a:avLst>
          </a:prstGeom>
          <a:noFill/>
          <a:ln w="4763">
            <a:solidFill>
              <a:srgbClr val="481C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1776" y="426541"/>
            <a:ext cx="1064791" cy="9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ARCHITECTURE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96119" y="588020"/>
            <a:ext cx="8151763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Architecture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96119" y="1889671"/>
            <a:ext cx="268448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High-Level Flow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6119" y="2135460"/>
            <a:ext cx="2684487" cy="174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Client locks ADA at the TrustLock script address, embedding datum with sender, receiver, arbiter key hashes, deadline slot, and milestone status.</a:t>
            </a:r>
            <a:endParaRPr lang="en-US" sz="800" dirty="0"/>
          </a:p>
          <a:p>
            <a:pPr algn="l" marL="162560" indent="-16256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Receiver submits a transaction marking the milestone as delivered, starting the dispute window.</a:t>
            </a:r>
            <a:endParaRPr lang="en-US" sz="800" dirty="0"/>
          </a:p>
          <a:p>
            <a:pPr algn="l" marL="162560" indent="-16256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If no dispute before deadline, receiver claims via Path A.</a:t>
            </a:r>
            <a:endParaRPr lang="en-US" sz="800" dirty="0"/>
          </a:p>
          <a:p>
            <a:pPr algn="l" marL="162560" indent="-16256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If sender disputes, arbiter co-signs a Path C resolution.</a:t>
            </a:r>
            <a:endParaRPr lang="en-US" sz="800" dirty="0"/>
          </a:p>
          <a:p>
            <a:pPr algn="l" marL="162560" indent="-162560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If both agree to cancel before delivery, either proposes a Path B mutual refund.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3657" y="1063079"/>
            <a:ext cx="4530030" cy="359598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35671" y="2565722"/>
            <a:ext cx="814074" cy="558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TrustLock System Flow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36508" y="1491976"/>
            <a:ext cx="1211079" cy="186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 Wallet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36508" y="1731069"/>
            <a:ext cx="1211079" cy="130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Locks ADA and datum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417870" y="1426826"/>
            <a:ext cx="1211080" cy="186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Arbiter Wallet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417870" y="1665919"/>
            <a:ext cx="1211080" cy="260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Dispute resolution signer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417870" y="3696552"/>
            <a:ext cx="1211080" cy="372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TrustLock Aiken Validator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417870" y="4121790"/>
            <a:ext cx="1211080" cy="260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On-chain script enforcement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36508" y="3761703"/>
            <a:ext cx="1211079" cy="372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Cardano Node &amp; Blockfrost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436508" y="4186940"/>
            <a:ext cx="1211079" cy="130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Chain access and APIs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873328" y="2656830"/>
            <a:ext cx="1237553" cy="186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Next.js Frontend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873328" y="2895922"/>
            <a:ext cx="1237553" cy="130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Mesh SDK interface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974432" y="2505225"/>
            <a:ext cx="1237553" cy="372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Freelancer Wallet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3974432" y="2930462"/>
            <a:ext cx="1237553" cy="260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Receives funds on success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2906"/>
            <a:ext cx="798612" cy="208583"/>
          </a:xfrm>
          <a:prstGeom prst="roundRect">
            <a:avLst>
              <a:gd name="adj" fmla="val 22123"/>
            </a:avLst>
          </a:prstGeom>
          <a:solidFill>
            <a:srgbClr val="1E0C41"/>
          </a:solidFill>
          <a:ln/>
        </p:spPr>
      </p:sp>
      <p:sp>
        <p:nvSpPr>
          <p:cNvPr id="3" name="Text 1"/>
          <p:cNvSpPr/>
          <p:nvPr/>
        </p:nvSpPr>
        <p:spPr>
          <a:xfrm>
            <a:off x="578495" y="434057"/>
            <a:ext cx="1091059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CHAPTER 03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363340" y="392906"/>
            <a:ext cx="948854" cy="208583"/>
          </a:xfrm>
          <a:prstGeom prst="roundRect">
            <a:avLst>
              <a:gd name="adj" fmla="val 22123"/>
            </a:avLst>
          </a:prstGeom>
          <a:noFill/>
          <a:ln w="4763">
            <a:solidFill>
              <a:srgbClr val="481C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45716" y="434057"/>
            <a:ext cx="1241301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96119" y="654695"/>
            <a:ext cx="8151763" cy="343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Contract Design</a:t>
            </a:r>
            <a:endParaRPr lang="en-US" sz="2150" dirty="0"/>
          </a:p>
        </p:txBody>
      </p:sp>
      <p:sp>
        <p:nvSpPr>
          <p:cNvPr id="7" name="Shape 5"/>
          <p:cNvSpPr/>
          <p:nvPr/>
        </p:nvSpPr>
        <p:spPr>
          <a:xfrm>
            <a:off x="496119" y="1197471"/>
            <a:ext cx="8151763" cy="2970833"/>
          </a:xfrm>
          <a:prstGeom prst="roundRect">
            <a:avLst>
              <a:gd name="adj" fmla="val 1942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0881" y="1202234"/>
            <a:ext cx="8142238" cy="3853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8324" y="1286768"/>
            <a:ext cx="197145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Redeemer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31926" y="1286768"/>
            <a:ext cx="180625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Required Signers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60329" y="1286768"/>
            <a:ext cx="490269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Validator Conditions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0881" y="1587624"/>
            <a:ext cx="8142238" cy="6017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8324" y="1672158"/>
            <a:ext cx="197145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ReceiverClaim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31926" y="1672158"/>
            <a:ext cx="180625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receiver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060329" y="1672158"/>
            <a:ext cx="4445496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milestone_delivered == true AND current_slot &gt; deadline_slot AND dispute_raised == false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0881" y="2189336"/>
            <a:ext cx="8142238" cy="3853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38324" y="2273871"/>
            <a:ext cx="197145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MutualRefund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431926" y="2273871"/>
            <a:ext cx="180625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sender AND receiver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060329" y="2273871"/>
            <a:ext cx="490269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Always valid with both signatures present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0881" y="2574727"/>
            <a:ext cx="8142238" cy="6017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38324" y="2659261"/>
            <a:ext cx="197145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ArbiterResolve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431926" y="2659261"/>
            <a:ext cx="134905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disputing party AND arbiter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060329" y="2659261"/>
            <a:ext cx="490269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dispute_raised == true AND arbiter signature present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0881" y="3176439"/>
            <a:ext cx="8142238" cy="60171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38324" y="3260973"/>
            <a:ext cx="197145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MarkDelivered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431926" y="3260973"/>
            <a:ext cx="180625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receiver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060329" y="3260973"/>
            <a:ext cx="4445496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Updates milestone_delivered = true, sets deadline_slot (state-transition, no fund release)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0881" y="3778151"/>
            <a:ext cx="8142238" cy="3853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38324" y="3862685"/>
            <a:ext cx="197145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RaiseDispute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431926" y="3862685"/>
            <a:ext cx="180625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sender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060329" y="3862685"/>
            <a:ext cx="490269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Only valid if current_slot &lt;= deadline_slot; sets dispute_raised = true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6119" y="4317950"/>
            <a:ext cx="815176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State-transition redeemers re-lock the UTXO at the same script address with updated datum — using Cardano's continuing-output pattern to carry state forward.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28514"/>
            <a:ext cx="824657" cy="215354"/>
          </a:xfrm>
          <a:prstGeom prst="roundRect">
            <a:avLst>
              <a:gd name="adj" fmla="val 22119"/>
            </a:avLst>
          </a:prstGeom>
          <a:solidFill>
            <a:srgbClr val="1E0C41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771004"/>
            <a:ext cx="111174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CHAPTER 04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391617" y="728514"/>
            <a:ext cx="893043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81C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76673" y="771004"/>
            <a:ext cx="118013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TECHNOLOGY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96119" y="1000571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Technology Stack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67532"/>
            <a:ext cx="354360" cy="35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7658" y="1567532"/>
            <a:ext cx="34557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On-Chain Logic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27658" y="1874044"/>
            <a:ext cx="345571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Aiken validator implementing the three spending paths.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567532"/>
            <a:ext cx="354360" cy="354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92092" y="1567532"/>
            <a:ext cx="3455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Off-Chain TX Building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192092" y="1874044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Mesh SDK for wallet connection, transaction construction, and datum/redeemer handling.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611189"/>
            <a:ext cx="354360" cy="354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7658" y="2611189"/>
            <a:ext cx="34557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027658" y="2917701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Next.js + TypeScript + Tailwind CSS for client and freelancer dashboards.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2611189"/>
            <a:ext cx="354360" cy="3543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92092" y="2611189"/>
            <a:ext cx="3455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Chain Data &amp; Indexing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5192092" y="2917701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Blockfrost API for UTXO queries, datum inspection, and tx submission.</a:t>
            </a:r>
            <a:endParaRPr lang="en-US" sz="11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654847"/>
            <a:ext cx="354360" cy="3543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27658" y="3654847"/>
            <a:ext cx="34557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Wallets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1027658" y="3961358"/>
            <a:ext cx="345571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Eternl, Nami, Lace (CIP-30 compliant).</a:t>
            </a:r>
            <a:endParaRPr lang="en-US" sz="11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60553" y="3654847"/>
            <a:ext cx="354360" cy="3543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192092" y="3654847"/>
            <a:ext cx="3455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Network (MVP)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5192092" y="3961358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Cardano Preprod Testnet — safe, cost-free environment for demo and iteration.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412031" cy="107603"/>
          </a:xfrm>
          <a:prstGeom prst="roundRect">
            <a:avLst>
              <a:gd name="adj" fmla="val 22134"/>
            </a:avLst>
          </a:prstGeom>
          <a:solidFill>
            <a:srgbClr val="1E0C41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784250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CHAPTER 05</a:t>
            </a:r>
            <a:endParaRPr lang="en-US" sz="400" dirty="0"/>
          </a:p>
        </p:txBody>
      </p:sp>
      <p:sp>
        <p:nvSpPr>
          <p:cNvPr id="4" name="Shape 2"/>
          <p:cNvSpPr/>
          <p:nvPr/>
        </p:nvSpPr>
        <p:spPr>
          <a:xfrm>
            <a:off x="943570" y="389855"/>
            <a:ext cx="351681" cy="107603"/>
          </a:xfrm>
          <a:prstGeom prst="roundRect">
            <a:avLst>
              <a:gd name="adj" fmla="val 22134"/>
            </a:avLst>
          </a:prstGeom>
          <a:noFill/>
          <a:ln w="4763">
            <a:solidFill>
              <a:srgbClr val="481C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6061" y="411063"/>
            <a:ext cx="723900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ROADMAP</a:t>
            </a:r>
            <a:endParaRPr lang="en-US" sz="400" dirty="0"/>
          </a:p>
        </p:txBody>
      </p:sp>
      <p:sp>
        <p:nvSpPr>
          <p:cNvPr id="6" name="Text 4"/>
          <p:cNvSpPr/>
          <p:nvPr/>
        </p:nvSpPr>
        <p:spPr>
          <a:xfrm>
            <a:off x="496119" y="511597"/>
            <a:ext cx="8151763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Cardano &amp; What's Next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2483718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Fits Cardano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96119" y="2629867"/>
            <a:ext cx="3989412" cy="462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eUTXO model makes state (datum) explicit and auditable at every step — every spending path is a deterministic, statically verifiable branch.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Aiken's lightweight tooling makes a three-path validator fast to write, test, and audit.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Deterministic fees and predictable finality make time-locked auto-release reliable.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Generalizes to Cardano's own Catalyst-style milestone funding.</a:t>
            </a:r>
            <a:endParaRPr lang="en-US" sz="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232" y="781720"/>
            <a:ext cx="3989412" cy="39894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12775"/>
            <a:ext cx="694060" cy="208583"/>
          </a:xfrm>
          <a:prstGeom prst="roundRect">
            <a:avLst>
              <a:gd name="adj" fmla="val 22123"/>
            </a:avLst>
          </a:prstGeom>
          <a:solidFill>
            <a:srgbClr val="1E0C41"/>
          </a:solidFill>
          <a:ln/>
        </p:spPr>
      </p:sp>
      <p:sp>
        <p:nvSpPr>
          <p:cNvPr id="4" name="Text 1"/>
          <p:cNvSpPr/>
          <p:nvPr/>
        </p:nvSpPr>
        <p:spPr>
          <a:xfrm>
            <a:off x="578495" y="453926"/>
            <a:ext cx="986507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SUMMARY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674563"/>
            <a:ext cx="4722763" cy="686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Narrowly-Scoped, Genuinely Reusable Primitive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496119" y="1560612"/>
            <a:ext cx="4722763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TrustLock is not generic "blockchain escrow." It is a concrete fix for the exploit where a payer copies delivered work and then withholds payment — using UTXO datum state and time-locked validator branches native to Cardano's eUTXO model.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96119" y="2575545"/>
            <a:ext cx="4722763" cy="1011064"/>
          </a:xfrm>
          <a:prstGeom prst="roundRect">
            <a:avLst>
              <a:gd name="adj" fmla="val 5705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8175" y="2717602"/>
            <a:ext cx="443865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Small Enough to Build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38175" y="3011909"/>
            <a:ext cx="4438650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three-path validator is compact enough to build, test, and demo within a hackathon timeframe.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96119" y="3719587"/>
            <a:ext cx="4722763" cy="1011064"/>
          </a:xfrm>
          <a:prstGeom prst="roundRect">
            <a:avLst>
              <a:gd name="adj" fmla="val 5705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8175" y="3861643"/>
            <a:ext cx="443865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Genuinely Reusable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8175" y="4155951"/>
            <a:ext cx="4438650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reusable primitive for freelance payments, milestone-based grants, and conditional donations on Cardano.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2026-07-12T11:06:56Z</dcterms:created>
  <dcterms:modified xsi:type="dcterms:W3CDTF">2026-07-12T11:06:56Z</dcterms:modified>
</cp:coreProperties>
</file>