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80560" y="1828800"/>
            <a:ext cx="32004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965960"/>
            <a:ext cx="1219169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600" b="1">
                <a:solidFill>
                  <a:srgbClr val="FAFAFA"/>
                </a:solidFill>
                <a:latin typeface="Arial"/>
              </a:rPr>
              <a:t>uniperp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3200400"/>
            <a:ext cx="1371600" cy="54864"/>
          </a:xfrm>
          <a:prstGeom prst="rect">
            <a:avLst/>
          </a:prstGeom>
          <a:solidFill>
            <a:srgbClr val="4B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9C9A9D"/>
                </a:solidFill>
                <a:latin typeface="Arial"/>
              </a:rPr>
              <a:t>Perpetual futures you can't front-run — </a:t>
            </a:r>
            <a:r>
              <a:rPr sz="2200" b="1">
                <a:solidFill>
                  <a:srgbClr val="24C99A"/>
                </a:solidFill>
                <a:latin typeface="Arial"/>
              </a:rPr>
              <a:t>not even the operator can.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9C9A9D"/>
                </a:solidFill>
                <a:latin typeface="Arial"/>
              </a:rPr>
              <a:t>Privacy-preserving perps on </a:t>
            </a:r>
            <a:r>
              <a:rPr sz="1600" b="1">
                <a:solidFill>
                  <a:srgbClr val="4B57E6"/>
                </a:solidFill>
                <a:latin typeface="Arial"/>
              </a:rPr>
              <a:t>Cardano</a:t>
            </a:r>
            <a:r>
              <a:rPr sz="1600" b="0">
                <a:solidFill>
                  <a:srgbClr val="9C9A9D"/>
                </a:solidFill>
                <a:latin typeface="Arial"/>
              </a:rPr>
              <a:t> × </a:t>
            </a:r>
            <a:r>
              <a:rPr sz="1600" b="1">
                <a:solidFill>
                  <a:srgbClr val="4B57E6"/>
                </a:solidFill>
                <a:latin typeface="Arial"/>
              </a:rPr>
              <a:t>Midnight</a:t>
            </a:r>
            <a:r>
              <a:rPr sz="1600" b="0">
                <a:solidFill>
                  <a:srgbClr val="9C9A9D"/>
                </a:solidFill>
                <a:latin typeface="Arial"/>
              </a:rPr>
              <a:t> × </a:t>
            </a:r>
            <a:r>
              <a:rPr sz="1600" b="1">
                <a:solidFill>
                  <a:srgbClr val="4B57E6"/>
                </a:solidFill>
                <a:latin typeface="Arial"/>
              </a:rPr>
              <a:t>drand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9C9A9D"/>
                </a:solidFill>
                <a:latin typeface="Arial"/>
              </a:rPr>
              <a:t>Team Goose  ·  IndiaCodex 2026  ·  powered by Nucast 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4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4502E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AFAFA"/>
                </a:solidFill>
                <a:latin typeface="Arial"/>
              </a:rPr>
              <a:t>Every perp DEX taxes you for being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7899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AFAFA"/>
                </a:solidFill>
                <a:latin typeface="Arial"/>
              </a:rPr>
              <a:t>Your order sits in the mempool before it executes.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9C9A9D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9C9A9D"/>
                </a:solidFill>
                <a:latin typeface="Arial"/>
              </a:rPr>
              <a:t>→  Searchers read it, trade ahead of it, and </a:t>
            </a:r>
            <a:r>
              <a:rPr sz="1700" b="1">
                <a:solidFill>
                  <a:srgbClr val="E4502E"/>
                </a:solidFill>
                <a:latin typeface="Arial"/>
              </a:rPr>
              <a:t>sandwich you</a:t>
            </a:r>
            <a:r>
              <a:rPr sz="1700" b="0">
                <a:solidFill>
                  <a:srgbClr val="9C9A9D"/>
                </a:solidFill>
                <a:latin typeface="Arial"/>
              </a:rPr>
              <a:t> — a structural timing tax, brutal on leverage.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9C9A9D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9C9A9D"/>
                </a:solidFill>
                <a:latin typeface="Arial"/>
              </a:rPr>
              <a:t>→  "Private" DEXs hide orders from the public — but the </a:t>
            </a:r>
            <a:r>
              <a:rPr sz="1700" b="1">
                <a:solidFill>
                  <a:srgbClr val="E4502E"/>
                </a:solidFill>
                <a:latin typeface="Arial"/>
              </a:rPr>
              <a:t>operator/sequencer still reads them.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9C9A9D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9C9A9D"/>
                </a:solidFill>
                <a:latin typeface="Arial"/>
              </a:rPr>
              <a:t>→  So you're just </a:t>
            </a:r>
            <a:r>
              <a:rPr sz="1700" b="1">
                <a:solidFill>
                  <a:srgbClr val="E4502E"/>
                </a:solidFill>
                <a:latin typeface="Arial"/>
              </a:rPr>
              <a:t>trusting the operator not to front-run you.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577840"/>
            <a:ext cx="10881360" cy="822960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9A9D"/>
                </a:solidFill>
                <a:latin typeface="Arial"/>
              </a:rPr>
              <a:t>Result on a live sandwich: victim overpays </a:t>
            </a:r>
            <a:r>
              <a:rPr sz="1500" b="1">
                <a:solidFill>
                  <a:srgbClr val="E4502E"/>
                </a:solidFill>
                <a:latin typeface="Arial"/>
              </a:rPr>
              <a:t>$152 (152 bps)</a:t>
            </a:r>
            <a:r>
              <a:rPr sz="1500" b="0">
                <a:solidFill>
                  <a:srgbClr val="9C9A9D"/>
                </a:solidFill>
                <a:latin typeface="Arial"/>
              </a:rPr>
              <a:t> per trade.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B57E6"/>
                </a:solidFill>
                <a:latin typeface="Arial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AFAFA"/>
                </a:solidFill>
                <a:latin typeface="Arial"/>
              </a:rPr>
              <a:t>Make the order invisible — even to the operator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3520440" cy="3931920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3520440" cy="109728"/>
          </a:xfrm>
          <a:prstGeom prst="rect">
            <a:avLst/>
          </a:prstGeom>
          <a:solidFill>
            <a:srgbClr val="24C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AFAFA"/>
                </a:solidFill>
                <a:latin typeface="Arial"/>
              </a:rPr>
              <a:t>Operator-blind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C9A9D"/>
                </a:solidFill>
                <a:latin typeface="Arial"/>
              </a:rPr>
              <a:t>Your order is timelock-encrypted to a future drand round. The operator holds only ciphertext until the batch is frozen — it can't read it in time to front-run.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011680"/>
            <a:ext cx="3520440" cy="3931920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011680"/>
            <a:ext cx="3520440" cy="109728"/>
          </a:xfrm>
          <a:prstGeom prst="rect">
            <a:avLst/>
          </a:prstGeom>
          <a:solidFill>
            <a:srgbClr val="4B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3317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AFAFA"/>
                </a:solidFill>
                <a:latin typeface="Arial"/>
              </a:rPr>
              <a:t>No ordering 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063240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C9A9D"/>
                </a:solidFill>
                <a:latin typeface="Arial"/>
              </a:rPr>
              <a:t>Orders settle in uniform-price batch auctions. Everyone in an epoch clears at ONE price, so a sandwich nets $0 by construction.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011680"/>
            <a:ext cx="3520440" cy="3931920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011680"/>
            <a:ext cx="3520440" cy="109728"/>
          </a:xfrm>
          <a:prstGeom prst="rect">
            <a:avLst/>
          </a:prstGeom>
          <a:solidFill>
            <a:srgbClr val="24C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AFAFA"/>
                </a:solidFill>
                <a:latin typeface="Arial"/>
              </a:rPr>
              <a:t>Non-custodial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63240"/>
            <a:ext cx="30175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C9A9D"/>
                </a:solidFill>
                <a:latin typeface="Arial"/>
              </a:rPr>
              <a:t>Collateral lives in an owner-only vault. The operator can never move or seize your funds — proven on-chain.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B57E6"/>
                </a:solidFill>
                <a:latin typeface="Arial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AFAFA"/>
                </a:solidFill>
                <a:latin typeface="Arial"/>
              </a:rPr>
              <a:t>Commit → seal → clear →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2286000" cy="960120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91440" cy="960120"/>
          </a:xfrm>
          <a:prstGeom prst="rect">
            <a:avLst/>
          </a:prstGeom>
          <a:solidFill>
            <a:srgbClr val="4B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2011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4B57E6"/>
                </a:solidFill>
                <a:latin typeface="Arial"/>
              </a:rPr>
              <a:t>1  COMMIT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965960"/>
            <a:ext cx="83210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AFAFA"/>
                </a:solidFill>
                <a:latin typeface="Arial"/>
              </a:rPr>
              <a:t>SHA-256 commitment on Midnight (ZK proof of validity). Public sees a 32-byte hash.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81528"/>
            <a:ext cx="2286000" cy="960120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081528"/>
            <a:ext cx="91440" cy="960120"/>
          </a:xfrm>
          <a:prstGeom prst="rect">
            <a:avLst/>
          </a:prstGeom>
          <a:solidFill>
            <a:srgbClr val="24C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81528"/>
            <a:ext cx="2011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4C99A"/>
                </a:solidFill>
                <a:latin typeface="Arial"/>
              </a:rPr>
              <a:t>2  SEAL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081528"/>
            <a:ext cx="83210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AFAFA"/>
                </a:solidFill>
                <a:latin typeface="Arial"/>
              </a:rPr>
              <a:t>Client timelock-encrypts to a drand round (tlock-js / BLS12-381). Operator gets ciphertext 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97096"/>
            <a:ext cx="2286000" cy="960120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197096"/>
            <a:ext cx="91440" cy="960120"/>
          </a:xfrm>
          <a:prstGeom prst="rect">
            <a:avLst/>
          </a:prstGeom>
          <a:solidFill>
            <a:srgbClr val="4B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97096"/>
            <a:ext cx="2011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4B57E6"/>
                </a:solidFill>
                <a:latin typeface="Arial"/>
              </a:rPr>
              <a:t>3  CLEAR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4197096"/>
            <a:ext cx="83210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AFAFA"/>
                </a:solidFill>
                <a:latin typeface="Arial"/>
              </a:rPr>
              <a:t>At the round, the whole epoch decrypts + clears at ONE uniform price on the Pyth-priced vAMM.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12664"/>
            <a:ext cx="2286000" cy="960120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312664"/>
            <a:ext cx="91440" cy="960120"/>
          </a:xfrm>
          <a:prstGeom prst="rect">
            <a:avLst/>
          </a:prstGeom>
          <a:solidFill>
            <a:srgbClr val="24C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312664"/>
            <a:ext cx="20116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4C99A"/>
                </a:solidFill>
                <a:latin typeface="Arial"/>
              </a:rPr>
              <a:t>4  ANCHOR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5312664"/>
            <a:ext cx="83210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AFAFA"/>
                </a:solidFill>
                <a:latin typeface="Arial"/>
              </a:rPr>
              <a:t>Settlement digest + sealed-batch membership anchored on Cardano L1. Positions open.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C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C99A"/>
                </a:solidFill>
                <a:latin typeface="Arial"/>
              </a:rPr>
              <a:t>WHY IT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AFAFA"/>
                </a:solidFill>
                <a:latin typeface="Arial"/>
              </a:rPr>
              <a:t>The operator can't do anything to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749808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30175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AFAFA"/>
                </a:solidFill>
                <a:latin typeface="Arial"/>
              </a:rPr>
              <a:t>✕ SEE your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874519"/>
            <a:ext cx="44805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9A9D"/>
                </a:solidFill>
                <a:latin typeface="Arial"/>
              </a:rPr>
              <a:t>drand timelock — ciphertext until the batch freezes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874519"/>
            <a:ext cx="2834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C99A"/>
                </a:solidFill>
                <a:latin typeface="Arial"/>
              </a:rPr>
              <a:t>✓ decrypt refused, live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43199"/>
            <a:ext cx="10881360" cy="749808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43199"/>
            <a:ext cx="30175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AFAFA"/>
                </a:solidFill>
                <a:latin typeface="Arial"/>
              </a:rPr>
              <a:t>✕ FRONT-RUN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743199"/>
            <a:ext cx="44805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9A9D"/>
                </a:solidFill>
                <a:latin typeface="Arial"/>
              </a:rPr>
              <a:t>uniform-price batch clearing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743199"/>
            <a:ext cx="2834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C99A"/>
                </a:solidFill>
                <a:latin typeface="Arial"/>
              </a:rPr>
              <a:t>✓ bot profit $0 vs $152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11879"/>
            <a:ext cx="10881360" cy="749808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11879"/>
            <a:ext cx="30175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AFAFA"/>
                </a:solidFill>
                <a:latin typeface="Arial"/>
              </a:rPr>
              <a:t>✕ SEIZE your funds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611879"/>
            <a:ext cx="44805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9A9D"/>
                </a:solidFill>
                <a:latin typeface="Arial"/>
              </a:rPr>
              <a:t>non-custodial owner_vault (only you can spend)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611879"/>
            <a:ext cx="2834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C99A"/>
                </a:solidFill>
                <a:latin typeface="Arial"/>
              </a:rPr>
              <a:t>✓ withdrawal REJECTED on-chain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80559"/>
            <a:ext cx="10881360" cy="749808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480559"/>
            <a:ext cx="30175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AFAFA"/>
                </a:solidFill>
                <a:latin typeface="Arial"/>
              </a:rPr>
              <a:t>✕ HIDE the batch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480559"/>
            <a:ext cx="44805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9A9D"/>
                </a:solidFill>
                <a:latin typeface="Arial"/>
              </a:rPr>
              <a:t>Cardano L1 membership anchor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480559"/>
            <a:ext cx="2834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C99A"/>
                </a:solidFill>
                <a:latin typeface="Arial"/>
              </a:rPr>
              <a:t>✓ 742dc0a9… (confirmed)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349239"/>
            <a:ext cx="10881360" cy="749808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349239"/>
            <a:ext cx="301752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AFAFA"/>
                </a:solidFill>
                <a:latin typeface="Arial"/>
              </a:rPr>
              <a:t>✕ TRADE AS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349239"/>
            <a:ext cx="44805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9A9D"/>
                </a:solidFill>
                <a:latin typeface="Arial"/>
              </a:rPr>
              <a:t>CIP-8 wallet-signature 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349239"/>
            <a:ext cx="2834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C99A"/>
                </a:solidFill>
                <a:latin typeface="Arial"/>
              </a:rPr>
              <a:t>✓ real signer round-trip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9C9A9D"/>
                </a:solidFill>
                <a:latin typeface="Arial"/>
              </a:rPr>
              <a:t>Every row proven live on-chain — no mocks.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C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C99A"/>
                </a:solidFill>
                <a:latin typeface="Arial"/>
              </a:rPr>
              <a:t>PROOF, NOT PROMISES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AFAFA"/>
                </a:solidFill>
                <a:latin typeface="Arial"/>
              </a:rPr>
              <a:t>Live on Cardano preprod + real drand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2606040" cy="1828800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4B57E6"/>
                </a:solidFill>
                <a:latin typeface="Arial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C9A9D"/>
                </a:solidFill>
                <a:latin typeface="Arial"/>
              </a:rPr>
              <a:t>automated tests
(11 vs live drand)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965960"/>
            <a:ext cx="2606040" cy="1828800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2402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4B57E6"/>
                </a:solidFill>
                <a:latin typeface="Arial"/>
              </a:rPr>
              <a:t>6+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1546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C9A9D"/>
                </a:solidFill>
                <a:latin typeface="Arial"/>
              </a:rPr>
              <a:t>real preprod txs
confirmed on-chain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65960"/>
            <a:ext cx="2606040" cy="1828800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2402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4B57E6"/>
                </a:solidFill>
                <a:latin typeface="Arial"/>
              </a:rPr>
              <a:t>$0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1546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C9A9D"/>
                </a:solidFill>
                <a:latin typeface="Arial"/>
              </a:rPr>
              <a:t>operator front-run
profit, by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965960"/>
            <a:ext cx="2606040" cy="1828800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2240280"/>
            <a:ext cx="2606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4B57E6"/>
                </a:solidFill>
                <a:latin typeface="Arial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15468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C9A9D"/>
                </a:solidFill>
                <a:latin typeface="Arial"/>
              </a:rPr>
              <a:t>user funds the
operator can seize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06240"/>
            <a:ext cx="10881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AFAFA"/>
                </a:solidFill>
                <a:latin typeface="Arial"/>
              </a:rPr>
              <a:t>Non-custodial proof (preprod):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9A9D"/>
                </a:solidFill>
                <a:latin typeface="Arial"/>
              </a:rPr>
              <a:t>• operator tries to withdraw a user's deposit → validator REJECTS it ("failed script execution")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24C99A"/>
                </a:solidFill>
                <a:latin typeface="Arial"/>
              </a:rPr>
              <a:t>• user reclaims with their OWN key → 81ecf30f…  ·  batch-membership anchor → 742dc0a9…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9C9A9D"/>
                </a:solidFill>
                <a:latin typeface="Arial"/>
              </a:rPr>
              <a:t>Verifiable on cardanoscan.io/transaction/&lt;hash&gt;.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B57E6"/>
                </a:solidFill>
                <a:latin typeface="Arial"/>
              </a:rPr>
              <a:t>BUILT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AFAFA"/>
                </a:solidFill>
                <a:latin typeface="Arial"/>
              </a:rPr>
              <a:t>Tech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822960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743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B57E6"/>
                </a:solidFill>
                <a:latin typeface="Arial"/>
              </a:rPr>
              <a:t>Cardano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874519"/>
            <a:ext cx="7772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AFAFA"/>
                </a:solidFill>
                <a:latin typeface="Arial"/>
              </a:rPr>
              <a:t>Aiken (Plutus V3): non-custodial owner_vault, margin vault, settlement anchor · Lucid Evolution · CIP-30 / CIP-68 · preprod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07207"/>
            <a:ext cx="10881360" cy="822960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07207"/>
            <a:ext cx="2743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B57E6"/>
                </a:solidFill>
                <a:latin typeface="Arial"/>
              </a:rPr>
              <a:t>Midnight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807207"/>
            <a:ext cx="7772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AFAFA"/>
                </a:solidFill>
                <a:latin typeface="Arial"/>
              </a:rPr>
              <a:t>Compact ZK circuits: order · matching · settlement · liquidation · aggregate + proof-server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39895"/>
            <a:ext cx="10881360" cy="822960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39895"/>
            <a:ext cx="2743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B57E6"/>
                </a:solidFill>
                <a:latin typeface="Arial"/>
              </a:rPr>
              <a:t>drand timelock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739895"/>
            <a:ext cx="7772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AFAFA"/>
                </a:solidFill>
                <a:latin typeface="Arial"/>
              </a:rPr>
              <a:t>tlock-js (IBE over BLS12-381) vs the League of Entropy quicknet — the external committee that blinds a single operator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72583"/>
            <a:ext cx="10881360" cy="822960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672583"/>
            <a:ext cx="2743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B57E6"/>
                </a:solidFill>
                <a:latin typeface="Arial"/>
              </a:rPr>
              <a:t>Oracles + vAMM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672583"/>
            <a:ext cx="7772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AFAFA"/>
                </a:solidFill>
                <a:latin typeface="Arial"/>
              </a:rPr>
              <a:t>Pyth Hermes price feeds → constant-product virtual AMM with uniform-price batch clearing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605271"/>
            <a:ext cx="10881360" cy="822960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605271"/>
            <a:ext cx="2743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4B57E6"/>
                </a:solidFill>
                <a:latin typeface="Arial"/>
              </a:rPr>
              <a:t>App +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605271"/>
            <a:ext cx="7772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FAFAFA"/>
                </a:solidFill>
                <a:latin typeface="Arial"/>
              </a:rPr>
              <a:t>Next.js 14 · TypeScript · Tailwind · Mesh/Lace  |  Bun · Hono operator · margin/funding/liquidation keepers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B57E6"/>
                </a:solidFill>
                <a:latin typeface="Arial"/>
              </a:rPr>
              <a:t>HONEST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AFAFA"/>
                </a:solidFill>
                <a:latin typeface="Arial"/>
              </a:rPr>
              <a:t>We pitch exactly what's true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5349240" cy="3840480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5349240" cy="109728"/>
          </a:xfrm>
          <a:prstGeom prst="rect">
            <a:avLst/>
          </a:prstGeom>
          <a:solidFill>
            <a:srgbClr val="24C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4C99A"/>
                </a:solidFill>
                <a:latin typeface="Arial"/>
              </a:rPr>
              <a:t>CRYPTOGRAPHICALLY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8463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FAFAFA"/>
                </a:solidFill>
                <a:latin typeface="Arial"/>
              </a:rPr>
              <a:t>✓ Operator can't SEE your order (drand)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FAFAFA"/>
                </a:solidFill>
                <a:latin typeface="Arial"/>
              </a:rPr>
              <a:t>✓ Can't SEIZE your funds (non-custodial)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FAFAFA"/>
                </a:solidFill>
                <a:latin typeface="Arial"/>
              </a:rPr>
              <a:t>✓ Can't FRONT-RUN (uniform-price batches)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FAFAFA"/>
                </a:solidFill>
                <a:latin typeface="Arial"/>
              </a:rPr>
              <a:t>✓ Can't HIDE the batch (L1 anchor)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24C99A"/>
                </a:solidFill>
                <a:latin typeface="Arial"/>
              </a:rPr>
              <a:t>All proven live on-chain.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920240"/>
            <a:ext cx="5349240" cy="3840480"/>
          </a:xfrm>
          <a:prstGeom prst="rect">
            <a:avLst/>
          </a:prstGeom>
          <a:solidFill>
            <a:srgbClr val="1E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920240"/>
            <a:ext cx="5349240" cy="109728"/>
          </a:xfrm>
          <a:prstGeom prst="rect">
            <a:avLst/>
          </a:prstGeom>
          <a:solidFill>
            <a:srgbClr val="4B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B57E6"/>
                </a:solidFill>
                <a:latin typeface="Arial"/>
              </a:rPr>
              <a:t>STILL TRUSTED (v1) →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743200"/>
            <a:ext cx="48463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AFAFA"/>
                </a:solidFill>
                <a:latin typeface="Arial"/>
              </a:rPr>
              <a:t>• Clearing math is auditable + L1-anchored,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9C9A9D"/>
                </a:solidFill>
                <a:latin typeface="Arial"/>
              </a:rPr>
              <a:t>  not yet ZK-proven → Compact batch circuit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FAFAFA"/>
                </a:solidFill>
                <a:latin typeface="Arial"/>
              </a:rPr>
              <a:t>• Operator liveness/censorship (anchor = 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9C9A9D"/>
                </a:solidFill>
                <a:latin typeface="Arial"/>
              </a:rPr>
              <a:t>  evidence, not prevention)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FAFAFA"/>
                </a:solidFill>
                <a:latin typeface="Arial"/>
              </a:rPr>
              <a:t>• Fully-trustless: Aiken settlement validator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9C9A9D"/>
                </a:solidFill>
                <a:latin typeface="Arial"/>
              </a:rPr>
              <a:t>  enforcing margin/PnL on-chain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FAFAFA"/>
                </a:solidFill>
                <a:latin typeface="Arial"/>
              </a:rPr>
              <a:t>uniperp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3246120"/>
            <a:ext cx="1371600" cy="54864"/>
          </a:xfrm>
          <a:prstGeom prst="rect">
            <a:avLst/>
          </a:prstGeom>
          <a:solidFill>
            <a:srgbClr val="4B5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24C99A"/>
                </a:solidFill>
                <a:latin typeface="Arial"/>
              </a:rPr>
              <a:t>An operator that is cryptographically powerless</a:t>
            </a:r>
          </a:p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24C99A"/>
                </a:solidFill>
                <a:latin typeface="Arial"/>
              </a:rPr>
              <a:t>over your order and your funds — proven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FAFAFA"/>
                </a:solidFill>
                <a:latin typeface="Arial"/>
              </a:rPr>
              <a:t>Team Goose  ·  IndiaCodex 2026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9C9A9D"/>
                </a:solidFill>
                <a:latin typeface="Arial"/>
              </a:rPr>
              <a:t>Full code + demo video + docs in this folder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